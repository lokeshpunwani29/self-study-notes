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Layouts/slideLayout12.xml" ContentType="application/vnd.openxmlformats-officedocument.presentationml.slideLayout+xml"/>
  <Override PartName="/ppt/slides/slide139.xml" ContentType="application/vnd.openxmlformats-officedocument.presentationml.slide+xml"/>
  <Override PartName="/ppt/slides/slide157.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0"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443" r:id="rId17"/>
    <p:sldId id="285" r:id="rId18"/>
    <p:sldId id="271" r:id="rId19"/>
    <p:sldId id="314" r:id="rId20"/>
    <p:sldId id="315" r:id="rId21"/>
    <p:sldId id="316" r:id="rId22"/>
    <p:sldId id="317" r:id="rId23"/>
    <p:sldId id="318" r:id="rId24"/>
    <p:sldId id="319" r:id="rId25"/>
    <p:sldId id="272" r:id="rId26"/>
    <p:sldId id="298" r:id="rId27"/>
    <p:sldId id="444" r:id="rId28"/>
    <p:sldId id="299" r:id="rId29"/>
    <p:sldId id="300" r:id="rId30"/>
    <p:sldId id="304" r:id="rId31"/>
    <p:sldId id="303" r:id="rId32"/>
    <p:sldId id="305" r:id="rId33"/>
    <p:sldId id="273" r:id="rId34"/>
    <p:sldId id="274" r:id="rId35"/>
    <p:sldId id="275" r:id="rId36"/>
    <p:sldId id="276" r:id="rId37"/>
    <p:sldId id="291" r:id="rId38"/>
    <p:sldId id="294" r:id="rId39"/>
    <p:sldId id="295" r:id="rId40"/>
    <p:sldId id="296" r:id="rId41"/>
    <p:sldId id="297" r:id="rId42"/>
    <p:sldId id="292" r:id="rId43"/>
    <p:sldId id="293" r:id="rId44"/>
    <p:sldId id="348" r:id="rId45"/>
    <p:sldId id="288" r:id="rId46"/>
    <p:sldId id="283" r:id="rId47"/>
    <p:sldId id="308" r:id="rId48"/>
    <p:sldId id="309" r:id="rId49"/>
    <p:sldId id="310" r:id="rId50"/>
    <p:sldId id="442" r:id="rId51"/>
    <p:sldId id="311" r:id="rId52"/>
    <p:sldId id="312" r:id="rId53"/>
    <p:sldId id="320" r:id="rId54"/>
    <p:sldId id="321" r:id="rId55"/>
    <p:sldId id="322" r:id="rId56"/>
    <p:sldId id="323" r:id="rId57"/>
    <p:sldId id="324" r:id="rId58"/>
    <p:sldId id="325" r:id="rId59"/>
    <p:sldId id="326" r:id="rId60"/>
    <p:sldId id="327" r:id="rId61"/>
    <p:sldId id="328" r:id="rId62"/>
    <p:sldId id="329" r:id="rId63"/>
    <p:sldId id="330" r:id="rId64"/>
    <p:sldId id="331" r:id="rId65"/>
    <p:sldId id="332" r:id="rId66"/>
    <p:sldId id="333" r:id="rId67"/>
    <p:sldId id="334" r:id="rId68"/>
    <p:sldId id="335" r:id="rId69"/>
    <p:sldId id="336" r:id="rId70"/>
    <p:sldId id="349" r:id="rId71"/>
    <p:sldId id="337" r:id="rId72"/>
    <p:sldId id="338" r:id="rId73"/>
    <p:sldId id="351" r:id="rId74"/>
    <p:sldId id="445" r:id="rId75"/>
    <p:sldId id="446" r:id="rId76"/>
    <p:sldId id="447" r:id="rId77"/>
    <p:sldId id="339" r:id="rId78"/>
    <p:sldId id="350" r:id="rId79"/>
    <p:sldId id="340" r:id="rId80"/>
    <p:sldId id="344" r:id="rId81"/>
    <p:sldId id="345" r:id="rId82"/>
    <p:sldId id="346" r:id="rId83"/>
    <p:sldId id="347" r:id="rId84"/>
    <p:sldId id="353" r:id="rId85"/>
    <p:sldId id="355" r:id="rId86"/>
    <p:sldId id="356" r:id="rId87"/>
    <p:sldId id="357" r:id="rId88"/>
    <p:sldId id="358" r:id="rId89"/>
    <p:sldId id="359" r:id="rId90"/>
    <p:sldId id="360" r:id="rId91"/>
    <p:sldId id="361" r:id="rId92"/>
    <p:sldId id="362" r:id="rId93"/>
    <p:sldId id="363" r:id="rId94"/>
    <p:sldId id="364" r:id="rId95"/>
    <p:sldId id="365" r:id="rId96"/>
    <p:sldId id="366" r:id="rId97"/>
    <p:sldId id="367" r:id="rId98"/>
    <p:sldId id="368" r:id="rId99"/>
    <p:sldId id="369" r:id="rId100"/>
    <p:sldId id="370" r:id="rId101"/>
    <p:sldId id="371" r:id="rId102"/>
    <p:sldId id="372" r:id="rId103"/>
    <p:sldId id="373" r:id="rId104"/>
    <p:sldId id="374" r:id="rId105"/>
    <p:sldId id="375" r:id="rId106"/>
    <p:sldId id="376" r:id="rId107"/>
    <p:sldId id="377" r:id="rId108"/>
    <p:sldId id="378" r:id="rId109"/>
    <p:sldId id="379" r:id="rId110"/>
    <p:sldId id="380" r:id="rId111"/>
    <p:sldId id="381" r:id="rId112"/>
    <p:sldId id="382" r:id="rId113"/>
    <p:sldId id="383" r:id="rId114"/>
    <p:sldId id="384" r:id="rId115"/>
    <p:sldId id="386" r:id="rId116"/>
    <p:sldId id="387" r:id="rId117"/>
    <p:sldId id="388" r:id="rId118"/>
    <p:sldId id="389" r:id="rId119"/>
    <p:sldId id="390" r:id="rId120"/>
    <p:sldId id="391" r:id="rId121"/>
    <p:sldId id="392" r:id="rId122"/>
    <p:sldId id="393" r:id="rId123"/>
    <p:sldId id="394" r:id="rId124"/>
    <p:sldId id="395" r:id="rId125"/>
    <p:sldId id="396" r:id="rId126"/>
    <p:sldId id="397" r:id="rId127"/>
    <p:sldId id="398" r:id="rId128"/>
    <p:sldId id="399" r:id="rId129"/>
    <p:sldId id="400" r:id="rId130"/>
    <p:sldId id="401" r:id="rId131"/>
    <p:sldId id="402" r:id="rId132"/>
    <p:sldId id="403" r:id="rId133"/>
    <p:sldId id="404" r:id="rId134"/>
    <p:sldId id="405" r:id="rId135"/>
    <p:sldId id="406" r:id="rId136"/>
    <p:sldId id="407" r:id="rId137"/>
    <p:sldId id="408" r:id="rId138"/>
    <p:sldId id="409" r:id="rId139"/>
    <p:sldId id="410" r:id="rId140"/>
    <p:sldId id="411" r:id="rId141"/>
    <p:sldId id="412" r:id="rId142"/>
    <p:sldId id="413" r:id="rId143"/>
    <p:sldId id="415" r:id="rId144"/>
    <p:sldId id="416" r:id="rId145"/>
    <p:sldId id="417" r:id="rId146"/>
    <p:sldId id="418" r:id="rId147"/>
    <p:sldId id="419" r:id="rId148"/>
    <p:sldId id="420" r:id="rId149"/>
    <p:sldId id="421" r:id="rId150"/>
    <p:sldId id="422" r:id="rId151"/>
    <p:sldId id="423" r:id="rId152"/>
    <p:sldId id="424" r:id="rId153"/>
    <p:sldId id="425" r:id="rId154"/>
    <p:sldId id="427" r:id="rId155"/>
    <p:sldId id="428" r:id="rId156"/>
    <p:sldId id="429" r:id="rId157"/>
    <p:sldId id="430" r:id="rId158"/>
    <p:sldId id="431" r:id="rId159"/>
    <p:sldId id="432" r:id="rId160"/>
    <p:sldId id="433" r:id="rId161"/>
    <p:sldId id="434" r:id="rId162"/>
    <p:sldId id="435" r:id="rId163"/>
    <p:sldId id="436" r:id="rId164"/>
    <p:sldId id="437" r:id="rId165"/>
    <p:sldId id="438" r:id="rId166"/>
    <p:sldId id="439" r:id="rId167"/>
    <p:sldId id="440" r:id="rId168"/>
    <p:sldId id="441" r:id="rId1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87814" autoAdjust="0"/>
  </p:normalViewPr>
  <p:slideViewPr>
    <p:cSldViewPr>
      <p:cViewPr varScale="1">
        <p:scale>
          <a:sx n="64" d="100"/>
          <a:sy n="64" d="100"/>
        </p:scale>
        <p:origin x="-156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0"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1CB0840-409E-41B2-8067-B15A0A6FCE12}" type="datetimeFigureOut">
              <a:rPr lang="en-US" smtClean="0"/>
              <a:pPr/>
              <a:t>4/7/2017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CB0840-409E-41B2-8067-B15A0A6FCE12}" type="datetimeFigureOut">
              <a:rPr lang="en-US" smtClean="0"/>
              <a:pPr/>
              <a:t>4/7/2017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1CB0840-409E-41B2-8067-B15A0A6FCE12}" type="datetimeFigureOut">
              <a:rPr lang="en-US" smtClean="0"/>
              <a:pPr/>
              <a:t>4/7/2017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1CB0840-409E-41B2-8067-B15A0A6FCE12}" type="datetimeFigureOut">
              <a:rPr lang="en-US" smtClean="0"/>
              <a:pPr/>
              <a:t>4/7/2017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1CB0840-409E-41B2-8067-B15A0A6FCE12}" type="datetimeFigureOut">
              <a:rPr lang="en-US" smtClean="0"/>
              <a:pPr/>
              <a:t>4/7/2017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1CB0840-409E-41B2-8067-B15A0A6FCE12}" type="datetimeFigureOut">
              <a:rPr lang="en-US" smtClean="0"/>
              <a:pPr/>
              <a:t>4/7/2017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CB0840-409E-41B2-8067-B15A0A6FCE12}" type="datetimeFigureOut">
              <a:rPr lang="en-US" smtClean="0"/>
              <a:pPr/>
              <a:t>4/7/2017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CB0840-409E-41B2-8067-B15A0A6FCE12}" type="datetimeFigureOut">
              <a:rPr lang="en-US" smtClean="0"/>
              <a:pPr/>
              <a:t>4/7/2017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CB0840-409E-41B2-8067-B15A0A6FCE12}" type="datetimeFigureOut">
              <a:rPr lang="en-US" smtClean="0"/>
              <a:pPr/>
              <a:t>4/7/2017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CB0840-409E-41B2-8067-B15A0A6FCE12}" type="datetimeFigureOut">
              <a:rPr lang="en-US" smtClean="0"/>
              <a:pPr/>
              <a:t>4/7/2017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CB0840-409E-41B2-8067-B15A0A6FCE12}" type="datetimeFigureOut">
              <a:rPr lang="en-US" smtClean="0"/>
              <a:pPr/>
              <a:t>4/7/2017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CB0840-409E-41B2-8067-B15A0A6FCE12}" type="datetimeFigureOut">
              <a:rPr lang="en-US" smtClean="0"/>
              <a:pPr/>
              <a:t>4/7/2017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4542A9-E4E5-43E8-95E6-9C71E725BC0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CB0840-409E-41B2-8067-B15A0A6FCE12}" type="datetimeFigureOut">
              <a:rPr lang="en-US" smtClean="0"/>
              <a:pPr/>
              <a:t>4/7/2017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4542A9-E4E5-43E8-95E6-9C71E725BC0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Ken_Thompson_(computer_programmer)" TargetMode="External"/><Relationship Id="rId2" Type="http://schemas.openxmlformats.org/officeDocument/2006/relationships/hyperlink" Target="https://en.wikipedia.org/wiki/Joseph_Henry_Condon" TargetMode="External"/><Relationship Id="rId1" Type="http://schemas.openxmlformats.org/officeDocument/2006/relationships/slideLayout" Target="../slideLayouts/slideLayout12.xml"/><Relationship Id="rId4" Type="http://schemas.openxmlformats.org/officeDocument/2006/relationships/hyperlink" Target="https://en.wikipedia.org/wiki/Bell_Lab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Bit" TargetMode="External"/><Relationship Id="rId2" Type="http://schemas.openxmlformats.org/officeDocument/2006/relationships/hyperlink" Target="https://en.wikipedia.org/wiki/Random-access_memory" TargetMode="External"/><Relationship Id="rId1" Type="http://schemas.openxmlformats.org/officeDocument/2006/relationships/slideLayout" Target="../slideLayouts/slideLayout12.xml"/><Relationship Id="rId5" Type="http://schemas.openxmlformats.org/officeDocument/2006/relationships/hyperlink" Target="https://en.wikipedia.org/wiki/Integrated_circuit" TargetMode="External"/><Relationship Id="rId4" Type="http://schemas.openxmlformats.org/officeDocument/2006/relationships/hyperlink" Target="https://en.wikipedia.org/wiki/Capacitor"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hyperlink" Target="http://www.blogger.com/blogger.g?blogID=8255772026714631517"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hyperlink" Target="http://www.blogger.com/blogger.g?blogID=8255772026714631517" TargetMode="Externa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hyperlink" Target="http://www.blogger.com/blogger.g?blogID=8255772026714631517" TargetMode="Externa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hyperlink" Target="http://www.blogger.com/blogger.g?blogID=8255772026714631517" TargetMode="Externa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hyperlink" Target="https://en.wikipedia.org/wiki/Telecommunications_equipment" TargetMode="Externa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0" y="1828800"/>
            <a:ext cx="6553199" cy="830997"/>
          </a:xfrm>
          <a:prstGeom prst="rect">
            <a:avLst/>
          </a:prstGeom>
        </p:spPr>
        <p:txBody>
          <a:bodyPr wrap="square">
            <a:spAutoFit/>
          </a:bodyPr>
          <a:lstStyle/>
          <a:p>
            <a:pPr algn="ctr"/>
            <a:r>
              <a:rPr lang="en-US" sz="4800" b="1" dirty="0" smtClean="0">
                <a:solidFill>
                  <a:srgbClr val="365F91"/>
                </a:solidFill>
                <a:latin typeface="Cambria"/>
              </a:rPr>
              <a:t>INTRODUCTION TO C</a:t>
            </a:r>
            <a:endParaRPr lang="en-US" sz="4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200" b="1" baseline="0" dirty="0" smtClean="0">
                <a:solidFill>
                  <a:srgbClr val="4F81BD"/>
                </a:solidFill>
                <a:latin typeface="Cambria"/>
              </a:rPr>
              <a:t>OBJECTIVE -1</a:t>
            </a:r>
            <a:r>
              <a:rPr lang="en-US" b="1" baseline="0" dirty="0" smtClean="0">
                <a:solidFill>
                  <a:srgbClr val="4F81BD"/>
                </a:solidFill>
                <a:latin typeface="Cambria"/>
              </a:rPr>
              <a:t/>
            </a:r>
            <a:br>
              <a:rPr lang="en-US" b="1" baseline="0" dirty="0" smtClean="0">
                <a:solidFill>
                  <a:srgbClr val="4F81BD"/>
                </a:solidFill>
                <a:latin typeface="Cambria"/>
              </a:rPr>
            </a:br>
            <a:endParaRPr lang="en-US" b="1" baseline="0" dirty="0" smtClean="0">
              <a:solidFill>
                <a:srgbClr val="365F91"/>
              </a:solidFill>
              <a:latin typeface="Cambria"/>
            </a:endParaRPr>
          </a:p>
        </p:txBody>
      </p:sp>
      <p:sp>
        <p:nvSpPr>
          <p:cNvPr id="3" name="Text Placeholder 2"/>
          <p:cNvSpPr>
            <a:spLocks noGrp="1"/>
          </p:cNvSpPr>
          <p:nvPr>
            <p:ph type="body" idx="1"/>
          </p:nvPr>
        </p:nvSpPr>
        <p:spPr/>
        <p:txBody>
          <a:bodyPr/>
          <a:lstStyle/>
          <a:p>
            <a:pPr marR="0" lvl="1" rtl="0"/>
            <a:r>
              <a:rPr lang="en-US" b="1" baseline="0" dirty="0" smtClean="0">
                <a:solidFill>
                  <a:srgbClr val="4F81BD"/>
                </a:solidFill>
                <a:latin typeface="Cambria"/>
              </a:rPr>
              <a:t>Why C language is so important? </a:t>
            </a:r>
          </a:p>
          <a:p>
            <a:pPr marR="0" lvl="1" rtl="0"/>
            <a:r>
              <a:rPr lang="en-US" b="1" baseline="0" dirty="0" smtClean="0">
                <a:solidFill>
                  <a:srgbClr val="4F81BD"/>
                </a:solidFill>
                <a:latin typeface="Cambria"/>
              </a:rPr>
              <a:t>History of  C language</a:t>
            </a:r>
          </a:p>
          <a:p>
            <a:pPr marR="0" lvl="0" rtl="0"/>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R="0" rtl="0"/>
            <a:r>
              <a:rPr lang="en-US" b="1" baseline="0" smtClean="0">
                <a:solidFill>
                  <a:srgbClr val="365F91"/>
                </a:solidFill>
                <a:latin typeface="Cambria"/>
              </a:rPr>
              <a:t>Why C language is so important? </a:t>
            </a:r>
            <a:endParaRPr lang="en-US" b="1" baseline="0" smtClean="0">
              <a:solidFill>
                <a:srgbClr val="365F91"/>
              </a:solidFill>
              <a:latin typeface="Times New Roman"/>
            </a:endParaRPr>
          </a:p>
        </p:txBody>
      </p:sp>
      <p:sp>
        <p:nvSpPr>
          <p:cNvPr id="3" name="Text Placeholder 2"/>
          <p:cNvSpPr>
            <a:spLocks noGrp="1"/>
          </p:cNvSpPr>
          <p:nvPr>
            <p:ph type="body" idx="1"/>
          </p:nvPr>
        </p:nvSpPr>
        <p:spPr/>
        <p:txBody>
          <a:bodyPr>
            <a:normAutofit fontScale="77500" lnSpcReduction="20000"/>
          </a:bodyPr>
          <a:lstStyle/>
          <a:p>
            <a:pPr marR="0" lvl="2" rtl="0">
              <a:buNone/>
            </a:pPr>
            <a:r>
              <a:rPr lang="en-US" b="1" i="1" baseline="0" dirty="0" smtClean="0">
                <a:solidFill>
                  <a:srgbClr val="4F81BD"/>
                </a:solidFill>
                <a:latin typeface="Cambria"/>
              </a:rPr>
              <a:t>Worth to know about C language</a:t>
            </a:r>
          </a:p>
          <a:p>
            <a:pPr marR="0" lvl="2" rtl="0"/>
            <a:r>
              <a:rPr lang="en-US" b="1" i="1" baseline="0" dirty="0" smtClean="0">
                <a:solidFill>
                  <a:srgbClr val="4F81BD"/>
                </a:solidFill>
                <a:latin typeface="Cambria"/>
              </a:rPr>
              <a:t>— Oracle is written in C. </a:t>
            </a:r>
          </a:p>
          <a:p>
            <a:pPr marR="0" lvl="2" rtl="0"/>
            <a:r>
              <a:rPr lang="en-US" b="1" i="1" baseline="0" dirty="0" smtClean="0">
                <a:solidFill>
                  <a:srgbClr val="4F81BD"/>
                </a:solidFill>
                <a:latin typeface="Cambria"/>
              </a:rPr>
              <a:t>— Core libraries of android are written in C </a:t>
            </a:r>
          </a:p>
          <a:p>
            <a:pPr marR="0" lvl="2" rtl="0"/>
            <a:r>
              <a:rPr lang="en-US" b="1" i="1" baseline="0" dirty="0" smtClean="0">
                <a:solidFill>
                  <a:srgbClr val="4F81BD"/>
                </a:solidFill>
                <a:latin typeface="Cambria"/>
              </a:rPr>
              <a:t>— </a:t>
            </a:r>
            <a:r>
              <a:rPr lang="en-US" b="1" i="1" baseline="0" dirty="0" err="1" smtClean="0">
                <a:solidFill>
                  <a:srgbClr val="4F81BD"/>
                </a:solidFill>
                <a:latin typeface="Cambria"/>
              </a:rPr>
              <a:t>MySQL</a:t>
            </a:r>
            <a:r>
              <a:rPr lang="en-US" b="1" i="1" baseline="0" dirty="0" smtClean="0">
                <a:solidFill>
                  <a:srgbClr val="4F81BD"/>
                </a:solidFill>
                <a:latin typeface="Cambria"/>
              </a:rPr>
              <a:t> is written in C</a:t>
            </a:r>
          </a:p>
          <a:p>
            <a:pPr marR="0" lvl="2" rtl="0"/>
            <a:r>
              <a:rPr lang="en-US" b="1" i="1" baseline="0" dirty="0" smtClean="0">
                <a:solidFill>
                  <a:srgbClr val="4F81BD"/>
                </a:solidFill>
                <a:latin typeface="Cambria"/>
              </a:rPr>
              <a:t>— Almost every device driver is written in C </a:t>
            </a:r>
          </a:p>
          <a:p>
            <a:pPr marR="0" lvl="2" rtl="0"/>
            <a:r>
              <a:rPr lang="en-US" b="1" i="1" baseline="0" dirty="0" smtClean="0">
                <a:solidFill>
                  <a:srgbClr val="4F81BD"/>
                </a:solidFill>
                <a:latin typeface="Cambria"/>
              </a:rPr>
              <a:t>— Major part of web browser is written in C </a:t>
            </a:r>
          </a:p>
          <a:p>
            <a:pPr marR="0" lvl="2" rtl="0"/>
            <a:r>
              <a:rPr lang="en-US" b="1" i="1" baseline="0" dirty="0" smtClean="0">
                <a:solidFill>
                  <a:srgbClr val="4F81BD"/>
                </a:solidFill>
                <a:latin typeface="Cambria"/>
              </a:rPr>
              <a:t>— Unix operating system is developed in C </a:t>
            </a:r>
          </a:p>
          <a:p>
            <a:pPr marR="0" lvl="2" rtl="0"/>
            <a:r>
              <a:rPr lang="en-US" b="1" i="1" baseline="0" dirty="0" smtClean="0">
                <a:solidFill>
                  <a:srgbClr val="4F81BD"/>
                </a:solidFill>
                <a:latin typeface="Cambria"/>
              </a:rPr>
              <a:t>— C is the world's most popular programming language</a:t>
            </a:r>
          </a:p>
          <a:p>
            <a:pPr marR="0" lvl="0" rtl="0"/>
            <a:endParaRPr lang="en-US" b="1" baseline="0" dirty="0" smtClean="0">
              <a:solidFill>
                <a:srgbClr val="4F81BD"/>
              </a:solidFill>
              <a:latin typeface="Times New Roman"/>
            </a:endParaRPr>
          </a:p>
          <a:p>
            <a:pPr marR="0" lvl="2" rtl="0">
              <a:buNone/>
            </a:pPr>
            <a:r>
              <a:rPr lang="en-US" b="1" i="1" baseline="0" dirty="0" smtClean="0">
                <a:solidFill>
                  <a:srgbClr val="4F81BD"/>
                </a:solidFill>
                <a:latin typeface="Cambria"/>
              </a:rPr>
              <a:t>For students </a:t>
            </a:r>
          </a:p>
          <a:p>
            <a:pPr marR="0" lvl="2" rtl="0"/>
            <a:r>
              <a:rPr lang="en-US" b="1" i="1" baseline="0" dirty="0" smtClean="0">
                <a:solidFill>
                  <a:srgbClr val="4F81BD"/>
                </a:solidFill>
                <a:latin typeface="Cambria"/>
              </a:rPr>
              <a:t>— C is important to build programming skills</a:t>
            </a:r>
          </a:p>
          <a:p>
            <a:pPr marR="0" lvl="2" rtl="0"/>
            <a:r>
              <a:rPr lang="en-US" b="1" i="1" baseline="0" dirty="0" smtClean="0">
                <a:solidFill>
                  <a:srgbClr val="4F81BD"/>
                </a:solidFill>
                <a:latin typeface="Cambria"/>
              </a:rPr>
              <a:t>— C covers basic features of all programming language</a:t>
            </a:r>
          </a:p>
          <a:p>
            <a:pPr marR="0" lvl="2" rtl="0"/>
            <a:r>
              <a:rPr lang="en-US" b="1" i="1" baseline="0" dirty="0" smtClean="0">
                <a:solidFill>
                  <a:srgbClr val="4F81BD"/>
                </a:solidFill>
                <a:latin typeface="Cambria"/>
              </a:rPr>
              <a:t>— Campus recruitment process </a:t>
            </a:r>
          </a:p>
          <a:p>
            <a:pPr marR="0" lvl="2" rtl="0"/>
            <a:r>
              <a:rPr lang="en-US" b="1" i="1" baseline="0" dirty="0" smtClean="0">
                <a:solidFill>
                  <a:srgbClr val="4F81BD"/>
                </a:solidFill>
                <a:latin typeface="Cambria"/>
              </a:rPr>
              <a:t>— C is the most popular language for hardware dependent programming</a:t>
            </a:r>
          </a:p>
          <a:p>
            <a:pPr marR="0" lvl="0" rtl="0"/>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History of C language</a:t>
            </a:r>
            <a:endParaRPr lang="en-US" b="1" baseline="0" smtClean="0">
              <a:solidFill>
                <a:srgbClr val="365F91"/>
              </a:solidFill>
              <a:latin typeface="Times New Roman"/>
            </a:endParaRPr>
          </a:p>
        </p:txBody>
      </p:sp>
      <p:sp>
        <p:nvSpPr>
          <p:cNvPr id="3" name="Text Placeholder 2"/>
          <p:cNvSpPr>
            <a:spLocks noGrp="1"/>
          </p:cNvSpPr>
          <p:nvPr>
            <p:ph type="body" idx="1"/>
          </p:nvPr>
        </p:nvSpPr>
        <p:spPr/>
        <p:txBody>
          <a:bodyPr/>
          <a:lstStyle/>
          <a:p>
            <a:pPr marR="0" lvl="2" rtl="0"/>
            <a:r>
              <a:rPr lang="en-US" b="1" i="1" baseline="0" smtClean="0">
                <a:solidFill>
                  <a:srgbClr val="4F81BD"/>
                </a:solidFill>
                <a:latin typeface="Cambria"/>
              </a:rPr>
              <a:t>Developer of BCPL (Martin Rechards)</a:t>
            </a:r>
          </a:p>
          <a:p>
            <a:pPr marR="0" lvl="2" rtl="0"/>
            <a:r>
              <a:rPr lang="en-US" b="1" i="1" baseline="0" smtClean="0">
                <a:solidFill>
                  <a:srgbClr val="4F81BD"/>
                </a:solidFill>
                <a:latin typeface="Cambria"/>
              </a:rPr>
              <a:t>Basic Combined Programming Language</a:t>
            </a:r>
          </a:p>
          <a:p>
            <a:pPr marR="0" lvl="2" rtl="0"/>
            <a:r>
              <a:rPr lang="en-US" b="1" i="1" baseline="0" smtClean="0">
                <a:solidFill>
                  <a:srgbClr val="4F81BD"/>
                </a:solidFill>
                <a:latin typeface="Cambria"/>
              </a:rPr>
              <a:t>1966</a:t>
            </a:r>
          </a:p>
          <a:p>
            <a:pPr marR="0" lvl="0" rtl="0"/>
            <a:endParaRPr lang="en-US" b="1" baseline="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R="0" rtl="0"/>
            <a:r>
              <a:rPr lang="en-US" b="1" baseline="0" dirty="0" smtClean="0">
                <a:solidFill>
                  <a:srgbClr val="365F91"/>
                </a:solidFill>
                <a:latin typeface="Cambria"/>
              </a:rPr>
              <a:t>Developer of B language (Ken Thompson )</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p:txBody>
          <a:bodyPr>
            <a:normAutofit/>
          </a:bodyPr>
          <a:lstStyle/>
          <a:p>
            <a:pPr marR="0" lvl="2" rtl="0"/>
            <a:r>
              <a:rPr lang="en-US" b="1" i="1" baseline="0" dirty="0" smtClean="0">
                <a:solidFill>
                  <a:srgbClr val="4F81BD"/>
                </a:solidFill>
                <a:latin typeface="Cambria"/>
              </a:rPr>
              <a:t>1969</a:t>
            </a:r>
          </a:p>
          <a:p>
            <a:pPr marR="0" lvl="2" rtl="0"/>
            <a:r>
              <a:rPr lang="en-US" b="1" i="1" baseline="0" dirty="0" smtClean="0">
                <a:solidFill>
                  <a:srgbClr val="4F81BD"/>
                </a:solidFill>
                <a:latin typeface="Cambria"/>
              </a:rPr>
              <a:t>Also developer of UNIX </a:t>
            </a:r>
            <a:r>
              <a:rPr lang="en-US" b="1" i="1" baseline="0" dirty="0" err="1" smtClean="0">
                <a:solidFill>
                  <a:srgbClr val="4F81BD"/>
                </a:solidFill>
                <a:latin typeface="Cambria"/>
              </a:rPr>
              <a:t>operaring</a:t>
            </a:r>
            <a:r>
              <a:rPr lang="en-US" b="1" i="1" baseline="0" dirty="0" smtClean="0">
                <a:solidFill>
                  <a:srgbClr val="4F81BD"/>
                </a:solidFill>
                <a:latin typeface="Cambria"/>
              </a:rPr>
              <a:t> system</a:t>
            </a:r>
          </a:p>
          <a:p>
            <a:pPr marR="0" lvl="2" rtl="0"/>
            <a:r>
              <a:rPr lang="en-US" b="1" i="1" baseline="0" dirty="0" smtClean="0">
                <a:solidFill>
                  <a:srgbClr val="4F81BD"/>
                </a:solidFill>
                <a:latin typeface="Cambria"/>
              </a:rPr>
              <a:t>He also developed first master level chess called Belle in 1980.</a:t>
            </a:r>
          </a:p>
          <a:p>
            <a:pPr marR="0" lvl="2" rtl="0"/>
            <a:r>
              <a:rPr lang="en-US" b="1" i="1" baseline="0" dirty="0" smtClean="0">
                <a:solidFill>
                  <a:srgbClr val="4F81BD"/>
                </a:solidFill>
                <a:latin typeface="Cambria"/>
              </a:rPr>
              <a:t>Belle</a:t>
            </a:r>
            <a:r>
              <a:rPr lang="en-US" b="1" i="1" baseline="0" dirty="0" smtClean="0">
                <a:solidFill>
                  <a:srgbClr val="4F81BD"/>
                </a:solidFill>
                <a:latin typeface="Times New Roman"/>
              </a:rPr>
              <a:t> </a:t>
            </a:r>
            <a:r>
              <a:rPr lang="en-US" b="1" i="1" baseline="0" dirty="0" smtClean="0">
                <a:solidFill>
                  <a:srgbClr val="4F81BD"/>
                </a:solidFill>
                <a:latin typeface="Cambria"/>
              </a:rPr>
              <a:t>was the first computer defined for the sole purpose of</a:t>
            </a:r>
            <a:r>
              <a:rPr lang="en-US" b="1" i="1" baseline="0" dirty="0" smtClean="0">
                <a:solidFill>
                  <a:srgbClr val="4F81BD"/>
                </a:solidFill>
                <a:latin typeface="Times New Roman"/>
              </a:rPr>
              <a:t> </a:t>
            </a:r>
            <a:r>
              <a:rPr lang="en-US" b="1" i="1" baseline="0" dirty="0" smtClean="0">
                <a:solidFill>
                  <a:srgbClr val="4F81BD"/>
                </a:solidFill>
                <a:latin typeface="Cambria"/>
              </a:rPr>
              <a:t>chess</a:t>
            </a:r>
            <a:r>
              <a:rPr lang="en-US" b="1" i="1" baseline="0" dirty="0" smtClean="0">
                <a:solidFill>
                  <a:srgbClr val="4F81BD"/>
                </a:solidFill>
                <a:latin typeface="Times New Roman"/>
              </a:rPr>
              <a:t> </a:t>
            </a:r>
            <a:r>
              <a:rPr lang="en-US" b="1" i="1" baseline="0" dirty="0" smtClean="0">
                <a:solidFill>
                  <a:srgbClr val="4F81BD"/>
                </a:solidFill>
                <a:latin typeface="Cambria"/>
              </a:rPr>
              <a:t>playing.</a:t>
            </a:r>
          </a:p>
          <a:p>
            <a:pPr algn="just">
              <a:buNone/>
            </a:pPr>
            <a:r>
              <a:rPr lang="en-US" sz="1800" b="1" baseline="0" dirty="0" smtClean="0">
                <a:solidFill>
                  <a:srgbClr val="252525"/>
                </a:solidFill>
                <a:latin typeface="+mj-lt"/>
              </a:rPr>
              <a:t>                     The machine was developed by </a:t>
            </a:r>
            <a:r>
              <a:rPr lang="en-US" sz="1800" b="1" u="sng" baseline="0" dirty="0" smtClean="0">
                <a:solidFill>
                  <a:srgbClr val="0B0080"/>
                </a:solidFill>
                <a:latin typeface="+mj-lt"/>
                <a:hlinkClick r:id="rId2" tooltip="Joseph Henry Condon"/>
              </a:rPr>
              <a:t>Joe Condon</a:t>
            </a:r>
            <a:r>
              <a:rPr lang="en-US" sz="1800" b="1" u="sng" baseline="0" dirty="0" smtClean="0">
                <a:solidFill>
                  <a:srgbClr val="252525"/>
                </a:solidFill>
                <a:latin typeface="+mj-lt"/>
                <a:hlinkClick r:id="rId2" tooltip="Joseph Henry Condon"/>
              </a:rPr>
              <a:t> (hardware)</a:t>
            </a:r>
            <a:r>
              <a:rPr lang="en-US" sz="1800" b="1" u="sng" dirty="0" smtClean="0">
                <a:solidFill>
                  <a:srgbClr val="252525"/>
                </a:solidFill>
                <a:latin typeface="+mj-lt"/>
                <a:hlinkClick r:id="rId2" tooltip="Joseph Henry Condon"/>
              </a:rPr>
              <a:t> </a:t>
            </a:r>
            <a:r>
              <a:rPr lang="en-US" sz="1800" b="1" u="sng" baseline="0" dirty="0" smtClean="0">
                <a:solidFill>
                  <a:srgbClr val="252525"/>
                </a:solidFill>
                <a:latin typeface="+mj-lt"/>
                <a:hlinkClick r:id="rId2" tooltip="Joseph Henry Condon"/>
              </a:rPr>
              <a:t>and </a:t>
            </a:r>
            <a:r>
              <a:rPr lang="en-US" sz="1800" b="1" u="sng" baseline="0" dirty="0" smtClean="0">
                <a:solidFill>
                  <a:srgbClr val="0B0080"/>
                </a:solidFill>
                <a:latin typeface="+mj-lt"/>
                <a:hlinkClick r:id="rId3" tooltip="Ken Thompson (computer programmer)"/>
              </a:rPr>
              <a:t>Ken            Thompson</a:t>
            </a:r>
            <a:r>
              <a:rPr lang="en-US" sz="1800" b="1" u="sng" baseline="0" dirty="0" smtClean="0">
                <a:solidFill>
                  <a:srgbClr val="252525"/>
                </a:solidFill>
                <a:latin typeface="+mj-lt"/>
                <a:hlinkClick r:id="rId3" tooltip="Ken Thompson (computer programmer)"/>
              </a:rPr>
              <a:t> (software) at </a:t>
            </a:r>
            <a:r>
              <a:rPr lang="en-US" sz="1800" b="1" u="sng" baseline="0" dirty="0" smtClean="0">
                <a:solidFill>
                  <a:srgbClr val="0B0080"/>
                </a:solidFill>
                <a:latin typeface="+mj-lt"/>
                <a:hlinkClick r:id="rId4" tooltip="Bell Labs"/>
              </a:rPr>
              <a:t>Bell Labs</a:t>
            </a:r>
            <a:r>
              <a:rPr lang="en-US" sz="1800" b="1" u="sng" baseline="0" dirty="0" smtClean="0">
                <a:solidFill>
                  <a:srgbClr val="252525"/>
                </a:solidFill>
                <a:latin typeface="+mj-lt"/>
                <a:hlinkClick r:id="rId4" tooltip="Bell Labs"/>
              </a:rPr>
              <a:t> in the 1970s and</a:t>
            </a:r>
            <a:r>
              <a:rPr lang="en-US" sz="1800" b="1" u="sng" dirty="0" smtClean="0">
                <a:solidFill>
                  <a:srgbClr val="252525"/>
                </a:solidFill>
                <a:latin typeface="+mj-lt"/>
                <a:hlinkClick r:id="rId4" tooltip="Bell Labs"/>
              </a:rPr>
              <a:t> </a:t>
            </a:r>
            <a:r>
              <a:rPr lang="en-US" sz="1800" b="1" u="sng" baseline="0" dirty="0" smtClean="0">
                <a:solidFill>
                  <a:srgbClr val="252525"/>
                </a:solidFill>
                <a:latin typeface="+mj-lt"/>
                <a:hlinkClick r:id="rId4" tooltip="Bell Labs"/>
              </a:rPr>
              <a:t>1980s</a:t>
            </a:r>
          </a:p>
          <a:p>
            <a:pPr marR="0" lvl="0" rtl="0"/>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R="0" rtl="0"/>
            <a:r>
              <a:rPr lang="en-US" b="1" baseline="0" smtClean="0">
                <a:solidFill>
                  <a:srgbClr val="365F91"/>
                </a:solidFill>
                <a:latin typeface="Cambria"/>
              </a:rPr>
              <a:t>Developer of C language (Dennis Ritchi)</a:t>
            </a:r>
          </a:p>
        </p:txBody>
      </p:sp>
      <p:sp>
        <p:nvSpPr>
          <p:cNvPr id="3" name="Text Placeholder 2"/>
          <p:cNvSpPr>
            <a:spLocks noGrp="1"/>
          </p:cNvSpPr>
          <p:nvPr>
            <p:ph type="body" idx="1"/>
          </p:nvPr>
        </p:nvSpPr>
        <p:spPr/>
        <p:txBody>
          <a:bodyPr/>
          <a:lstStyle/>
          <a:p>
            <a:pPr marR="0" lvl="2" rtl="0"/>
            <a:r>
              <a:rPr lang="en-US" b="1" i="1" baseline="0" smtClean="0">
                <a:solidFill>
                  <a:srgbClr val="4F81BD"/>
                </a:solidFill>
                <a:latin typeface="Cambria"/>
              </a:rPr>
              <a:t>In 1972</a:t>
            </a:r>
          </a:p>
          <a:p>
            <a:pPr marR="0" lvl="2" rtl="0"/>
            <a:r>
              <a:rPr lang="en-US" b="1" i="1" baseline="0" smtClean="0">
                <a:solidFill>
                  <a:srgbClr val="4F81BD"/>
                </a:solidFill>
                <a:latin typeface="Cambria"/>
              </a:rPr>
              <a:t>At AT &amp; T’s Bell Labs, USA</a:t>
            </a:r>
          </a:p>
          <a:p>
            <a:pPr marR="0" lvl="2" rtl="0"/>
            <a:r>
              <a:rPr lang="en-US" b="1" i="1" baseline="0" smtClean="0">
                <a:solidFill>
                  <a:srgbClr val="4F81BD"/>
                </a:solidFill>
                <a:latin typeface="Cambria"/>
              </a:rPr>
              <a:t>Co-developer of UNIX operating system</a:t>
            </a:r>
          </a:p>
          <a:p>
            <a:pPr marR="0" lvl="2" rtl="0"/>
            <a:r>
              <a:rPr lang="en-US" b="1" i="1" baseline="0" smtClean="0">
                <a:solidFill>
                  <a:srgbClr val="4F81BD"/>
                </a:solidFill>
                <a:latin typeface="Cambria"/>
              </a:rPr>
              <a:t>(Generally C language is made for  making Unix OS)</a:t>
            </a:r>
          </a:p>
          <a:p>
            <a:pPr marR="0" lvl="0" rtl="0"/>
            <a:endParaRPr lang="en-US" b="1" baseline="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dirty="0" smtClean="0">
                <a:solidFill>
                  <a:srgbClr val="365F91"/>
                </a:solidFill>
                <a:latin typeface="Cambria"/>
              </a:rPr>
              <a:t>Objective -2</a:t>
            </a:r>
          </a:p>
        </p:txBody>
      </p:sp>
      <p:sp>
        <p:nvSpPr>
          <p:cNvPr id="3" name="Text Placeholder 2"/>
          <p:cNvSpPr>
            <a:spLocks noGrp="1"/>
          </p:cNvSpPr>
          <p:nvPr>
            <p:ph type="body" idx="1"/>
          </p:nvPr>
        </p:nvSpPr>
        <p:spPr/>
        <p:txBody>
          <a:bodyPr/>
          <a:lstStyle/>
          <a:p>
            <a:pPr marR="0" lvl="0" algn="ctr" rtl="0">
              <a:buNone/>
            </a:pPr>
            <a:r>
              <a:rPr lang="en-US" b="1" baseline="0" dirty="0" smtClean="0">
                <a:solidFill>
                  <a:srgbClr val="4F81BD"/>
                </a:solidFill>
                <a:latin typeface="Cambria"/>
              </a:rPr>
              <a:t>Fundamental Terminology</a:t>
            </a:r>
          </a:p>
          <a:p>
            <a:pPr marR="0" lvl="0" algn="ctr" rtl="0">
              <a:buNone/>
            </a:pPr>
            <a:endParaRPr lang="en-US" b="1" baseline="0" dirty="0" smtClean="0">
              <a:solidFill>
                <a:srgbClr val="4F81BD"/>
              </a:solidFill>
              <a:latin typeface="Cambria"/>
            </a:endParaRPr>
          </a:p>
          <a:p>
            <a:pPr marR="0" lvl="0" rtl="0"/>
            <a:r>
              <a:rPr lang="en-US" b="1" baseline="0" dirty="0" smtClean="0">
                <a:solidFill>
                  <a:srgbClr val="4F81BD"/>
                </a:solidFill>
                <a:latin typeface="Cambria"/>
              </a:rPr>
              <a:t>What is Computer ?</a:t>
            </a:r>
          </a:p>
          <a:p>
            <a:pPr marR="0" lvl="2" rtl="0"/>
            <a:r>
              <a:rPr lang="en-US" b="1" i="1" baseline="0" dirty="0" smtClean="0">
                <a:solidFill>
                  <a:srgbClr val="4F81BD"/>
                </a:solidFill>
                <a:latin typeface="Cambria"/>
              </a:rPr>
              <a:t>Computer is an electronic device that takes input, process it and gives output.</a:t>
            </a:r>
          </a:p>
          <a:p>
            <a:pPr marR="0" lvl="2" rtl="0"/>
            <a:r>
              <a:rPr lang="en-US" b="1" i="1" baseline="0" dirty="0" smtClean="0">
                <a:solidFill>
                  <a:srgbClr val="4F81BD"/>
                </a:solidFill>
                <a:latin typeface="Cambria"/>
              </a:rPr>
              <a:t>Low current : Laptop, PC, Mobile, Servers, Calculator, Digital Computer etc.</a:t>
            </a:r>
          </a:p>
          <a:p>
            <a:pPr marR="0" lvl="0" rtl="0"/>
            <a:endParaRPr lang="en-US" b="1" baseline="0" dirty="0" smtClean="0">
              <a:solidFill>
                <a:srgbClr val="4F81BD"/>
              </a:solidFill>
              <a:latin typeface="Calibri"/>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What is 0 and 1 ?</a:t>
            </a:r>
          </a:p>
        </p:txBody>
      </p:sp>
      <p:sp>
        <p:nvSpPr>
          <p:cNvPr id="3" name="Text Placeholder 2"/>
          <p:cNvSpPr>
            <a:spLocks noGrp="1"/>
          </p:cNvSpPr>
          <p:nvPr>
            <p:ph type="body" idx="1"/>
          </p:nvPr>
        </p:nvSpPr>
        <p:spPr/>
        <p:txBody>
          <a:bodyPr/>
          <a:lstStyle/>
          <a:p>
            <a:pPr marR="0" lvl="2" rtl="0"/>
            <a:r>
              <a:rPr lang="en-US" b="1" i="1" baseline="0" smtClean="0">
                <a:solidFill>
                  <a:srgbClr val="4F81BD"/>
                </a:solidFill>
                <a:latin typeface="Cambria"/>
              </a:rPr>
              <a:t>There is nothing like 0 and 1 in computer. There is no physical significance of 0 and 1</a:t>
            </a:r>
          </a:p>
          <a:p>
            <a:pPr marR="0" lvl="2" rtl="0"/>
            <a:r>
              <a:rPr lang="en-US" b="1" i="1" baseline="0" smtClean="0">
                <a:solidFill>
                  <a:srgbClr val="4F81BD"/>
                </a:solidFill>
                <a:latin typeface="Cambria"/>
              </a:rPr>
              <a:t>Any information can be encoded as sequence of 0 and 1.</a:t>
            </a:r>
            <a:endParaRPr lang="en-US" b="1" i="1" baseline="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R="0" rtl="0"/>
            <a:r>
              <a:rPr lang="en-US" b="1" baseline="0" smtClean="0">
                <a:solidFill>
                  <a:srgbClr val="365F91"/>
                </a:solidFill>
                <a:latin typeface="Cambria"/>
              </a:rPr>
              <a:t>Different devices have  represent 0 and 1 in different ways.</a:t>
            </a:r>
          </a:p>
        </p:txBody>
      </p:sp>
      <p:sp>
        <p:nvSpPr>
          <p:cNvPr id="3" name="Text Placeholder 2"/>
          <p:cNvSpPr>
            <a:spLocks noGrp="1"/>
          </p:cNvSpPr>
          <p:nvPr>
            <p:ph type="body" idx="1"/>
          </p:nvPr>
        </p:nvSpPr>
        <p:spPr/>
        <p:txBody>
          <a:bodyPr>
            <a:normAutofit fontScale="70000" lnSpcReduction="20000"/>
          </a:bodyPr>
          <a:lstStyle/>
          <a:p>
            <a:pPr marR="0" lvl="1" rtl="0"/>
            <a:r>
              <a:rPr lang="en-US" b="1" baseline="0" dirty="0" err="1" smtClean="0">
                <a:solidFill>
                  <a:srgbClr val="4F81BD"/>
                </a:solidFill>
                <a:latin typeface="Cambria"/>
              </a:rPr>
              <a:t>Hardisk</a:t>
            </a:r>
            <a:r>
              <a:rPr lang="en-US" b="1" baseline="0" dirty="0" smtClean="0">
                <a:solidFill>
                  <a:srgbClr val="4F81BD"/>
                </a:solidFill>
                <a:latin typeface="Cambria"/>
              </a:rPr>
              <a:t> (in magnetic material using north 1 / south 0 pole)</a:t>
            </a:r>
          </a:p>
          <a:p>
            <a:pPr marR="0" lvl="1" rtl="0"/>
            <a:r>
              <a:rPr lang="en-US" b="1" baseline="0" dirty="0" err="1" smtClean="0">
                <a:solidFill>
                  <a:srgbClr val="4F81BD"/>
                </a:solidFill>
                <a:latin typeface="Cambria"/>
              </a:rPr>
              <a:t>Hardrive</a:t>
            </a:r>
            <a:r>
              <a:rPr lang="en-US" b="1" baseline="0" dirty="0" smtClean="0">
                <a:solidFill>
                  <a:srgbClr val="4F81BD"/>
                </a:solidFill>
                <a:latin typeface="Cambria"/>
              </a:rPr>
              <a:t> stored data in magnetic media so they can save data without any current.</a:t>
            </a:r>
          </a:p>
          <a:p>
            <a:pPr marR="0" lvl="1" rtl="0"/>
            <a:r>
              <a:rPr lang="en-US" b="1" baseline="0" dirty="0" smtClean="0">
                <a:solidFill>
                  <a:srgbClr val="4F81BD"/>
                </a:solidFill>
                <a:latin typeface="Cambria"/>
              </a:rPr>
              <a:t>(Non Volatile)</a:t>
            </a:r>
          </a:p>
          <a:p>
            <a:pPr marR="0" lvl="0" rtl="0"/>
            <a:endParaRPr lang="en-US" b="1" baseline="0" dirty="0" smtClean="0">
              <a:solidFill>
                <a:srgbClr val="4F81BD"/>
              </a:solidFill>
              <a:latin typeface="Times New Roman"/>
            </a:endParaRPr>
          </a:p>
          <a:p>
            <a:pPr marR="0" lvl="1" rtl="0"/>
            <a:r>
              <a:rPr lang="en-US" b="1" baseline="0" dirty="0" smtClean="0">
                <a:solidFill>
                  <a:srgbClr val="4F81BD"/>
                </a:solidFill>
                <a:latin typeface="Cambria"/>
              </a:rPr>
              <a:t>RAM ( Charged hold in capacitor (Charge hold 0 or 1)) </a:t>
            </a:r>
          </a:p>
          <a:p>
            <a:pPr marR="0" lvl="1" rtl="0"/>
            <a:r>
              <a:rPr lang="en-US" b="1" baseline="0" dirty="0" smtClean="0">
                <a:solidFill>
                  <a:srgbClr val="4F81BD"/>
                </a:solidFill>
                <a:latin typeface="Cambria"/>
              </a:rPr>
              <a:t>Each banks of capacitor holds eight bits (1 byte)</a:t>
            </a:r>
          </a:p>
          <a:p>
            <a:pPr marR="0" lvl="1" rtl="0"/>
            <a:r>
              <a:rPr lang="en-US" b="1" baseline="0" dirty="0" smtClean="0">
                <a:solidFill>
                  <a:srgbClr val="4F81BD"/>
                </a:solidFill>
                <a:latin typeface="Cambria"/>
              </a:rPr>
              <a:t>( Volatile)</a:t>
            </a:r>
          </a:p>
          <a:p>
            <a:pPr marR="0" lvl="0" rtl="0"/>
            <a:endParaRPr lang="en-US" b="1" baseline="0" dirty="0" smtClean="0">
              <a:solidFill>
                <a:srgbClr val="4F81BD"/>
              </a:solidFill>
              <a:latin typeface="Times New Roman"/>
            </a:endParaRPr>
          </a:p>
          <a:p>
            <a:pPr marR="0" lvl="1" rtl="0"/>
            <a:r>
              <a:rPr lang="en-US" b="1" baseline="0" dirty="0" smtClean="0">
                <a:solidFill>
                  <a:srgbClr val="4F81BD"/>
                </a:solidFill>
                <a:latin typeface="Cambria"/>
              </a:rPr>
              <a:t>Processor (contains Register ( which made with the help of flip flop) )</a:t>
            </a:r>
          </a:p>
          <a:p>
            <a:pPr marR="0" lvl="1" rtl="0"/>
            <a:r>
              <a:rPr lang="en-US" b="1" baseline="0" dirty="0" smtClean="0">
                <a:solidFill>
                  <a:srgbClr val="4F81BD"/>
                </a:solidFill>
                <a:latin typeface="Cambria"/>
              </a:rPr>
              <a:t>Ex : 16 bit register mean register made by 16 flip flop( flip flop store  0 or 1 at a time Or 1 bit at a time)</a:t>
            </a:r>
          </a:p>
          <a:p>
            <a:pPr marR="0" lvl="1" rtl="0"/>
            <a:r>
              <a:rPr lang="en-US" b="1" baseline="0" dirty="0" smtClean="0">
                <a:solidFill>
                  <a:srgbClr val="4F81BD"/>
                </a:solidFill>
                <a:latin typeface="Cambria"/>
              </a:rPr>
              <a:t>( Volatile)</a:t>
            </a:r>
          </a:p>
          <a:p>
            <a:pPr marR="0" lvl="0" rtl="0"/>
            <a:endParaRPr lang="en-US" b="1" baseline="0" dirty="0" smtClean="0">
              <a:solidFill>
                <a:srgbClr val="4F81BD"/>
              </a:solidFill>
              <a:latin typeface="Calibri"/>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dirty="0" smtClean="0">
                <a:solidFill>
                  <a:srgbClr val="365F91"/>
                </a:solidFill>
                <a:latin typeface="Cambria"/>
              </a:rPr>
              <a:t>What is Hardware? </a:t>
            </a:r>
          </a:p>
        </p:txBody>
      </p:sp>
      <p:sp>
        <p:nvSpPr>
          <p:cNvPr id="5" name="Text Placeholder 4"/>
          <p:cNvSpPr>
            <a:spLocks noGrp="1"/>
          </p:cNvSpPr>
          <p:nvPr>
            <p:ph type="body" idx="1"/>
          </p:nvPr>
        </p:nvSpPr>
        <p:spPr>
          <a:xfrm>
            <a:off x="0" y="1600200"/>
            <a:ext cx="8534400" cy="2825389"/>
          </a:xfrm>
          <a:prstGeom prst="rect">
            <a:avLst/>
          </a:prstGeom>
        </p:spPr>
        <p:txBody>
          <a:bodyPr wrap="square">
            <a:spAutoFit/>
          </a:bodyPr>
          <a:lstStyle/>
          <a:p>
            <a:pPr lvl="2" algn="just"/>
            <a:r>
              <a:rPr lang="en-US" b="1" i="1" dirty="0" smtClean="0">
                <a:solidFill>
                  <a:srgbClr val="4F81BD"/>
                </a:solidFill>
                <a:latin typeface="Cambria"/>
              </a:rPr>
              <a:t>Hardware is a comprehensive term for all of the physical parts of a computer, as distinguished from the data it contains or operates on, and the software that provides instructions for the hardware to accomplish tasks. </a:t>
            </a:r>
          </a:p>
          <a:p>
            <a:pPr lvl="2" algn="just">
              <a:buNone/>
            </a:pPr>
            <a:endParaRPr lang="en-US" b="1" i="1" dirty="0" smtClean="0">
              <a:solidFill>
                <a:srgbClr val="4F81BD"/>
              </a:solidFill>
              <a:latin typeface="Cambria"/>
            </a:endParaRPr>
          </a:p>
          <a:p>
            <a:pPr lvl="2" algn="just"/>
            <a:r>
              <a:rPr lang="en-US" b="1" i="1" dirty="0" smtClean="0">
                <a:solidFill>
                  <a:srgbClr val="4F81BD"/>
                </a:solidFill>
                <a:latin typeface="Cambria"/>
              </a:rPr>
              <a:t>Hardware is anything which is tangible(touchable)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What is file ?</a:t>
            </a:r>
          </a:p>
        </p:txBody>
      </p:sp>
      <p:sp>
        <p:nvSpPr>
          <p:cNvPr id="3" name="Text Placeholder 2"/>
          <p:cNvSpPr>
            <a:spLocks noGrp="1"/>
          </p:cNvSpPr>
          <p:nvPr>
            <p:ph type="body" idx="1"/>
          </p:nvPr>
        </p:nvSpPr>
        <p:spPr/>
        <p:txBody>
          <a:bodyPr/>
          <a:lstStyle/>
          <a:p>
            <a:pPr marR="0" lvl="2" rtl="0"/>
            <a:r>
              <a:rPr lang="en-US" b="1" i="1" baseline="0" smtClean="0">
                <a:solidFill>
                  <a:srgbClr val="4F81BD"/>
                </a:solidFill>
                <a:latin typeface="Cambria"/>
              </a:rPr>
              <a:t>File Name </a:t>
            </a:r>
          </a:p>
          <a:p>
            <a:pPr marR="0" lvl="2" rtl="0"/>
            <a:r>
              <a:rPr lang="en-US" b="1" i="1" baseline="0" smtClean="0">
                <a:solidFill>
                  <a:srgbClr val="4F81BD"/>
                </a:solidFill>
                <a:latin typeface="Cambria"/>
              </a:rPr>
              <a:t>File Extension</a:t>
            </a:r>
          </a:p>
          <a:p>
            <a:pPr marR="0" lvl="2" rtl="0"/>
            <a:r>
              <a:rPr lang="en-US" b="1" i="1" baseline="0" smtClean="0">
                <a:solidFill>
                  <a:srgbClr val="4F81BD"/>
                </a:solidFill>
                <a:latin typeface="Cambria"/>
              </a:rPr>
              <a:t>Example : Track01.mp3, vedio.mp4, DSC1.jpg, list.txt, sum.exe </a:t>
            </a:r>
          </a:p>
          <a:p>
            <a:pPr marR="0" lvl="2" rtl="0"/>
            <a:r>
              <a:rPr lang="en-US" b="1" i="1" baseline="0" smtClean="0">
                <a:solidFill>
                  <a:srgbClr val="4F81BD"/>
                </a:solidFill>
                <a:latin typeface="Cambria"/>
              </a:rPr>
              <a:t>All represent in 0 - 1 form.</a:t>
            </a:r>
          </a:p>
          <a:p>
            <a:pPr marR="0" lvl="0" rtl="0"/>
            <a:endParaRPr lang="en-US" b="1" baseline="0" smtClean="0">
              <a:solidFill>
                <a:srgbClr val="4F81BD"/>
              </a:solidFill>
              <a:latin typeface="Calibri"/>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What is Software ?</a:t>
            </a:r>
          </a:p>
        </p:txBody>
      </p:sp>
      <p:sp>
        <p:nvSpPr>
          <p:cNvPr id="3" name="Text Placeholder 2"/>
          <p:cNvSpPr>
            <a:spLocks noGrp="1"/>
          </p:cNvSpPr>
          <p:nvPr>
            <p:ph type="body" idx="1"/>
          </p:nvPr>
        </p:nvSpPr>
        <p:spPr/>
        <p:txBody>
          <a:bodyPr/>
          <a:lstStyle/>
          <a:p>
            <a:pPr marR="0" lvl="2" rtl="0"/>
            <a:r>
              <a:rPr lang="en-US" b="1" i="1" baseline="0" smtClean="0">
                <a:solidFill>
                  <a:srgbClr val="4F81BD"/>
                </a:solidFill>
                <a:latin typeface="Cambria"/>
              </a:rPr>
              <a:t>Application Software (Useful for user)</a:t>
            </a:r>
          </a:p>
          <a:p>
            <a:pPr marR="0" lvl="2" rtl="0"/>
            <a:r>
              <a:rPr lang="en-US" b="1" i="1" baseline="0" smtClean="0">
                <a:solidFill>
                  <a:srgbClr val="4F81BD"/>
                </a:solidFill>
                <a:latin typeface="Cambria"/>
              </a:rPr>
              <a:t>System Software (Useful for Machine)</a:t>
            </a:r>
          </a:p>
          <a:p>
            <a:pPr marR="0" lvl="0" rtl="0"/>
            <a:endParaRPr lang="en-US" b="1" baseline="0" smtClean="0">
              <a:solidFill>
                <a:srgbClr val="4F81BD"/>
              </a:solidFill>
              <a:latin typeface="Calibri"/>
            </a:endParaRPr>
          </a:p>
          <a:p>
            <a:pPr marR="0" lvl="0" rtl="0"/>
            <a:endParaRPr lang="en-US" b="1" baseline="0" smtClean="0">
              <a:solidFill>
                <a:srgbClr val="4F81BD"/>
              </a:solidFill>
              <a:latin typeface="Calibri"/>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Program and Process</a:t>
            </a:r>
          </a:p>
        </p:txBody>
      </p:sp>
      <p:sp>
        <p:nvSpPr>
          <p:cNvPr id="3" name="Text Placeholder 2"/>
          <p:cNvSpPr>
            <a:spLocks noGrp="1"/>
          </p:cNvSpPr>
          <p:nvPr>
            <p:ph type="body" idx="1"/>
          </p:nvPr>
        </p:nvSpPr>
        <p:spPr/>
        <p:txBody>
          <a:bodyPr/>
          <a:lstStyle/>
          <a:p>
            <a:pPr marR="0" lvl="2" rtl="0"/>
            <a:r>
              <a:rPr lang="en-US" b="1" i="1" baseline="0" smtClean="0">
                <a:solidFill>
                  <a:srgbClr val="4F81BD"/>
                </a:solidFill>
                <a:latin typeface="Cambria"/>
              </a:rPr>
              <a:t>Set of instruction is called Program</a:t>
            </a:r>
          </a:p>
          <a:p>
            <a:pPr marR="0" lvl="2" rtl="0"/>
            <a:r>
              <a:rPr lang="en-US" b="1" i="1" baseline="0" smtClean="0">
                <a:solidFill>
                  <a:srgbClr val="4F81BD"/>
                </a:solidFill>
                <a:latin typeface="Cambria"/>
              </a:rPr>
              <a:t>Active state of program is called Process</a:t>
            </a:r>
          </a:p>
          <a:p>
            <a:pPr marR="0" lvl="0" rtl="0"/>
            <a:endParaRPr lang="en-US" b="1" baseline="0" smtClean="0">
              <a:solidFill>
                <a:srgbClr val="4F81BD"/>
              </a:solidFill>
              <a:latin typeface="Calibri"/>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Operating System </a:t>
            </a:r>
          </a:p>
        </p:txBody>
      </p:sp>
      <p:sp>
        <p:nvSpPr>
          <p:cNvPr id="3" name="Text Placeholder 2"/>
          <p:cNvSpPr>
            <a:spLocks noGrp="1"/>
          </p:cNvSpPr>
          <p:nvPr>
            <p:ph type="body" idx="1"/>
          </p:nvPr>
        </p:nvSpPr>
        <p:spPr/>
        <p:txBody>
          <a:bodyPr/>
          <a:lstStyle/>
          <a:p>
            <a:pPr marR="0" lvl="2" rtl="0"/>
            <a:r>
              <a:rPr lang="en-US" b="1" i="1" baseline="0" smtClean="0">
                <a:solidFill>
                  <a:srgbClr val="4F81BD"/>
                </a:solidFill>
                <a:latin typeface="Cambria"/>
              </a:rPr>
              <a:t> It is a system software </a:t>
            </a:r>
          </a:p>
          <a:p>
            <a:pPr marR="0" lvl="2" rtl="0"/>
            <a:r>
              <a:rPr lang="en-US" b="1" i="1" baseline="0" smtClean="0">
                <a:solidFill>
                  <a:srgbClr val="4F81BD"/>
                </a:solidFill>
                <a:latin typeface="Cambria"/>
              </a:rPr>
              <a:t> Examples are DOS, windows xp, windows vista, windows 7 windows 8, Solaris, Macintosh, Linux, ubuntu etc </a:t>
            </a:r>
          </a:p>
          <a:p>
            <a:pPr marR="0" lvl="2" rtl="0"/>
            <a:r>
              <a:rPr lang="en-US" b="1" i="1" baseline="0" smtClean="0">
                <a:solidFill>
                  <a:srgbClr val="4F81BD"/>
                </a:solidFill>
                <a:latin typeface="Cambria"/>
              </a:rPr>
              <a:t> It provides interface between user and machine </a:t>
            </a:r>
          </a:p>
          <a:p>
            <a:pPr marR="0" lvl="2" rtl="0"/>
            <a:r>
              <a:rPr lang="en-US" b="1" i="1" baseline="0" smtClean="0">
                <a:solidFill>
                  <a:srgbClr val="4F81BD"/>
                </a:solidFill>
                <a:latin typeface="Cambria"/>
              </a:rPr>
              <a:t> Acts as a manager of the computer system </a:t>
            </a:r>
          </a:p>
          <a:p>
            <a:pPr marR="0" lvl="2" rtl="0"/>
            <a:r>
              <a:rPr lang="en-US" b="1" i="1" baseline="0" smtClean="0">
                <a:solidFill>
                  <a:srgbClr val="4F81BD"/>
                </a:solidFill>
                <a:latin typeface="Cambria"/>
              </a:rPr>
              <a:t> It does process management, memory management, file management.</a:t>
            </a:r>
          </a:p>
          <a:p>
            <a:pPr marR="0" lvl="0" rtl="0"/>
            <a:endParaRPr lang="en-US" b="1" baseline="0" smtClean="0">
              <a:solidFill>
                <a:srgbClr val="4F81BD"/>
              </a:solidFill>
              <a:latin typeface="Calibri"/>
            </a:endParaRPr>
          </a:p>
          <a:p>
            <a:pPr marR="0" lvl="0" rtl="0"/>
            <a:endParaRPr lang="en-US" b="1" baseline="0" smtClean="0">
              <a:solidFill>
                <a:srgbClr val="4F81BD"/>
              </a:solidFill>
              <a:latin typeface="Calibri"/>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dirty="0" smtClean="0">
                <a:solidFill>
                  <a:srgbClr val="365F91"/>
                </a:solidFill>
                <a:latin typeface="Cambria"/>
              </a:rPr>
              <a:t>Objective - 3</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p:txBody>
          <a:bodyPr/>
          <a:lstStyle/>
          <a:p>
            <a:pPr marR="0" lvl="1" rtl="0"/>
            <a:r>
              <a:rPr lang="en-US" b="1" baseline="0" dirty="0" smtClean="0">
                <a:solidFill>
                  <a:srgbClr val="4F81BD"/>
                </a:solidFill>
                <a:latin typeface="Cambria"/>
              </a:rPr>
              <a:t>Understanding Program’s execution</a:t>
            </a:r>
          </a:p>
          <a:p>
            <a:pPr marR="0" lvl="1" rtl="0"/>
            <a:r>
              <a:rPr lang="en-US" b="1" baseline="0" dirty="0" smtClean="0">
                <a:solidFill>
                  <a:srgbClr val="4F81BD"/>
                </a:solidFill>
                <a:latin typeface="Cambria"/>
              </a:rPr>
              <a:t>How to create a software using C language</a:t>
            </a:r>
          </a:p>
          <a:p>
            <a:pPr marR="0" lvl="0" rtl="0"/>
            <a:endParaRPr lang="en-US" b="1" baseline="0" dirty="0" smtClean="0">
              <a:solidFill>
                <a:srgbClr val="4F81BD"/>
              </a:solidFill>
              <a:latin typeface="Calibri"/>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219200"/>
          </a:xfrm>
        </p:spPr>
        <p:txBody>
          <a:bodyPr>
            <a:normAutofit/>
          </a:bodyPr>
          <a:lstStyle/>
          <a:p>
            <a:r>
              <a:rPr lang="en-US" sz="3400" b="1" dirty="0" smtClean="0">
                <a:solidFill>
                  <a:schemeClr val="tx2">
                    <a:lumMod val="60000"/>
                    <a:lumOff val="40000"/>
                  </a:schemeClr>
                </a:solidFill>
              </a:rPr>
              <a:t>Dynamic random-access memory</a:t>
            </a:r>
            <a:r>
              <a:rPr lang="en-US" sz="3400" dirty="0" smtClean="0">
                <a:solidFill>
                  <a:schemeClr val="tx2">
                    <a:lumMod val="60000"/>
                    <a:lumOff val="40000"/>
                  </a:schemeClr>
                </a:solidFill>
              </a:rPr>
              <a:t> (</a:t>
            </a:r>
            <a:r>
              <a:rPr lang="en-US" sz="3400" b="1" dirty="0" smtClean="0">
                <a:solidFill>
                  <a:schemeClr val="tx2">
                    <a:lumMod val="60000"/>
                    <a:lumOff val="40000"/>
                  </a:schemeClr>
                </a:solidFill>
              </a:rPr>
              <a:t>DRAM</a:t>
            </a:r>
            <a:r>
              <a:rPr lang="en-US" sz="3400" dirty="0" smtClean="0">
                <a:solidFill>
                  <a:schemeClr val="tx2">
                    <a:lumMod val="60000"/>
                    <a:lumOff val="40000"/>
                  </a:schemeClr>
                </a:solidFill>
              </a:rPr>
              <a:t>)</a:t>
            </a:r>
            <a:endParaRPr lang="en-US" sz="3400" dirty="0">
              <a:solidFill>
                <a:schemeClr val="tx2">
                  <a:lumMod val="60000"/>
                  <a:lumOff val="40000"/>
                </a:schemeClr>
              </a:solidFill>
            </a:endParaRPr>
          </a:p>
        </p:txBody>
      </p:sp>
      <p:sp>
        <p:nvSpPr>
          <p:cNvPr id="3" name="Text Placeholder 2"/>
          <p:cNvSpPr>
            <a:spLocks noGrp="1"/>
          </p:cNvSpPr>
          <p:nvPr>
            <p:ph type="body" idx="1"/>
          </p:nvPr>
        </p:nvSpPr>
        <p:spPr>
          <a:xfrm>
            <a:off x="457200" y="1905000"/>
            <a:ext cx="8229600" cy="4221163"/>
          </a:xfrm>
        </p:spPr>
        <p:txBody>
          <a:bodyPr>
            <a:normAutofit/>
          </a:bodyPr>
          <a:lstStyle/>
          <a:p>
            <a:pPr algn="just">
              <a:buNone/>
            </a:pPr>
            <a:r>
              <a:rPr lang="en-US" sz="3000" b="1" dirty="0" smtClean="0">
                <a:solidFill>
                  <a:schemeClr val="tx2">
                    <a:lumMod val="60000"/>
                    <a:lumOff val="40000"/>
                  </a:schemeClr>
                </a:solidFill>
              </a:rPr>
              <a:t>	Dynamic random-access memory</a:t>
            </a:r>
            <a:r>
              <a:rPr lang="en-US" sz="3000" dirty="0" smtClean="0">
                <a:solidFill>
                  <a:schemeClr val="tx2">
                    <a:lumMod val="60000"/>
                    <a:lumOff val="40000"/>
                  </a:schemeClr>
                </a:solidFill>
              </a:rPr>
              <a:t> (</a:t>
            </a:r>
            <a:r>
              <a:rPr lang="en-US" sz="3000" b="1" dirty="0" smtClean="0">
                <a:solidFill>
                  <a:schemeClr val="tx2">
                    <a:lumMod val="60000"/>
                    <a:lumOff val="40000"/>
                  </a:schemeClr>
                </a:solidFill>
              </a:rPr>
              <a:t>DRAM</a:t>
            </a:r>
            <a:r>
              <a:rPr lang="en-US" sz="3000" dirty="0" smtClean="0">
                <a:solidFill>
                  <a:schemeClr val="tx2">
                    <a:lumMod val="60000"/>
                    <a:lumOff val="40000"/>
                  </a:schemeClr>
                </a:solidFill>
              </a:rPr>
              <a:t>) is a type of </a:t>
            </a:r>
            <a:r>
              <a:rPr lang="en-US" sz="3000" dirty="0" smtClean="0">
                <a:solidFill>
                  <a:schemeClr val="tx2">
                    <a:lumMod val="60000"/>
                    <a:lumOff val="40000"/>
                  </a:schemeClr>
                </a:solidFill>
                <a:hlinkClick r:id="rId2" tooltip="Random-access memory"/>
              </a:rPr>
              <a:t>random-access memory</a:t>
            </a:r>
            <a:r>
              <a:rPr lang="en-US" sz="3000" dirty="0" smtClean="0">
                <a:solidFill>
                  <a:schemeClr val="tx2">
                    <a:lumMod val="60000"/>
                    <a:lumOff val="40000"/>
                  </a:schemeClr>
                </a:solidFill>
              </a:rPr>
              <a:t> that stores each </a:t>
            </a:r>
            <a:r>
              <a:rPr lang="en-US" sz="3000" dirty="0" smtClean="0">
                <a:solidFill>
                  <a:schemeClr val="tx2">
                    <a:lumMod val="60000"/>
                    <a:lumOff val="40000"/>
                  </a:schemeClr>
                </a:solidFill>
                <a:hlinkClick r:id="rId3" tooltip="Bit"/>
              </a:rPr>
              <a:t>bit</a:t>
            </a:r>
            <a:r>
              <a:rPr lang="en-US" sz="3000" dirty="0" smtClean="0">
                <a:solidFill>
                  <a:schemeClr val="tx2">
                    <a:lumMod val="60000"/>
                    <a:lumOff val="40000"/>
                  </a:schemeClr>
                </a:solidFill>
              </a:rPr>
              <a:t> of data in a separate </a:t>
            </a:r>
            <a:r>
              <a:rPr lang="en-US" sz="3000" dirty="0" smtClean="0">
                <a:solidFill>
                  <a:schemeClr val="tx2">
                    <a:lumMod val="60000"/>
                    <a:lumOff val="40000"/>
                  </a:schemeClr>
                </a:solidFill>
                <a:hlinkClick r:id="rId4" tooltip="Capacitor"/>
              </a:rPr>
              <a:t>capacitor</a:t>
            </a:r>
            <a:r>
              <a:rPr lang="en-US" sz="3000" dirty="0" smtClean="0">
                <a:solidFill>
                  <a:schemeClr val="tx2">
                    <a:lumMod val="60000"/>
                    <a:lumOff val="40000"/>
                  </a:schemeClr>
                </a:solidFill>
              </a:rPr>
              <a:t> within an </a:t>
            </a:r>
            <a:r>
              <a:rPr lang="en-US" sz="3000" dirty="0" smtClean="0">
                <a:solidFill>
                  <a:schemeClr val="tx2">
                    <a:lumMod val="60000"/>
                    <a:lumOff val="40000"/>
                  </a:schemeClr>
                </a:solidFill>
                <a:hlinkClick r:id="rId5" tooltip="Integrated circuit"/>
              </a:rPr>
              <a:t>integrated circuit</a:t>
            </a:r>
            <a:r>
              <a:rPr lang="en-US" sz="3000" dirty="0" smtClean="0">
                <a:solidFill>
                  <a:schemeClr val="tx2">
                    <a:lumMod val="60000"/>
                    <a:lumOff val="40000"/>
                  </a:schemeClr>
                </a:solidFill>
              </a:rPr>
              <a:t>. The capacitor can be either charged or discharged; these two states are taken to represent the two values of a bit, conventionally called 0 and 1.</a:t>
            </a:r>
            <a:endParaRPr lang="en-US" sz="3000" dirty="0">
              <a:solidFill>
                <a:schemeClr val="tx2">
                  <a:lumMod val="60000"/>
                  <a:lumOff val="4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R="0" rtl="0"/>
            <a:r>
              <a:rPr lang="en-US" b="1" baseline="0" dirty="0" smtClean="0">
                <a:solidFill>
                  <a:srgbClr val="365F91"/>
                </a:solidFill>
                <a:latin typeface="Cambria"/>
              </a:rPr>
              <a:t>   </a:t>
            </a:r>
            <a:r>
              <a:rPr lang="en-US" sz="3100" b="1" baseline="0" dirty="0" smtClean="0">
                <a:solidFill>
                  <a:srgbClr val="365F91"/>
                </a:solidFill>
                <a:latin typeface="Cambria"/>
              </a:rPr>
              <a:t>Understanding Program’s execution</a:t>
            </a:r>
          </a:p>
        </p:txBody>
      </p:sp>
      <p:pic>
        <p:nvPicPr>
          <p:cNvPr id="5" name="Picture 4" descr="C:\Users\User\Desktop\Untitled.jpg"/>
          <p:cNvPicPr/>
          <p:nvPr/>
        </p:nvPicPr>
        <p:blipFill>
          <a:blip r:embed="rId2" cstate="print"/>
          <a:srcRect/>
          <a:stretch>
            <a:fillRect/>
          </a:stretch>
        </p:blipFill>
        <p:spPr bwMode="auto">
          <a:xfrm>
            <a:off x="533400" y="1219200"/>
            <a:ext cx="7772400" cy="3124201"/>
          </a:xfrm>
          <a:prstGeom prst="rect">
            <a:avLst/>
          </a:prstGeom>
          <a:noFill/>
          <a:ln w="9525">
            <a:noFill/>
            <a:miter lim="800000"/>
            <a:headEnd/>
            <a:tailEnd/>
          </a:ln>
        </p:spPr>
      </p:pic>
      <p:sp>
        <p:nvSpPr>
          <p:cNvPr id="6" name="Rectangle 5"/>
          <p:cNvSpPr/>
          <p:nvPr/>
        </p:nvSpPr>
        <p:spPr>
          <a:xfrm>
            <a:off x="304800" y="4572000"/>
            <a:ext cx="8610600" cy="1754326"/>
          </a:xfrm>
          <a:prstGeom prst="rect">
            <a:avLst/>
          </a:prstGeom>
        </p:spPr>
        <p:txBody>
          <a:bodyPr wrap="square">
            <a:spAutoFit/>
          </a:bodyPr>
          <a:lstStyle/>
          <a:p>
            <a:pPr lvl="2"/>
            <a:r>
              <a:rPr lang="en-US" b="1" i="1" baseline="0" dirty="0" smtClean="0">
                <a:solidFill>
                  <a:schemeClr val="tx2">
                    <a:lumMod val="60000"/>
                    <a:lumOff val="40000"/>
                  </a:schemeClr>
                </a:solidFill>
                <a:latin typeface="Cambria"/>
              </a:rPr>
              <a:t>MU (MEMORY UNIT) :  SET OF REGISTERS (EX : 16 BITS)</a:t>
            </a:r>
          </a:p>
          <a:p>
            <a:pPr lvl="2"/>
            <a:endParaRPr lang="en-US" b="1" i="1" baseline="0" dirty="0" smtClean="0">
              <a:solidFill>
                <a:schemeClr val="tx2">
                  <a:lumMod val="60000"/>
                  <a:lumOff val="40000"/>
                </a:schemeClr>
              </a:solidFill>
              <a:latin typeface="Cambria"/>
            </a:endParaRPr>
          </a:p>
          <a:p>
            <a:pPr lvl="2"/>
            <a:r>
              <a:rPr lang="en-US" b="1" i="1" baseline="0" dirty="0" smtClean="0">
                <a:solidFill>
                  <a:schemeClr val="tx2">
                    <a:lumMod val="60000"/>
                    <a:lumOff val="40000"/>
                  </a:schemeClr>
                </a:solidFill>
                <a:latin typeface="Cambria"/>
              </a:rPr>
              <a:t>CU (CONTROL UNIT) : CIRCUIT THAT READS INSTRUCTION AND DECODE IT</a:t>
            </a:r>
          </a:p>
          <a:p>
            <a:pPr lvl="2"/>
            <a:endParaRPr lang="en-US" b="1" i="1" baseline="0" dirty="0" smtClean="0">
              <a:solidFill>
                <a:schemeClr val="tx2">
                  <a:lumMod val="60000"/>
                  <a:lumOff val="40000"/>
                </a:schemeClr>
              </a:solidFill>
              <a:latin typeface="Cambria"/>
            </a:endParaRPr>
          </a:p>
          <a:p>
            <a:pPr lvl="2"/>
            <a:r>
              <a:rPr lang="en-US" b="1" i="1" baseline="0" dirty="0" smtClean="0">
                <a:solidFill>
                  <a:schemeClr val="tx2">
                    <a:lumMod val="60000"/>
                    <a:lumOff val="40000"/>
                  </a:schemeClr>
                </a:solidFill>
                <a:latin typeface="Cambria"/>
              </a:rPr>
              <a:t>ALU (ARITHMETIC LOGICAL UNIT) : RESPONSIBLE FOR ALL ARITHMETIC AND LOGICAL CALCULATION</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R="0" rtl="0"/>
            <a:r>
              <a:rPr lang="en-US" b="1" baseline="0" smtClean="0">
                <a:solidFill>
                  <a:srgbClr val="365F91"/>
                </a:solidFill>
                <a:latin typeface="Cambria"/>
              </a:rPr>
              <a:t>SOFTWARE DEVELOPMENT  IN C</a:t>
            </a:r>
            <a:endParaRPr lang="en-US" b="1" baseline="0" smtClean="0">
              <a:solidFill>
                <a:srgbClr val="365F91"/>
              </a:solidFill>
              <a:latin typeface="Times New Roman"/>
            </a:endParaRPr>
          </a:p>
        </p:txBody>
      </p:sp>
      <p:sp>
        <p:nvSpPr>
          <p:cNvPr id="3" name="Text Placeholder 2"/>
          <p:cNvSpPr>
            <a:spLocks noGrp="1"/>
          </p:cNvSpPr>
          <p:nvPr>
            <p:ph type="body" idx="1"/>
          </p:nvPr>
        </p:nvSpPr>
        <p:spPr>
          <a:xfrm>
            <a:off x="457200" y="6172200"/>
            <a:ext cx="8229600" cy="381000"/>
          </a:xfrm>
        </p:spPr>
        <p:txBody>
          <a:bodyPr>
            <a:normAutofit fontScale="92500" lnSpcReduction="20000"/>
          </a:bodyPr>
          <a:lstStyle/>
          <a:p>
            <a:pPr marR="0" lvl="2" rtl="0"/>
            <a:r>
              <a:rPr lang="en-US" b="1" i="1" baseline="0" dirty="0" smtClean="0">
                <a:solidFill>
                  <a:srgbClr val="4F81BD"/>
                </a:solidFill>
                <a:latin typeface="Cambria"/>
              </a:rPr>
              <a:t>Developer DELIVER ONLY  a SUM.EXE Files</a:t>
            </a:r>
          </a:p>
          <a:p>
            <a:pPr marR="0" lvl="0" rtl="0"/>
            <a:endParaRPr lang="en-US" b="1" baseline="0" dirty="0" smtClean="0">
              <a:solidFill>
                <a:srgbClr val="4F81BD"/>
              </a:solidFill>
              <a:latin typeface="Times New Roman"/>
            </a:endParaRPr>
          </a:p>
        </p:txBody>
      </p:sp>
      <p:pic>
        <p:nvPicPr>
          <p:cNvPr id="4" name="Picture 3" descr="C:\Users\User\Desktop\Untitled.jpg"/>
          <p:cNvPicPr/>
          <p:nvPr/>
        </p:nvPicPr>
        <p:blipFill>
          <a:blip r:embed="rId2" cstate="print"/>
          <a:srcRect/>
          <a:stretch>
            <a:fillRect/>
          </a:stretch>
        </p:blipFill>
        <p:spPr bwMode="auto">
          <a:xfrm>
            <a:off x="457200" y="1371600"/>
            <a:ext cx="8153400"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4830762"/>
          </a:xfrm>
        </p:spPr>
        <p:txBody>
          <a:bodyPr>
            <a:normAutofit/>
          </a:bodyPr>
          <a:lstStyle/>
          <a:p>
            <a:pPr marR="0" rtl="0"/>
            <a:r>
              <a:rPr lang="en-AU" b="1" baseline="0" dirty="0" smtClean="0">
                <a:solidFill>
                  <a:srgbClr val="365F91"/>
                </a:solidFill>
                <a:latin typeface="Cambria"/>
              </a:rPr>
              <a:t>WHAT IS PREPROCESSOR, COMPILER, ASSEMBLER, LINK EDITOR</a:t>
            </a:r>
            <a:endParaRPr lang="en-US" b="1" baseline="0" dirty="0" smtClean="0">
              <a:solidFill>
                <a:srgbClr val="365F91"/>
              </a:solidFill>
              <a:latin typeface="Calibri"/>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hlinkClick r:id="rId2"/>
              </a:rPr>
              <a:t>The Preprocessor</a:t>
            </a:r>
            <a:endParaRPr lang="en-US" b="1" baseline="0" smtClean="0">
              <a:solidFill>
                <a:srgbClr val="365F91"/>
              </a:solidFill>
              <a:latin typeface="Times New Roman"/>
              <a:hlinkClick r:id="rId2"/>
            </a:endParaRPr>
          </a:p>
        </p:txBody>
      </p:sp>
      <p:sp>
        <p:nvSpPr>
          <p:cNvPr id="3" name="Text Placeholder 2"/>
          <p:cNvSpPr>
            <a:spLocks noGrp="1"/>
          </p:cNvSpPr>
          <p:nvPr>
            <p:ph type="body" idx="1"/>
          </p:nvPr>
        </p:nvSpPr>
        <p:spPr/>
        <p:txBody>
          <a:bodyPr/>
          <a:lstStyle/>
          <a:p>
            <a:pPr marR="0" lvl="0" rtl="0">
              <a:buNone/>
            </a:pPr>
            <a:r>
              <a:rPr lang="en-US" b="1" baseline="0" dirty="0" smtClean="0">
                <a:solidFill>
                  <a:srgbClr val="4F81BD"/>
                </a:solidFill>
                <a:latin typeface="Cambria"/>
              </a:rPr>
              <a:t>	The Preprocessor accepts source code as input and is responsible for</a:t>
            </a:r>
            <a:r>
              <a:rPr lang="en-US" b="1" baseline="0" dirty="0" smtClean="0">
                <a:solidFill>
                  <a:srgbClr val="777777"/>
                </a:solidFill>
                <a:latin typeface="Arial"/>
              </a:rPr>
              <a:t> </a:t>
            </a:r>
          </a:p>
          <a:p>
            <a:pPr marR="0" lvl="0" rtl="0">
              <a:buNone/>
            </a:pPr>
            <a:endParaRPr lang="en-US" b="1" baseline="0" dirty="0" smtClean="0">
              <a:solidFill>
                <a:srgbClr val="777777"/>
              </a:solidFill>
              <a:latin typeface="Arial"/>
            </a:endParaRPr>
          </a:p>
          <a:p>
            <a:pPr lvl="1">
              <a:buFont typeface="Wingdings" pitchFamily="2" charset="2"/>
              <a:buChar char="Ø"/>
            </a:pPr>
            <a:r>
              <a:rPr lang="en-US" b="1" baseline="0" dirty="0" smtClean="0">
                <a:solidFill>
                  <a:srgbClr val="4F81BD"/>
                </a:solidFill>
                <a:latin typeface="Cambria"/>
              </a:rPr>
              <a:t>removing comments</a:t>
            </a:r>
          </a:p>
          <a:p>
            <a:pPr lvl="1">
              <a:buFont typeface="Wingdings" pitchFamily="2" charset="2"/>
              <a:buChar char="Ø"/>
            </a:pPr>
            <a:r>
              <a:rPr lang="en-US" b="1" baseline="0" dirty="0" smtClean="0">
                <a:solidFill>
                  <a:srgbClr val="4F81BD"/>
                </a:solidFill>
                <a:latin typeface="Cambria"/>
              </a:rPr>
              <a:t>interpreting special</a:t>
            </a:r>
            <a:r>
              <a:rPr lang="en-US" b="1" baseline="0" dirty="0" smtClean="0">
                <a:solidFill>
                  <a:srgbClr val="4F81BD"/>
                </a:solidFill>
                <a:latin typeface="Times New Roman"/>
              </a:rPr>
              <a:t> </a:t>
            </a:r>
            <a:r>
              <a:rPr lang="en-US" b="1" baseline="0" dirty="0" smtClean="0">
                <a:solidFill>
                  <a:srgbClr val="4F81BD"/>
                </a:solidFill>
                <a:latin typeface="Cambria"/>
              </a:rPr>
              <a:t>preprocessor directives</a:t>
            </a:r>
            <a:r>
              <a:rPr lang="en-US" b="1" baseline="0" dirty="0" smtClean="0">
                <a:solidFill>
                  <a:srgbClr val="4F81BD"/>
                </a:solidFill>
                <a:latin typeface="Times New Roman"/>
              </a:rPr>
              <a:t> </a:t>
            </a:r>
            <a:r>
              <a:rPr lang="en-US" b="1" baseline="0" dirty="0" smtClean="0">
                <a:solidFill>
                  <a:srgbClr val="4F81BD"/>
                </a:solidFill>
                <a:latin typeface="Cambria"/>
              </a:rPr>
              <a:t>denoted by</a:t>
            </a:r>
            <a:r>
              <a:rPr lang="en-US" b="1" baseline="0" dirty="0" smtClean="0">
                <a:solidFill>
                  <a:srgbClr val="4F81BD"/>
                </a:solidFill>
                <a:latin typeface="Times New Roman"/>
              </a:rPr>
              <a:t> </a:t>
            </a:r>
            <a:r>
              <a:rPr lang="en-US" b="1" baseline="0" dirty="0" smtClean="0">
                <a:solidFill>
                  <a:srgbClr val="4F81BD"/>
                </a:solidFill>
                <a:latin typeface="Cambria"/>
              </a:rPr>
              <a:t>#</a:t>
            </a:r>
            <a:r>
              <a:rPr lang="en-US" b="1" baseline="0" dirty="0" smtClean="0">
                <a:solidFill>
                  <a:srgbClr val="4F81BD"/>
                </a:solidFill>
                <a:latin typeface="Times New Roman"/>
              </a:rPr>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marR="0" rtl="0"/>
            <a:r>
              <a:rPr lang="en-AU" b="1" baseline="0" dirty="0" smtClean="0">
                <a:solidFill>
                  <a:srgbClr val="365F91"/>
                </a:solidFill>
                <a:latin typeface="Cambria"/>
              </a:rPr>
              <a:t>For example</a:t>
            </a:r>
            <a:r>
              <a:rPr lang="en-AU" b="1" baseline="0" dirty="0" smtClean="0">
                <a:solidFill>
                  <a:srgbClr val="777777"/>
                </a:solidFill>
                <a:latin typeface="Arial"/>
              </a:rPr>
              <a:t> </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457200" y="1066800"/>
            <a:ext cx="8229600" cy="5334000"/>
          </a:xfrm>
        </p:spPr>
        <p:txBody>
          <a:bodyPr>
            <a:normAutofit/>
          </a:bodyPr>
          <a:lstStyle/>
          <a:p>
            <a:pPr>
              <a:buFont typeface="Wingdings" pitchFamily="2" charset="2"/>
              <a:buChar char="Ø"/>
            </a:pPr>
            <a:r>
              <a:rPr lang="en-US" b="1" baseline="0" dirty="0" smtClean="0">
                <a:solidFill>
                  <a:srgbClr val="4F81BD"/>
                </a:solidFill>
                <a:latin typeface="Cambria"/>
              </a:rPr>
              <a:t>#include</a:t>
            </a:r>
            <a:r>
              <a:rPr lang="en-US" b="1" baseline="0" dirty="0" smtClean="0">
                <a:solidFill>
                  <a:srgbClr val="4F81BD"/>
                </a:solidFill>
                <a:latin typeface="Times New Roman"/>
              </a:rPr>
              <a:t> </a:t>
            </a:r>
            <a:r>
              <a:rPr lang="en-US" b="1" baseline="0" dirty="0" smtClean="0">
                <a:solidFill>
                  <a:srgbClr val="4F81BD"/>
                </a:solidFill>
                <a:latin typeface="Cambria"/>
              </a:rPr>
              <a:t>— includes contents of a named file. Files usually called</a:t>
            </a:r>
            <a:r>
              <a:rPr lang="en-US" b="1" baseline="0" dirty="0" smtClean="0">
                <a:solidFill>
                  <a:srgbClr val="4F81BD"/>
                </a:solidFill>
                <a:latin typeface="Times New Roman"/>
              </a:rPr>
              <a:t> </a:t>
            </a:r>
            <a:r>
              <a:rPr lang="en-US" b="1" baseline="0" dirty="0" err="1" smtClean="0">
                <a:solidFill>
                  <a:srgbClr val="4F81BD"/>
                </a:solidFill>
                <a:latin typeface="Cambria"/>
              </a:rPr>
              <a:t>headerfiles</a:t>
            </a:r>
            <a:r>
              <a:rPr lang="en-US" b="1" baseline="0" dirty="0" smtClean="0">
                <a:solidFill>
                  <a:srgbClr val="4F81BD"/>
                </a:solidFill>
                <a:latin typeface="Cambria"/>
              </a:rPr>
              <a:t>.</a:t>
            </a:r>
            <a:r>
              <a:rPr lang="en-US" b="1" baseline="0" dirty="0" smtClean="0">
                <a:solidFill>
                  <a:srgbClr val="4F81BD"/>
                </a:solidFill>
                <a:latin typeface="Times New Roman"/>
              </a:rPr>
              <a:t> </a:t>
            </a:r>
            <a:r>
              <a:rPr lang="en-US" b="1" baseline="0" dirty="0" err="1" smtClean="0">
                <a:solidFill>
                  <a:srgbClr val="4F81BD"/>
                </a:solidFill>
                <a:latin typeface="Cambria"/>
              </a:rPr>
              <a:t>e.g</a:t>
            </a:r>
            <a:endParaRPr lang="en-US" b="1" baseline="0" dirty="0" smtClean="0">
              <a:solidFill>
                <a:srgbClr val="4F81BD"/>
              </a:solidFill>
              <a:latin typeface="Cambria"/>
            </a:endParaRPr>
          </a:p>
          <a:p>
            <a:pPr>
              <a:buNone/>
            </a:pPr>
            <a:endParaRPr lang="en-US" b="1" baseline="0" dirty="0" smtClean="0">
              <a:solidFill>
                <a:srgbClr val="4F81BD"/>
              </a:solidFill>
              <a:latin typeface="Cambria"/>
            </a:endParaRPr>
          </a:p>
          <a:p>
            <a:pPr marR="0" lvl="1" rtl="0">
              <a:buFont typeface="Wingdings" pitchFamily="2" charset="2"/>
              <a:buChar char="ü"/>
            </a:pPr>
            <a:r>
              <a:rPr lang="en-US" sz="2400" b="1" baseline="0" dirty="0" smtClean="0">
                <a:solidFill>
                  <a:srgbClr val="4F81BD"/>
                </a:solidFill>
                <a:latin typeface="Cambria"/>
              </a:rPr>
              <a:t>#include &lt;</a:t>
            </a:r>
            <a:r>
              <a:rPr lang="en-US" sz="2400" b="1" baseline="0" dirty="0" err="1" smtClean="0">
                <a:solidFill>
                  <a:srgbClr val="4F81BD"/>
                </a:solidFill>
                <a:latin typeface="Cambria"/>
              </a:rPr>
              <a:t>math.h</a:t>
            </a:r>
            <a:r>
              <a:rPr lang="en-US" sz="2400" b="1" baseline="0" dirty="0" smtClean="0">
                <a:solidFill>
                  <a:srgbClr val="4F81BD"/>
                </a:solidFill>
                <a:latin typeface="Cambria"/>
              </a:rPr>
              <a:t>&gt;</a:t>
            </a:r>
            <a:r>
              <a:rPr lang="en-US" sz="2400" b="1" baseline="0" dirty="0" smtClean="0">
                <a:solidFill>
                  <a:srgbClr val="4F81BD"/>
                </a:solidFill>
                <a:latin typeface="Times New Roman"/>
              </a:rPr>
              <a:t> </a:t>
            </a:r>
            <a:r>
              <a:rPr lang="en-US" sz="2400" b="1" baseline="0" dirty="0" smtClean="0">
                <a:solidFill>
                  <a:srgbClr val="4F81BD"/>
                </a:solidFill>
                <a:latin typeface="Cambria"/>
              </a:rPr>
              <a:t>— standard library </a:t>
            </a:r>
            <a:r>
              <a:rPr lang="en-US" sz="2400" b="1" baseline="0" dirty="0" err="1" smtClean="0">
                <a:solidFill>
                  <a:srgbClr val="4F81BD"/>
                </a:solidFill>
                <a:latin typeface="Cambria"/>
              </a:rPr>
              <a:t>maths</a:t>
            </a:r>
            <a:r>
              <a:rPr lang="en-US" sz="2400" b="1" baseline="0" dirty="0" smtClean="0">
                <a:solidFill>
                  <a:srgbClr val="4F81BD"/>
                </a:solidFill>
                <a:latin typeface="Cambria"/>
              </a:rPr>
              <a:t> file.</a:t>
            </a:r>
          </a:p>
          <a:p>
            <a:pPr marR="0" lvl="1" rtl="0">
              <a:buFont typeface="Wingdings" pitchFamily="2" charset="2"/>
              <a:buChar char="ü"/>
            </a:pPr>
            <a:r>
              <a:rPr lang="en-US" sz="2400" b="1" baseline="0" dirty="0" smtClean="0">
                <a:solidFill>
                  <a:srgbClr val="4F81BD"/>
                </a:solidFill>
                <a:latin typeface="Cambria"/>
              </a:rPr>
              <a:t>#include &lt;</a:t>
            </a:r>
            <a:r>
              <a:rPr lang="en-US" sz="2400" b="1" baseline="0" dirty="0" err="1" smtClean="0">
                <a:solidFill>
                  <a:srgbClr val="4F81BD"/>
                </a:solidFill>
                <a:latin typeface="Cambria"/>
              </a:rPr>
              <a:t>stdio.h</a:t>
            </a:r>
            <a:r>
              <a:rPr lang="en-US" sz="2400" b="1" baseline="0" dirty="0" smtClean="0">
                <a:solidFill>
                  <a:srgbClr val="4F81BD"/>
                </a:solidFill>
                <a:latin typeface="Cambria"/>
              </a:rPr>
              <a:t>&gt;</a:t>
            </a:r>
            <a:r>
              <a:rPr lang="en-US" sz="2400" b="1" baseline="0" dirty="0" smtClean="0">
                <a:solidFill>
                  <a:srgbClr val="4F81BD"/>
                </a:solidFill>
                <a:latin typeface="Times New Roman"/>
              </a:rPr>
              <a:t> </a:t>
            </a:r>
            <a:r>
              <a:rPr lang="en-US" sz="2400" b="1" baseline="0" dirty="0" smtClean="0">
                <a:solidFill>
                  <a:srgbClr val="4F81BD"/>
                </a:solidFill>
                <a:latin typeface="Cambria"/>
              </a:rPr>
              <a:t>— standard library I/O file</a:t>
            </a:r>
          </a:p>
          <a:p>
            <a:pPr marR="0" lvl="1" rtl="0">
              <a:buNone/>
            </a:pPr>
            <a:endParaRPr lang="en-US" b="1" baseline="0" dirty="0" smtClean="0">
              <a:solidFill>
                <a:srgbClr val="4F81BD"/>
              </a:solidFill>
              <a:latin typeface="Cambria"/>
            </a:endParaRPr>
          </a:p>
          <a:p>
            <a:pPr marR="0" lvl="0" rtl="0">
              <a:buFont typeface="Wingdings" pitchFamily="2" charset="2"/>
              <a:buChar char="Ø"/>
            </a:pPr>
            <a:r>
              <a:rPr lang="en-US" b="1" baseline="0" dirty="0" smtClean="0">
                <a:solidFill>
                  <a:srgbClr val="4F81BD"/>
                </a:solidFill>
                <a:latin typeface="Cambria"/>
              </a:rPr>
              <a:t>#define</a:t>
            </a:r>
            <a:r>
              <a:rPr lang="en-US" b="1" baseline="0" dirty="0" smtClean="0">
                <a:solidFill>
                  <a:srgbClr val="4F81BD"/>
                </a:solidFill>
                <a:latin typeface="Times New Roman"/>
              </a:rPr>
              <a:t> </a:t>
            </a:r>
            <a:r>
              <a:rPr lang="en-US" b="1" baseline="0" dirty="0" smtClean="0">
                <a:solidFill>
                  <a:srgbClr val="4F81BD"/>
                </a:solidFill>
                <a:latin typeface="Cambria"/>
              </a:rPr>
              <a:t>— defines a symbolic name or constant. Macro substitution.</a:t>
            </a:r>
          </a:p>
          <a:p>
            <a:pPr marR="0" lvl="0" rtl="0">
              <a:buFont typeface="Wingdings" pitchFamily="2" charset="2"/>
              <a:buChar char="Ø"/>
            </a:pPr>
            <a:endParaRPr lang="en-US" b="1" baseline="0" dirty="0" smtClean="0">
              <a:solidFill>
                <a:srgbClr val="4F81BD"/>
              </a:solidFill>
              <a:latin typeface="Cambria"/>
            </a:endParaRPr>
          </a:p>
          <a:p>
            <a:pPr marR="0" lvl="1" rtl="0">
              <a:buFont typeface="Wingdings" pitchFamily="2" charset="2"/>
              <a:buChar char="ü"/>
            </a:pPr>
            <a:r>
              <a:rPr lang="en-US" sz="2400" b="1" baseline="0" dirty="0" smtClean="0">
                <a:solidFill>
                  <a:srgbClr val="4F81BD"/>
                </a:solidFill>
                <a:latin typeface="Cambria"/>
              </a:rPr>
              <a:t>#define MAX_ARRAY_SIZE 100</a:t>
            </a:r>
            <a:endParaRPr lang="en-US" sz="2400"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hlinkClick r:id="rId2"/>
              </a:rPr>
              <a:t>C Compiler</a:t>
            </a:r>
            <a:endParaRPr lang="en-US" b="1" baseline="0" smtClean="0">
              <a:solidFill>
                <a:srgbClr val="365F91"/>
              </a:solidFill>
              <a:latin typeface="Times New Roman"/>
              <a:hlinkClick r:id="rId2"/>
            </a:endParaRPr>
          </a:p>
        </p:txBody>
      </p:sp>
      <p:sp>
        <p:nvSpPr>
          <p:cNvPr id="3" name="Text Placeholder 2"/>
          <p:cNvSpPr>
            <a:spLocks noGrp="1"/>
          </p:cNvSpPr>
          <p:nvPr>
            <p:ph type="body" idx="1"/>
          </p:nvPr>
        </p:nvSpPr>
        <p:spPr/>
        <p:txBody>
          <a:bodyPr/>
          <a:lstStyle/>
          <a:p>
            <a:pPr marR="0" lvl="0" algn="just" rtl="0">
              <a:buNone/>
            </a:pPr>
            <a:r>
              <a:rPr lang="en-US" b="1" baseline="0" dirty="0" smtClean="0">
                <a:solidFill>
                  <a:srgbClr val="4F81BD"/>
                </a:solidFill>
                <a:latin typeface="Cambria"/>
              </a:rPr>
              <a:t>	The C compiler translates source to assembly code. The source code is received from the </a:t>
            </a:r>
            <a:r>
              <a:rPr lang="en-US" b="1" baseline="0" dirty="0" smtClean="0">
                <a:solidFill>
                  <a:srgbClr val="002060"/>
                </a:solidFill>
                <a:latin typeface="Cambria"/>
              </a:rPr>
              <a:t>preprocessor.</a:t>
            </a:r>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hlinkClick r:id="rId2"/>
              </a:rPr>
              <a:t>Assembler</a:t>
            </a:r>
            <a:endParaRPr lang="en-US" b="1" baseline="0" smtClean="0">
              <a:solidFill>
                <a:srgbClr val="365F91"/>
              </a:solidFill>
              <a:latin typeface="Times New Roman"/>
              <a:hlinkClick r:id="rId2"/>
            </a:endParaRPr>
          </a:p>
        </p:txBody>
      </p:sp>
      <p:sp>
        <p:nvSpPr>
          <p:cNvPr id="3" name="Text Placeholder 2"/>
          <p:cNvSpPr>
            <a:spLocks noGrp="1"/>
          </p:cNvSpPr>
          <p:nvPr>
            <p:ph type="body" idx="1"/>
          </p:nvPr>
        </p:nvSpPr>
        <p:spPr/>
        <p:txBody>
          <a:bodyPr/>
          <a:lstStyle/>
          <a:p>
            <a:pPr marR="0" lvl="0" algn="just" rtl="0">
              <a:buNone/>
            </a:pPr>
            <a:r>
              <a:rPr lang="en-AU" b="1" baseline="0" dirty="0" smtClean="0">
                <a:solidFill>
                  <a:srgbClr val="4F81BD"/>
                </a:solidFill>
                <a:latin typeface="Cambria"/>
              </a:rPr>
              <a:t>	The </a:t>
            </a:r>
            <a:r>
              <a:rPr lang="en-US" b="1" baseline="0" dirty="0" smtClean="0">
                <a:solidFill>
                  <a:srgbClr val="4F81BD"/>
                </a:solidFill>
                <a:latin typeface="Cambria"/>
              </a:rPr>
              <a:t>assembler creates object code. In MSDOS these are object code files(.</a:t>
            </a:r>
            <a:r>
              <a:rPr lang="en-US" b="1" baseline="0" dirty="0" err="1" smtClean="0">
                <a:solidFill>
                  <a:srgbClr val="4F81BD"/>
                </a:solidFill>
                <a:latin typeface="Cambria"/>
              </a:rPr>
              <a:t>obj</a:t>
            </a:r>
            <a:r>
              <a:rPr lang="en-US" b="1" baseline="0" dirty="0" smtClean="0">
                <a:solidFill>
                  <a:srgbClr val="4F81BD"/>
                </a:solidFill>
                <a:latin typeface="Cambria"/>
              </a:rPr>
              <a:t>).</a:t>
            </a:r>
            <a:r>
              <a:rPr lang="en-US" b="1" baseline="0" dirty="0" smtClean="0">
                <a:solidFill>
                  <a:srgbClr val="4F81BD"/>
                </a:solidFill>
                <a:latin typeface="Times New Roman"/>
              </a:rPr>
              <a:t> </a:t>
            </a:r>
            <a:br>
              <a:rPr lang="en-US" b="1" baseline="0" dirty="0" smtClean="0">
                <a:solidFill>
                  <a:srgbClr val="4F81BD"/>
                </a:solidFill>
                <a:latin typeface="Times New Roman"/>
              </a:rPr>
            </a:br>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hlinkClick r:id="rId2"/>
              </a:rPr>
              <a:t>Link Editor</a:t>
            </a:r>
            <a:endParaRPr lang="en-US" b="1" baseline="0" smtClean="0">
              <a:solidFill>
                <a:srgbClr val="365F91"/>
              </a:solidFill>
              <a:latin typeface="Times New Roman"/>
              <a:hlinkClick r:id="rId2"/>
            </a:endParaRPr>
          </a:p>
        </p:txBody>
      </p:sp>
      <p:sp>
        <p:nvSpPr>
          <p:cNvPr id="3" name="Text Placeholder 2"/>
          <p:cNvSpPr>
            <a:spLocks noGrp="1"/>
          </p:cNvSpPr>
          <p:nvPr>
            <p:ph type="body" idx="1"/>
          </p:nvPr>
        </p:nvSpPr>
        <p:spPr/>
        <p:txBody>
          <a:bodyPr/>
          <a:lstStyle/>
          <a:p>
            <a:pPr marR="0" lvl="0" algn="just" rtl="0">
              <a:buNone/>
            </a:pPr>
            <a:r>
              <a:rPr lang="en-US" b="1" baseline="0" dirty="0" smtClean="0">
                <a:solidFill>
                  <a:srgbClr val="4F81BD"/>
                </a:solidFill>
                <a:latin typeface="Cambria"/>
              </a:rPr>
              <a:t>	If a source file references library functions or functions defined in other source files the</a:t>
            </a:r>
            <a:r>
              <a:rPr lang="en-US" b="1" baseline="0" dirty="0" smtClean="0">
                <a:solidFill>
                  <a:srgbClr val="4F81BD"/>
                </a:solidFill>
                <a:latin typeface="Times New Roman"/>
              </a:rPr>
              <a:t> </a:t>
            </a:r>
            <a:r>
              <a:rPr lang="en-US" b="1" baseline="0" dirty="0" smtClean="0">
                <a:solidFill>
                  <a:srgbClr val="4F81BD"/>
                </a:solidFill>
                <a:latin typeface="Cambria"/>
              </a:rPr>
              <a:t>link editor</a:t>
            </a:r>
            <a:r>
              <a:rPr lang="en-US" b="1" baseline="0" dirty="0" smtClean="0">
                <a:solidFill>
                  <a:srgbClr val="4F81BD"/>
                </a:solidFill>
                <a:latin typeface="Times New Roman"/>
              </a:rPr>
              <a:t> </a:t>
            </a:r>
            <a:r>
              <a:rPr lang="en-US" b="1" baseline="0" dirty="0" smtClean="0">
                <a:solidFill>
                  <a:srgbClr val="4F81BD"/>
                </a:solidFill>
                <a:latin typeface="Cambria"/>
              </a:rPr>
              <a:t>combines these functions (with</a:t>
            </a:r>
            <a:r>
              <a:rPr lang="en-US" b="1" baseline="0" dirty="0" smtClean="0">
                <a:solidFill>
                  <a:srgbClr val="4F81BD"/>
                </a:solidFill>
                <a:latin typeface="Times New Roman"/>
              </a:rPr>
              <a:t> </a:t>
            </a:r>
            <a:r>
              <a:rPr lang="en-US" b="1" baseline="0" dirty="0" smtClean="0">
                <a:solidFill>
                  <a:srgbClr val="4F81BD"/>
                </a:solidFill>
                <a:latin typeface="Cambria"/>
              </a:rPr>
              <a:t>main()) to create an executable file. External Variable references resolved here also.</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marR="0" rtl="0"/>
            <a:r>
              <a:rPr lang="en-US" b="1" baseline="0" dirty="0" smtClean="0">
                <a:solidFill>
                  <a:srgbClr val="365F91"/>
                </a:solidFill>
                <a:latin typeface="Cambria"/>
              </a:rPr>
              <a:t>Objective : 4</a:t>
            </a:r>
          </a:p>
        </p:txBody>
      </p:sp>
      <p:sp>
        <p:nvSpPr>
          <p:cNvPr id="3" name="Text Placeholder 2"/>
          <p:cNvSpPr>
            <a:spLocks noGrp="1"/>
          </p:cNvSpPr>
          <p:nvPr>
            <p:ph type="body" idx="1"/>
          </p:nvPr>
        </p:nvSpPr>
        <p:spPr/>
        <p:txBody>
          <a:bodyPr>
            <a:normAutofit/>
          </a:bodyPr>
          <a:lstStyle/>
          <a:p>
            <a:pPr marR="0" lvl="1" rtl="0"/>
            <a:r>
              <a:rPr lang="en-US" b="1" baseline="0" dirty="0" smtClean="0">
                <a:solidFill>
                  <a:srgbClr val="4F81BD"/>
                </a:solidFill>
                <a:latin typeface="Cambria"/>
              </a:rPr>
              <a:t>The C Character Set</a:t>
            </a:r>
          </a:p>
          <a:p>
            <a:pPr lvl="1"/>
            <a:r>
              <a:rPr lang="en-US" b="1" dirty="0" smtClean="0">
                <a:solidFill>
                  <a:srgbClr val="4F81BD"/>
                </a:solidFill>
                <a:latin typeface="Cambria"/>
              </a:rPr>
              <a:t>Escape Sequences</a:t>
            </a:r>
            <a:endParaRPr lang="en-US" b="1" baseline="0" dirty="0" smtClean="0">
              <a:solidFill>
                <a:srgbClr val="4F81BD"/>
              </a:solidFill>
              <a:latin typeface="Cambria"/>
            </a:endParaRPr>
          </a:p>
          <a:p>
            <a:pPr marR="0" lvl="1" rtl="0"/>
            <a:r>
              <a:rPr lang="en-US" b="1" baseline="0" dirty="0" err="1" smtClean="0">
                <a:solidFill>
                  <a:srgbClr val="4F81BD"/>
                </a:solidFill>
                <a:latin typeface="Cambria"/>
              </a:rPr>
              <a:t>Delimeters</a:t>
            </a:r>
            <a:endParaRPr lang="en-US" b="1" baseline="0" dirty="0" smtClean="0">
              <a:solidFill>
                <a:srgbClr val="4F81BD"/>
              </a:solidFill>
              <a:latin typeface="Cambria"/>
            </a:endParaRPr>
          </a:p>
          <a:p>
            <a:pPr lvl="1"/>
            <a:r>
              <a:rPr lang="en-US" b="1" dirty="0" smtClean="0">
                <a:solidFill>
                  <a:srgbClr val="4F81BD"/>
                </a:solidFill>
                <a:latin typeface="Cambria"/>
              </a:rPr>
              <a:t>The C Keywords</a:t>
            </a:r>
          </a:p>
          <a:p>
            <a:pPr lvl="1"/>
            <a:r>
              <a:rPr lang="en-US" b="1" dirty="0" smtClean="0">
                <a:solidFill>
                  <a:srgbClr val="4F81BD"/>
                </a:solidFill>
                <a:latin typeface="Cambria"/>
              </a:rPr>
              <a:t>Identifier</a:t>
            </a:r>
          </a:p>
          <a:p>
            <a:pPr lvl="1"/>
            <a:r>
              <a:rPr lang="en-US" b="1" dirty="0" smtClean="0">
                <a:solidFill>
                  <a:srgbClr val="4F81BD"/>
                </a:solidFill>
                <a:latin typeface="Cambria"/>
              </a:rPr>
              <a:t>Constant</a:t>
            </a:r>
          </a:p>
          <a:p>
            <a:pPr marR="0" lvl="1" rtl="0">
              <a:buNone/>
            </a:pPr>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The C Character Set</a:t>
            </a:r>
          </a:p>
        </p:txBody>
      </p:sp>
      <p:sp>
        <p:nvSpPr>
          <p:cNvPr id="3" name="Text Placeholder 2"/>
          <p:cNvSpPr>
            <a:spLocks noGrp="1"/>
          </p:cNvSpPr>
          <p:nvPr>
            <p:ph type="body" idx="1"/>
          </p:nvPr>
        </p:nvSpPr>
        <p:spPr/>
        <p:txBody>
          <a:bodyPr/>
          <a:lstStyle/>
          <a:p>
            <a:pPr marR="0" lvl="0" rtl="0">
              <a:buNone/>
            </a:pPr>
            <a:r>
              <a:rPr lang="en-US" b="1" dirty="0" smtClean="0">
                <a:solidFill>
                  <a:srgbClr val="4F81BD"/>
                </a:solidFill>
                <a:latin typeface="Times New Roman" pitchFamily="18" charset="0"/>
                <a:cs typeface="Times New Roman" pitchFamily="18" charset="0"/>
              </a:rPr>
              <a:t>1) </a:t>
            </a:r>
            <a:r>
              <a:rPr lang="en-US" b="1" baseline="0" dirty="0" smtClean="0">
                <a:solidFill>
                  <a:srgbClr val="4F81BD"/>
                </a:solidFill>
                <a:latin typeface="Times New Roman" pitchFamily="18" charset="0"/>
                <a:cs typeface="Times New Roman" pitchFamily="18" charset="0"/>
              </a:rPr>
              <a:t>Letters</a:t>
            </a:r>
          </a:p>
          <a:p>
            <a:pPr marR="0" lvl="2" rtl="0"/>
            <a:r>
              <a:rPr lang="en-US" b="1" i="1" baseline="0" dirty="0" smtClean="0">
                <a:solidFill>
                  <a:srgbClr val="4F81BD"/>
                </a:solidFill>
                <a:latin typeface="Times New Roman"/>
              </a:rPr>
              <a:t>A to Z in Capital letters.</a:t>
            </a:r>
          </a:p>
          <a:p>
            <a:pPr marR="0" lvl="2" rtl="0"/>
            <a:r>
              <a:rPr lang="en-US" b="1" i="1" baseline="0" dirty="0" smtClean="0">
                <a:solidFill>
                  <a:srgbClr val="4F81BD"/>
                </a:solidFill>
                <a:latin typeface="Times New Roman"/>
              </a:rPr>
              <a:t>a to z in Small letters.</a:t>
            </a:r>
          </a:p>
          <a:p>
            <a:pPr marR="0" lvl="0" rtl="0">
              <a:buNone/>
            </a:pPr>
            <a:r>
              <a:rPr lang="en-US" b="1" baseline="0" dirty="0" smtClean="0">
                <a:solidFill>
                  <a:srgbClr val="4F81BD"/>
                </a:solidFill>
                <a:latin typeface="Times New Roman" pitchFamily="18" charset="0"/>
                <a:cs typeface="Times New Roman" pitchFamily="18" charset="0"/>
              </a:rPr>
              <a:t>2) Digits</a:t>
            </a:r>
          </a:p>
          <a:p>
            <a:pPr marR="0" lvl="2" rtl="0"/>
            <a:r>
              <a:rPr lang="en-US" b="1" i="1" baseline="0" dirty="0" smtClean="0">
                <a:solidFill>
                  <a:srgbClr val="4F81BD"/>
                </a:solidFill>
                <a:latin typeface="Times New Roman"/>
              </a:rPr>
              <a:t>All Decimal 0 to 9</a:t>
            </a:r>
          </a:p>
          <a:p>
            <a:pPr marR="0" lvl="2" rtl="0"/>
            <a:endParaRPr lang="en-US" b="1" i="1" dirty="0" smtClean="0">
              <a:solidFill>
                <a:srgbClr val="4F81BD"/>
              </a:solidFill>
              <a:latin typeface="Times New Roman"/>
            </a:endParaRPr>
          </a:p>
          <a:p>
            <a:pPr marR="0" lvl="2" rtl="0">
              <a:buNone/>
            </a:pPr>
            <a:endParaRPr lang="en-US" b="1" i="1" dirty="0" smtClean="0">
              <a:solidFill>
                <a:srgbClr val="4F81BD"/>
              </a:solidFill>
              <a:latin typeface="Times New Roman"/>
            </a:endParaRPr>
          </a:p>
          <a:p>
            <a:pPr marR="0" lvl="2" rtl="0"/>
            <a:endParaRPr lang="en-US" b="1" i="1" dirty="0" smtClean="0">
              <a:solidFill>
                <a:srgbClr val="4F81BD"/>
              </a:solidFill>
              <a:latin typeface="Times New Roman"/>
            </a:endParaRPr>
          </a:p>
          <a:p>
            <a:pPr marR="0" lvl="2" rtl="0"/>
            <a:endParaRPr lang="en-US" b="1" i="1" dirty="0" smtClean="0">
              <a:solidFill>
                <a:srgbClr val="4F81BD"/>
              </a:solidFill>
              <a:latin typeface="Times New Roman"/>
            </a:endParaRPr>
          </a:p>
          <a:p>
            <a:pPr marR="0" lvl="2" rtl="0"/>
            <a:endParaRPr lang="en-US" b="1" i="1"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sz="3400" b="1" dirty="0" smtClean="0">
                <a:solidFill>
                  <a:schemeClr val="accent1">
                    <a:lumMod val="75000"/>
                  </a:schemeClr>
                </a:solidFill>
              </a:rPr>
              <a:t>3) White Spaces</a:t>
            </a:r>
            <a:endParaRPr lang="en-US" sz="3400" b="1" dirty="0">
              <a:solidFill>
                <a:schemeClr val="accent1">
                  <a:lumMod val="75000"/>
                </a:schemeClr>
              </a:solidFill>
            </a:endParaRPr>
          </a:p>
        </p:txBody>
      </p:sp>
      <p:sp>
        <p:nvSpPr>
          <p:cNvPr id="3" name="Text Placeholder 2"/>
          <p:cNvSpPr>
            <a:spLocks noGrp="1"/>
          </p:cNvSpPr>
          <p:nvPr>
            <p:ph type="body" idx="1"/>
          </p:nvPr>
        </p:nvSpPr>
        <p:spPr>
          <a:xfrm>
            <a:off x="228600" y="762000"/>
            <a:ext cx="8686800" cy="5791200"/>
          </a:xfrm>
        </p:spPr>
        <p:txBody>
          <a:bodyPr>
            <a:normAutofit fontScale="70000" lnSpcReduction="20000"/>
          </a:bodyPr>
          <a:lstStyle/>
          <a:p>
            <a:pPr algn="just">
              <a:buNone/>
            </a:pPr>
            <a:r>
              <a:rPr lang="en-US" dirty="0" smtClean="0">
                <a:solidFill>
                  <a:schemeClr val="accent1">
                    <a:lumMod val="75000"/>
                  </a:schemeClr>
                </a:solidFill>
              </a:rPr>
              <a:t>In computer programming, white space is any character or series of characters that represent horizontal or vertical space in typography. A whitespace character does not correspond to a visible mark, but typically does occupy an area on a page.</a:t>
            </a:r>
          </a:p>
          <a:p>
            <a:pPr algn="just">
              <a:buNone/>
            </a:pPr>
            <a:endParaRPr lang="en-US" dirty="0" smtClean="0">
              <a:solidFill>
                <a:schemeClr val="accent1">
                  <a:lumMod val="75000"/>
                </a:schemeClr>
              </a:solidFill>
            </a:endParaRPr>
          </a:p>
          <a:p>
            <a:pPr algn="just">
              <a:buNone/>
            </a:pPr>
            <a:r>
              <a:rPr lang="en-US" b="1" dirty="0" smtClean="0">
                <a:solidFill>
                  <a:schemeClr val="accent1">
                    <a:lumMod val="75000"/>
                  </a:schemeClr>
                </a:solidFill>
              </a:rPr>
              <a:t>IMP: </a:t>
            </a:r>
            <a:r>
              <a:rPr lang="en-US" dirty="0" smtClean="0">
                <a:solidFill>
                  <a:schemeClr val="accent1">
                    <a:lumMod val="75000"/>
                  </a:schemeClr>
                </a:solidFill>
              </a:rPr>
              <a:t>The main use is to </a:t>
            </a:r>
            <a:r>
              <a:rPr lang="en-US" dirty="0" err="1" smtClean="0">
                <a:solidFill>
                  <a:schemeClr val="accent1">
                    <a:lumMod val="75000"/>
                  </a:schemeClr>
                </a:solidFill>
              </a:rPr>
              <a:t>seperate</a:t>
            </a:r>
            <a:r>
              <a:rPr lang="en-US" dirty="0" smtClean="0">
                <a:solidFill>
                  <a:schemeClr val="accent1">
                    <a:lumMod val="75000"/>
                  </a:schemeClr>
                </a:solidFill>
              </a:rPr>
              <a:t> the data from buffer or different type of data from buffer. </a:t>
            </a:r>
          </a:p>
          <a:p>
            <a:pPr algn="just">
              <a:buNone/>
            </a:pPr>
            <a:endParaRPr lang="en-US" dirty="0" smtClean="0">
              <a:solidFill>
                <a:schemeClr val="accent1">
                  <a:lumMod val="75000"/>
                </a:schemeClr>
              </a:solidFill>
            </a:endParaRPr>
          </a:p>
          <a:p>
            <a:pPr algn="just">
              <a:buNone/>
            </a:pPr>
            <a:r>
              <a:rPr lang="en-US" b="1" dirty="0" smtClean="0">
                <a:solidFill>
                  <a:schemeClr val="accent1">
                    <a:lumMod val="75000"/>
                  </a:schemeClr>
                </a:solidFill>
              </a:rPr>
              <a:t>For example, the common whitespace</a:t>
            </a:r>
          </a:p>
          <a:p>
            <a:pPr algn="just">
              <a:buNone/>
            </a:pPr>
            <a:endParaRPr lang="en-US" dirty="0" smtClean="0"/>
          </a:p>
          <a:p>
            <a:pPr algn="just">
              <a:buFont typeface="Wingdings" pitchFamily="2" charset="2"/>
              <a:buChar char="Ø"/>
            </a:pPr>
            <a:r>
              <a:rPr lang="en-US" dirty="0" smtClean="0">
                <a:solidFill>
                  <a:schemeClr val="accent1">
                    <a:lumMod val="75000"/>
                  </a:schemeClr>
                </a:solidFill>
              </a:rPr>
              <a:t>Blank Space</a:t>
            </a:r>
          </a:p>
          <a:p>
            <a:pPr algn="just">
              <a:buFont typeface="Wingdings" pitchFamily="2" charset="2"/>
              <a:buChar char="Ø"/>
            </a:pPr>
            <a:r>
              <a:rPr lang="en-US" dirty="0" smtClean="0">
                <a:solidFill>
                  <a:schemeClr val="accent1">
                    <a:lumMod val="75000"/>
                  </a:schemeClr>
                </a:solidFill>
              </a:rPr>
              <a:t>Horizontal tab</a:t>
            </a:r>
          </a:p>
          <a:p>
            <a:pPr algn="just">
              <a:buFont typeface="Wingdings" pitchFamily="2" charset="2"/>
              <a:buChar char="Ø"/>
            </a:pPr>
            <a:r>
              <a:rPr lang="en-US" dirty="0" smtClean="0">
                <a:solidFill>
                  <a:schemeClr val="accent1">
                    <a:lumMod val="75000"/>
                  </a:schemeClr>
                </a:solidFill>
              </a:rPr>
              <a:t>Vertical tab</a:t>
            </a:r>
          </a:p>
          <a:p>
            <a:pPr algn="just">
              <a:buFont typeface="Wingdings" pitchFamily="2" charset="2"/>
              <a:buChar char="Ø"/>
            </a:pPr>
            <a:r>
              <a:rPr lang="en-US" dirty="0" smtClean="0">
                <a:solidFill>
                  <a:schemeClr val="accent1">
                    <a:lumMod val="75000"/>
                  </a:schemeClr>
                </a:solidFill>
              </a:rPr>
              <a:t>New line</a:t>
            </a:r>
          </a:p>
          <a:p>
            <a:pPr algn="just">
              <a:buFont typeface="Wingdings" pitchFamily="2" charset="2"/>
              <a:buChar char="Ø"/>
            </a:pPr>
            <a:r>
              <a:rPr lang="en-US" dirty="0" smtClean="0">
                <a:solidFill>
                  <a:schemeClr val="accent1">
                    <a:lumMod val="75000"/>
                  </a:schemeClr>
                </a:solidFill>
              </a:rPr>
              <a:t>Form feed</a:t>
            </a:r>
          </a:p>
          <a:p>
            <a:pPr algn="just">
              <a:buFont typeface="Wingdings" pitchFamily="2" charset="2"/>
              <a:buChar char="Ø"/>
            </a:pPr>
            <a:endParaRPr lang="en-US" dirty="0" smtClean="0">
              <a:solidFill>
                <a:schemeClr val="accent1">
                  <a:lumMod val="75000"/>
                </a:schemeClr>
              </a:solidFill>
            </a:endParaRPr>
          </a:p>
          <a:p>
            <a:pPr algn="just">
              <a:buNone/>
            </a:pPr>
            <a:r>
              <a:rPr lang="en-US" dirty="0" smtClean="0">
                <a:solidFill>
                  <a:schemeClr val="accent1">
                    <a:lumMod val="75000"/>
                  </a:schemeClr>
                </a:solidFill>
              </a:rPr>
              <a:t>Uses :when we  Enter the multiple data on Output screen. We press Enter , Tab ,Space etc. for Perform </a:t>
            </a:r>
            <a:r>
              <a:rPr lang="en-US" dirty="0" err="1" smtClean="0">
                <a:solidFill>
                  <a:schemeClr val="accent1">
                    <a:lumMod val="75000"/>
                  </a:schemeClr>
                </a:solidFill>
              </a:rPr>
              <a:t>somet</a:t>
            </a:r>
            <a:r>
              <a:rPr lang="en-US" dirty="0" smtClean="0">
                <a:solidFill>
                  <a:schemeClr val="accent1">
                    <a:lumMod val="75000"/>
                  </a:schemeClr>
                </a:solidFill>
              </a:rPr>
              <a:t> task on our </a:t>
            </a:r>
            <a:r>
              <a:rPr lang="en-US" dirty="0" err="1" smtClean="0">
                <a:solidFill>
                  <a:schemeClr val="accent1">
                    <a:lumMod val="75000"/>
                  </a:schemeClr>
                </a:solidFill>
              </a:rPr>
              <a:t>inputed</a:t>
            </a:r>
            <a:r>
              <a:rPr lang="en-US" dirty="0" smtClean="0">
                <a:solidFill>
                  <a:schemeClr val="accent1">
                    <a:lumMod val="75000"/>
                  </a:schemeClr>
                </a:solidFill>
              </a:rPr>
              <a:t> data.</a:t>
            </a:r>
            <a:endParaRPr lang="en" dirty="0" smtClean="0">
              <a:solidFill>
                <a:schemeClr val="accent1">
                  <a:lumMod val="75000"/>
                </a:schemeClr>
              </a:solidFill>
            </a:endParaRPr>
          </a:p>
          <a:p>
            <a:pPr algn="just">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381000"/>
          </a:xfrm>
        </p:spPr>
        <p:txBody>
          <a:bodyPr>
            <a:noAutofit/>
          </a:bodyPr>
          <a:lstStyle/>
          <a:p>
            <a:pPr marR="0" rtl="0"/>
            <a:r>
              <a:rPr lang="en-US" sz="3200" b="1" dirty="0" smtClean="0">
                <a:solidFill>
                  <a:srgbClr val="365F91"/>
                </a:solidFill>
                <a:latin typeface="Times New Roman"/>
              </a:rPr>
              <a:t>4</a:t>
            </a:r>
            <a:r>
              <a:rPr lang="en-US" sz="3200" b="1" baseline="0" dirty="0" smtClean="0">
                <a:solidFill>
                  <a:srgbClr val="365F91"/>
                </a:solidFill>
                <a:latin typeface="Times New Roman"/>
              </a:rPr>
              <a:t>) Special Characters</a:t>
            </a:r>
          </a:p>
        </p:txBody>
      </p:sp>
      <p:graphicFrame>
        <p:nvGraphicFramePr>
          <p:cNvPr id="5" name="Table 4"/>
          <p:cNvGraphicFramePr>
            <a:graphicFrameLocks noGrp="1"/>
          </p:cNvGraphicFramePr>
          <p:nvPr/>
        </p:nvGraphicFramePr>
        <p:xfrm>
          <a:off x="533399" y="685800"/>
          <a:ext cx="8305801" cy="6004553"/>
        </p:xfrm>
        <a:graphic>
          <a:graphicData uri="http://schemas.openxmlformats.org/drawingml/2006/table">
            <a:tbl>
              <a:tblPr/>
              <a:tblGrid>
                <a:gridCol w="1304555"/>
                <a:gridCol w="2436628"/>
                <a:gridCol w="1543198"/>
                <a:gridCol w="3021420"/>
              </a:tblGrid>
              <a:tr h="396233">
                <a:tc>
                  <a:txBody>
                    <a:bodyPr/>
                    <a:lstStyle/>
                    <a:p>
                      <a:pPr marL="0" marR="0">
                        <a:lnSpc>
                          <a:spcPct val="115000"/>
                        </a:lnSpc>
                        <a:spcBef>
                          <a:spcPts val="1000"/>
                        </a:spcBef>
                        <a:spcAft>
                          <a:spcPts val="0"/>
                        </a:spcAft>
                      </a:pPr>
                      <a:r>
                        <a:rPr lang="en-US" sz="2000" b="1" i="1" dirty="0">
                          <a:solidFill>
                            <a:schemeClr val="tx1"/>
                          </a:solidFill>
                          <a:latin typeface="Calibri"/>
                          <a:ea typeface="Times New Roman"/>
                          <a:cs typeface="Times New Roman"/>
                        </a:rPr>
                        <a:t>Symbol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chemeClr val="tx1"/>
                          </a:solidFill>
                          <a:latin typeface="Calibri"/>
                          <a:ea typeface="Times New Roman"/>
                          <a:cs typeface="Times New Roman"/>
                        </a:rPr>
                        <a:t>Meaning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chemeClr val="tx1"/>
                          </a:solidFill>
                          <a:latin typeface="Calibri"/>
                          <a:ea typeface="Times New Roman"/>
                          <a:cs typeface="Times New Roman"/>
                        </a:rPr>
                        <a:t>Symbol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chemeClr val="tx1"/>
                          </a:solidFill>
                          <a:latin typeface="Calibri"/>
                          <a:ea typeface="Times New Roman"/>
                          <a:cs typeface="Times New Roman"/>
                        </a:rPr>
                        <a:t>Meaning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Tilde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Apostrophe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Exclamation mark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Minus sign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Number sign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Equal to sign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Dollar sign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Left brace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Percent sign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Right brace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Caret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Left bracket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&amp;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Ampersand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Right bracket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Asterisk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Colon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smtClean="0">
                          <a:solidFill>
                            <a:srgbClr val="4F81BD"/>
                          </a:solidFill>
                          <a:latin typeface="Calibri"/>
                          <a:ea typeface="Times New Roman"/>
                          <a:cs typeface="Times New Roman"/>
                        </a:rPr>
                        <a:t>Left </a:t>
                      </a:r>
                      <a:r>
                        <a:rPr lang="en-US" sz="2000" b="1" i="1" dirty="0">
                          <a:solidFill>
                            <a:srgbClr val="4F81BD"/>
                          </a:solidFill>
                          <a:latin typeface="Calibri"/>
                          <a:ea typeface="Times New Roman"/>
                          <a:cs typeface="Times New Roman"/>
                        </a:rPr>
                        <a:t>parenthesis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Quotation mark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Right parenthesis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Semicolon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_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Underscore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&lt;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Opening angle bracket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Plus sign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&gt;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Closing angle bracket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Vertical bar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Question mark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Backslash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Comma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Apostrophe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Period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4671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Minus sign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  /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 Slash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a:bodyPr>
          <a:lstStyle/>
          <a:p>
            <a:pPr marR="0" rtl="0"/>
            <a:r>
              <a:rPr lang="en-US" sz="3200" b="1" baseline="0" dirty="0" smtClean="0">
                <a:solidFill>
                  <a:srgbClr val="365F91"/>
                </a:solidFill>
                <a:latin typeface="Cambria"/>
              </a:rPr>
              <a:t>Escape Sequences</a:t>
            </a:r>
          </a:p>
        </p:txBody>
      </p:sp>
      <p:sp>
        <p:nvSpPr>
          <p:cNvPr id="6" name="Rectangle 5"/>
          <p:cNvSpPr/>
          <p:nvPr/>
        </p:nvSpPr>
        <p:spPr>
          <a:xfrm>
            <a:off x="914400" y="1600201"/>
            <a:ext cx="7543800" cy="3108543"/>
          </a:xfrm>
          <a:prstGeom prst="rect">
            <a:avLst/>
          </a:prstGeom>
        </p:spPr>
        <p:txBody>
          <a:bodyPr wrap="square">
            <a:spAutoFit/>
          </a:bodyPr>
          <a:lstStyle/>
          <a:p>
            <a:pPr algn="just"/>
            <a:r>
              <a:rPr lang="en-US" sz="2800" b="1" dirty="0" smtClean="0">
                <a:solidFill>
                  <a:schemeClr val="tx2">
                    <a:lumMod val="60000"/>
                    <a:lumOff val="40000"/>
                  </a:schemeClr>
                </a:solidFill>
              </a:rPr>
              <a:t>Many programming languages support a concept called Escape Sequence. When a character is preceded by a backslash (\), it is called an escape sequence and it has a special meaning to the compiler. For example, \n in the following statement is a valid character and it is called a new line character −</a:t>
            </a:r>
            <a:endParaRPr lang="en-US" sz="2800" b="1" dirty="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pPr marR="0" lvl="2" algn="ctr" rtl="0"/>
            <a:r>
              <a:rPr lang="en-US" sz="2200" b="1" i="1" baseline="0" dirty="0" smtClean="0">
                <a:solidFill>
                  <a:srgbClr val="4F81BD"/>
                </a:solidFill>
                <a:latin typeface="Cambria"/>
              </a:rPr>
              <a:t/>
            </a:r>
            <a:br>
              <a:rPr lang="en-US" sz="2200" b="1" i="1" baseline="0" dirty="0" smtClean="0">
                <a:solidFill>
                  <a:srgbClr val="4F81BD"/>
                </a:solidFill>
                <a:latin typeface="Cambria"/>
              </a:rPr>
            </a:br>
            <a:r>
              <a:rPr lang="en-US" sz="2200" b="1" i="1" baseline="0" dirty="0" smtClean="0">
                <a:solidFill>
                  <a:schemeClr val="accent1">
                    <a:lumMod val="75000"/>
                  </a:schemeClr>
                </a:solidFill>
                <a:latin typeface="Cambria"/>
              </a:rPr>
              <a:t>The following table lists the escape sequences available in C programming language −</a:t>
            </a:r>
            <a:r>
              <a:rPr lang="en-US" b="1" i="1" baseline="0" dirty="0" smtClean="0">
                <a:solidFill>
                  <a:srgbClr val="4F81BD"/>
                </a:solidFill>
                <a:latin typeface="Cambria"/>
              </a:rPr>
              <a:t/>
            </a:r>
            <a:br>
              <a:rPr lang="en-US" b="1" i="1" baseline="0" dirty="0" smtClean="0">
                <a:solidFill>
                  <a:srgbClr val="4F81BD"/>
                </a:solidFill>
                <a:latin typeface="Cambria"/>
              </a:rPr>
            </a:br>
            <a:endParaRPr lang="en-US" dirty="0"/>
          </a:p>
        </p:txBody>
      </p:sp>
      <p:graphicFrame>
        <p:nvGraphicFramePr>
          <p:cNvPr id="6" name="Table 5"/>
          <p:cNvGraphicFramePr>
            <a:graphicFrameLocks noGrp="1"/>
          </p:cNvGraphicFramePr>
          <p:nvPr/>
        </p:nvGraphicFramePr>
        <p:xfrm>
          <a:off x="533400" y="1221068"/>
          <a:ext cx="8305800" cy="5305864"/>
        </p:xfrm>
        <a:graphic>
          <a:graphicData uri="http://schemas.openxmlformats.org/drawingml/2006/table">
            <a:tbl>
              <a:tblPr/>
              <a:tblGrid>
                <a:gridCol w="2244810"/>
                <a:gridCol w="6060990"/>
              </a:tblGrid>
              <a:tr h="302423">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Escape Sequence</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Description</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r>
              <a:tr h="302423">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\t</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Inserts a tab in the text at this point.</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02423">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\b</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Inserts a backspace in the text at this point.</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02423">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\n</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Inserts a newline in the text at this point.</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601265">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\r</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marR="0">
                        <a:lnSpc>
                          <a:spcPct val="100000"/>
                        </a:lnSpc>
                        <a:spcBef>
                          <a:spcPts val="1000"/>
                        </a:spcBef>
                        <a:spcAft>
                          <a:spcPts val="0"/>
                        </a:spcAft>
                      </a:pPr>
                      <a:r>
                        <a:rPr lang="en-US" sz="2000" b="1" i="1" dirty="0">
                          <a:solidFill>
                            <a:srgbClr val="4F81BD"/>
                          </a:solidFill>
                          <a:latin typeface="Calibri"/>
                          <a:ea typeface="Times New Roman"/>
                          <a:cs typeface="Times New Roman"/>
                        </a:rPr>
                        <a:t>Inserts a carriage return in the text at this point</a:t>
                      </a:r>
                      <a:r>
                        <a:rPr lang="en-US" sz="2000" b="1" i="1" dirty="0" smtClean="0">
                          <a:solidFill>
                            <a:srgbClr val="4F81BD"/>
                          </a:solidFill>
                          <a:latin typeface="Calibri"/>
                          <a:ea typeface="Times New Roman"/>
                          <a:cs typeface="Times New Roman"/>
                        </a:rPr>
                        <a:t>.</a:t>
                      </a:r>
                    </a:p>
                    <a:p>
                      <a:pPr marL="0" marR="0">
                        <a:lnSpc>
                          <a:spcPct val="100000"/>
                        </a:lnSpc>
                        <a:spcBef>
                          <a:spcPts val="1000"/>
                        </a:spcBef>
                        <a:spcAft>
                          <a:spcPts val="0"/>
                        </a:spcAft>
                      </a:pPr>
                      <a:r>
                        <a:rPr lang="en-US" sz="1600" b="0" i="0" kern="1200" dirty="0" smtClean="0">
                          <a:solidFill>
                            <a:schemeClr val="tx1"/>
                          </a:solidFill>
                          <a:latin typeface="+mn-lt"/>
                          <a:ea typeface="+mn-ea"/>
                          <a:cs typeface="+mn-cs"/>
                        </a:rPr>
                        <a:t>use </a:t>
                      </a:r>
                      <a:r>
                        <a:rPr lang="en-US" sz="1600" dirty="0" smtClean="0"/>
                        <a:t>\r</a:t>
                      </a:r>
                      <a:r>
                        <a:rPr lang="en-US" sz="1600" b="0" i="0" kern="1200" dirty="0" smtClean="0">
                          <a:solidFill>
                            <a:schemeClr val="tx1"/>
                          </a:solidFill>
                          <a:latin typeface="+mn-lt"/>
                          <a:ea typeface="+mn-ea"/>
                          <a:cs typeface="+mn-cs"/>
                        </a:rPr>
                        <a:t> to move to the start of the line and overwrite the existing text</a:t>
                      </a:r>
                      <a:r>
                        <a:rPr lang="en-US" sz="1800" b="0" i="0" kern="1200" dirty="0" smtClean="0">
                          <a:solidFill>
                            <a:schemeClr val="tx1"/>
                          </a:solidFill>
                          <a:latin typeface="+mn-lt"/>
                          <a:ea typeface="+mn-ea"/>
                          <a:cs typeface="+mn-cs"/>
                        </a:rPr>
                        <a:t>.</a:t>
                      </a:r>
                      <a:endParaRPr lang="en-US" sz="2000" b="1" i="1" dirty="0">
                        <a:solidFill>
                          <a:srgbClr val="4F81BD"/>
                        </a:solidFill>
                        <a:latin typeface="Calibri"/>
                        <a:ea typeface="Times New Roman"/>
                        <a:cs typeface="Times New Roman"/>
                      </a:endParaRP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110888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\f</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Inserts a form feed in the text at this point</a:t>
                      </a:r>
                      <a:r>
                        <a:rPr lang="en-US" sz="2000" b="1" i="1" dirty="0" smtClean="0">
                          <a:solidFill>
                            <a:srgbClr val="4F81BD"/>
                          </a:solidFill>
                          <a:latin typeface="Calibri"/>
                          <a:ea typeface="Times New Roman"/>
                          <a:cs typeface="Times New Roman"/>
                        </a:rPr>
                        <a:t>.</a:t>
                      </a:r>
                    </a:p>
                    <a:p>
                      <a:pPr marL="0" marR="0" algn="just">
                        <a:lnSpc>
                          <a:spcPct val="115000"/>
                        </a:lnSpc>
                        <a:spcBef>
                          <a:spcPts val="1000"/>
                        </a:spcBef>
                        <a:spcAft>
                          <a:spcPts val="0"/>
                        </a:spcAft>
                      </a:pPr>
                      <a:r>
                        <a:rPr lang="en-US" sz="1600" dirty="0" smtClean="0"/>
                        <a:t>\f</a:t>
                      </a:r>
                      <a:r>
                        <a:rPr lang="en-US" sz="1600" b="0" i="0" kern="1200" dirty="0" smtClean="0">
                          <a:solidFill>
                            <a:schemeClr val="tx1"/>
                          </a:solidFill>
                          <a:latin typeface="+mn-lt"/>
                          <a:ea typeface="+mn-ea"/>
                          <a:cs typeface="+mn-cs"/>
                        </a:rPr>
                        <a:t> is used for page break. You cannot see any effect in the console. But when you use this character constant in your file then you can see the difference. (in </a:t>
                      </a:r>
                      <a:r>
                        <a:rPr lang="en-US" sz="1600" b="0" i="0" kern="1200" dirty="0" err="1" smtClean="0">
                          <a:solidFill>
                            <a:schemeClr val="tx1"/>
                          </a:solidFill>
                          <a:latin typeface="+mn-lt"/>
                          <a:ea typeface="+mn-ea"/>
                          <a:cs typeface="+mn-cs"/>
                        </a:rPr>
                        <a:t>cmd</a:t>
                      </a:r>
                      <a:r>
                        <a:rPr lang="en-US" sz="1600" b="0" i="0" kern="1200" dirty="0" smtClean="0">
                          <a:solidFill>
                            <a:schemeClr val="tx1"/>
                          </a:solidFill>
                          <a:latin typeface="+mn-lt"/>
                          <a:ea typeface="+mn-ea"/>
                          <a:cs typeface="+mn-cs"/>
                        </a:rPr>
                        <a:t> </a:t>
                      </a:r>
                      <a:r>
                        <a:rPr lang="en-US" sz="1600" b="0" i="0" kern="1200" dirty="0" err="1" smtClean="0">
                          <a:solidFill>
                            <a:schemeClr val="tx1"/>
                          </a:solidFill>
                          <a:latin typeface="+mn-lt"/>
                          <a:ea typeface="+mn-ea"/>
                          <a:cs typeface="+mn-cs"/>
                        </a:rPr>
                        <a:t>abc</a:t>
                      </a:r>
                      <a:r>
                        <a:rPr lang="en-US" sz="1600" b="0" i="0" kern="1200" dirty="0" smtClean="0">
                          <a:solidFill>
                            <a:schemeClr val="tx1"/>
                          </a:solidFill>
                          <a:latin typeface="+mn-lt"/>
                          <a:ea typeface="+mn-ea"/>
                          <a:cs typeface="+mn-cs"/>
                        </a:rPr>
                        <a:t> &gt; xyz.doc)</a:t>
                      </a:r>
                      <a:endParaRPr lang="en-US" sz="1600" b="1" i="1" dirty="0">
                        <a:solidFill>
                          <a:srgbClr val="4F81BD"/>
                        </a:solidFill>
                        <a:latin typeface="Calibri"/>
                        <a:ea typeface="Times New Roman"/>
                        <a:cs typeface="Times New Roman"/>
                      </a:endParaRP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579421">
                <a:tc>
                  <a:txBody>
                    <a:bodyPr/>
                    <a:lstStyle/>
                    <a:p>
                      <a:pPr marL="0" marR="0">
                        <a:lnSpc>
                          <a:spcPct val="115000"/>
                        </a:lnSpc>
                        <a:spcBef>
                          <a:spcPts val="1000"/>
                        </a:spcBef>
                        <a:spcAft>
                          <a:spcPts val="0"/>
                        </a:spcAft>
                      </a:pPr>
                      <a:r>
                        <a:rPr lang="en-US" sz="2000" b="1" i="1">
                          <a:solidFill>
                            <a:srgbClr val="4F81BD"/>
                          </a:solidFill>
                          <a:latin typeface="Calibri"/>
                          <a:ea typeface="Times New Roman"/>
                          <a:cs typeface="Times New Roman"/>
                        </a:rPr>
                        <a:t>\'</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Inserts a single quote character in the text at this point.</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579421">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Inserts a double quote character in the text at this point.</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60027">
                <a:tc>
                  <a:txBody>
                    <a:bodyPr/>
                    <a:lstStyle/>
                    <a:p>
                      <a:pPr marL="0" marR="0">
                        <a:lnSpc>
                          <a:spcPct val="115000"/>
                        </a:lnSpc>
                        <a:spcBef>
                          <a:spcPts val="1000"/>
                        </a:spcBef>
                        <a:spcAft>
                          <a:spcPts val="0"/>
                        </a:spcAft>
                      </a:pPr>
                      <a:r>
                        <a:rPr lang="en-US" sz="2000" b="1" i="1" dirty="0" smtClean="0">
                          <a:solidFill>
                            <a:srgbClr val="4F81BD"/>
                          </a:solidFill>
                          <a:latin typeface="Calibri"/>
                          <a:ea typeface="Times New Roman"/>
                          <a:cs typeface="Times New Roman"/>
                        </a:rPr>
                        <a:t>\0</a:t>
                      </a:r>
                      <a:endParaRPr lang="en-US" sz="2000" b="1" i="1" dirty="0">
                        <a:solidFill>
                          <a:srgbClr val="4F81BD"/>
                        </a:solidFill>
                        <a:latin typeface="Calibri"/>
                        <a:ea typeface="Times New Roman"/>
                        <a:cs typeface="Times New Roman"/>
                      </a:endParaRP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000" b="1" i="1" dirty="0" smtClean="0">
                          <a:solidFill>
                            <a:srgbClr val="4F81BD"/>
                          </a:solidFill>
                          <a:latin typeface="Calibri"/>
                          <a:ea typeface="Times New Roman"/>
                          <a:cs typeface="Times New Roman"/>
                        </a:rPr>
                        <a:t>Insert</a:t>
                      </a:r>
                      <a:r>
                        <a:rPr lang="en-US" sz="2000" b="1" i="1" baseline="0" dirty="0" smtClean="0">
                          <a:solidFill>
                            <a:srgbClr val="4F81BD"/>
                          </a:solidFill>
                          <a:latin typeface="Calibri"/>
                          <a:ea typeface="Times New Roman"/>
                          <a:cs typeface="Times New Roman"/>
                        </a:rPr>
                        <a:t> null character (  end of string)</a:t>
                      </a:r>
                      <a:endParaRPr lang="en-US" sz="2000" b="1" i="1" dirty="0">
                        <a:solidFill>
                          <a:srgbClr val="4F81BD"/>
                        </a:solidFill>
                        <a:latin typeface="Calibri"/>
                        <a:ea typeface="Times New Roman"/>
                        <a:cs typeface="Times New Roman"/>
                      </a:endParaRP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60027">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000" b="1" i="1" dirty="0">
                          <a:solidFill>
                            <a:srgbClr val="4F81BD"/>
                          </a:solidFill>
                          <a:latin typeface="Calibri"/>
                          <a:ea typeface="Times New Roman"/>
                          <a:cs typeface="Times New Roman"/>
                        </a:rPr>
                        <a:t>Inserts a backslash character in the text at this point.</a:t>
                      </a:r>
                    </a:p>
                  </a:txBody>
                  <a:tcPr marL="68437" marR="68437" marT="0" marB="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Autofit/>
          </a:bodyPr>
          <a:lstStyle/>
          <a:p>
            <a:pPr marR="0" rtl="0"/>
            <a:r>
              <a:rPr lang="en-US" sz="3600" b="1" i="1" baseline="0" dirty="0" err="1" smtClean="0">
                <a:solidFill>
                  <a:srgbClr val="365F91"/>
                </a:solidFill>
                <a:latin typeface="Cambria"/>
              </a:rPr>
              <a:t>Delimeters</a:t>
            </a:r>
            <a:endParaRPr lang="en-US" sz="3600" b="1" i="1" baseline="0" dirty="0" smtClean="0">
              <a:solidFill>
                <a:srgbClr val="365F91"/>
              </a:solidFill>
              <a:latin typeface="Cambria"/>
            </a:endParaRPr>
          </a:p>
        </p:txBody>
      </p:sp>
      <p:sp>
        <p:nvSpPr>
          <p:cNvPr id="3" name="Text Placeholder 2"/>
          <p:cNvSpPr>
            <a:spLocks noGrp="1"/>
          </p:cNvSpPr>
          <p:nvPr>
            <p:ph type="body" idx="1"/>
          </p:nvPr>
        </p:nvSpPr>
        <p:spPr>
          <a:xfrm>
            <a:off x="457200" y="762001"/>
            <a:ext cx="7772400" cy="1066799"/>
          </a:xfrm>
        </p:spPr>
        <p:txBody>
          <a:bodyPr>
            <a:normAutofit fontScale="92500" lnSpcReduction="10000"/>
          </a:bodyPr>
          <a:lstStyle/>
          <a:p>
            <a:pPr marR="0" lvl="2" algn="ctr" rtl="0">
              <a:buNone/>
            </a:pPr>
            <a:r>
              <a:rPr lang="en-US" b="1" i="1" baseline="0" dirty="0" smtClean="0">
                <a:solidFill>
                  <a:srgbClr val="4F81BD"/>
                </a:solidFill>
                <a:latin typeface="Cambria"/>
              </a:rPr>
              <a:t>Language pattern of C uses special kind of symbols, which are called as </a:t>
            </a:r>
            <a:r>
              <a:rPr lang="en-US" b="1" i="1" baseline="0" dirty="0" err="1" smtClean="0">
                <a:solidFill>
                  <a:srgbClr val="4F81BD"/>
                </a:solidFill>
                <a:latin typeface="Cambria"/>
              </a:rPr>
              <a:t>delimeters</a:t>
            </a:r>
            <a:r>
              <a:rPr lang="en-US" b="1" i="1" baseline="0" dirty="0" smtClean="0">
                <a:solidFill>
                  <a:srgbClr val="4F81BD"/>
                </a:solidFill>
                <a:latin typeface="Cambria"/>
              </a:rPr>
              <a:t>. </a:t>
            </a:r>
          </a:p>
          <a:p>
            <a:pPr marR="0" lvl="2" algn="ctr" rtl="0">
              <a:buNone/>
            </a:pPr>
            <a:r>
              <a:rPr lang="en-US" b="1" i="1" baseline="0" dirty="0" smtClean="0">
                <a:solidFill>
                  <a:srgbClr val="4F81BD"/>
                </a:solidFill>
                <a:latin typeface="Cambria"/>
              </a:rPr>
              <a:t>They are given as under.</a:t>
            </a:r>
          </a:p>
        </p:txBody>
      </p:sp>
      <p:graphicFrame>
        <p:nvGraphicFramePr>
          <p:cNvPr id="5" name="Table 4"/>
          <p:cNvGraphicFramePr>
            <a:graphicFrameLocks noGrp="1"/>
          </p:cNvGraphicFramePr>
          <p:nvPr/>
        </p:nvGraphicFramePr>
        <p:xfrm>
          <a:off x="609600" y="1981201"/>
          <a:ext cx="8305800" cy="4681145"/>
        </p:xfrm>
        <a:graphic>
          <a:graphicData uri="http://schemas.openxmlformats.org/drawingml/2006/table">
            <a:tbl>
              <a:tblPr/>
              <a:tblGrid>
                <a:gridCol w="2480774"/>
                <a:gridCol w="1809184"/>
                <a:gridCol w="4015842"/>
              </a:tblGrid>
              <a:tr h="508000">
                <a:tc>
                  <a:txBody>
                    <a:bodyPr/>
                    <a:lstStyle/>
                    <a:p>
                      <a:pPr algn="ctr" rtl="0" fontAlgn="t"/>
                      <a:r>
                        <a:rPr lang="en-US" sz="2400" b="1" i="0" u="none" strike="noStrike" dirty="0">
                          <a:solidFill>
                            <a:srgbClr val="4F81BD"/>
                          </a:solidFill>
                          <a:latin typeface="Calibri"/>
                        </a:rPr>
                        <a:t>Delimiters</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400" b="1" i="0" u="none" strike="noStrike" dirty="0">
                          <a:solidFill>
                            <a:srgbClr val="4F81BD"/>
                          </a:solidFill>
                          <a:latin typeface="Calibri"/>
                        </a:rPr>
                        <a:t>Symbols</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400" b="1" i="0" u="none" strike="noStrike" dirty="0">
                          <a:solidFill>
                            <a:srgbClr val="4F81BD"/>
                          </a:solidFill>
                          <a:latin typeface="Calibri"/>
                        </a:rPr>
                        <a:t>Use</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r>
              <a:tr h="508000">
                <a:tc>
                  <a:txBody>
                    <a:bodyPr/>
                    <a:lstStyle/>
                    <a:p>
                      <a:pPr algn="ctr" rtl="0" fontAlgn="t"/>
                      <a:r>
                        <a:rPr lang="en-US" sz="2000" b="1" i="1" u="none" strike="noStrike" dirty="0">
                          <a:solidFill>
                            <a:srgbClr val="4F81BD"/>
                          </a:solidFill>
                          <a:latin typeface="Calibri"/>
                        </a:rPr>
                        <a:t>Colon</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a:solidFill>
                            <a:srgbClr val="4F81BD"/>
                          </a:solidFill>
                          <a:latin typeface="Calibri"/>
                        </a:rPr>
                        <a:t>:</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dirty="0">
                          <a:solidFill>
                            <a:srgbClr val="4F81BD"/>
                          </a:solidFill>
                          <a:latin typeface="Calibri"/>
                        </a:rPr>
                        <a:t>Useful for label </a:t>
                      </a:r>
                      <a:r>
                        <a:rPr lang="en-US" sz="2000" b="1" i="1" u="none" strike="noStrike" dirty="0" smtClean="0">
                          <a:solidFill>
                            <a:srgbClr val="4F81BD"/>
                          </a:solidFill>
                          <a:latin typeface="Calibri"/>
                        </a:rPr>
                        <a:t>(in switch and goto)</a:t>
                      </a:r>
                      <a:endParaRPr lang="en-US" sz="2000" b="1" i="1" u="none" strike="noStrike" dirty="0">
                        <a:solidFill>
                          <a:srgbClr val="4F81BD"/>
                        </a:solidFill>
                        <a:latin typeface="Calibri"/>
                      </a:endParaRP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r>
              <a:tr h="508000">
                <a:tc>
                  <a:txBody>
                    <a:bodyPr/>
                    <a:lstStyle/>
                    <a:p>
                      <a:pPr algn="ctr" rtl="0" fontAlgn="t"/>
                      <a:r>
                        <a:rPr lang="en-US" sz="2000" b="1" i="1" u="none" strike="noStrike" dirty="0">
                          <a:solidFill>
                            <a:srgbClr val="4F81BD"/>
                          </a:solidFill>
                          <a:latin typeface="Calibri"/>
                        </a:rPr>
                        <a:t>Semicolon</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dirty="0">
                          <a:solidFill>
                            <a:srgbClr val="4F81BD"/>
                          </a:solidFill>
                          <a:latin typeface="Calibri"/>
                        </a:rPr>
                        <a:t>;</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dirty="0">
                          <a:solidFill>
                            <a:srgbClr val="4F81BD"/>
                          </a:solidFill>
                          <a:latin typeface="Calibri"/>
                        </a:rPr>
                        <a:t>Terminates statements</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r>
              <a:tr h="508000">
                <a:tc>
                  <a:txBody>
                    <a:bodyPr/>
                    <a:lstStyle/>
                    <a:p>
                      <a:pPr algn="ctr" rtl="0" fontAlgn="t"/>
                      <a:r>
                        <a:rPr lang="en-US" sz="2000" b="1" i="1" u="none" strike="noStrike">
                          <a:solidFill>
                            <a:srgbClr val="4F81BD"/>
                          </a:solidFill>
                          <a:latin typeface="Calibri"/>
                        </a:rPr>
                        <a:t>Parenthesis</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dirty="0">
                          <a:solidFill>
                            <a:srgbClr val="4F81BD"/>
                          </a:solidFill>
                          <a:latin typeface="Calibri"/>
                        </a:rPr>
                        <a:t>()</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dirty="0">
                          <a:solidFill>
                            <a:srgbClr val="4F81BD"/>
                          </a:solidFill>
                          <a:latin typeface="Calibri"/>
                        </a:rPr>
                        <a:t>Used in Expression and </a:t>
                      </a:r>
                      <a:r>
                        <a:rPr lang="en-US" sz="2000" b="1" i="1" u="none" strike="noStrike" dirty="0" err="1" smtClean="0">
                          <a:solidFill>
                            <a:srgbClr val="4F81BD"/>
                          </a:solidFill>
                          <a:latin typeface="Calibri"/>
                        </a:rPr>
                        <a:t>function,condition</a:t>
                      </a:r>
                      <a:endParaRPr lang="en-US" sz="2000" b="1" i="1" u="none" strike="noStrike" dirty="0">
                        <a:solidFill>
                          <a:srgbClr val="4F81BD"/>
                        </a:solidFill>
                        <a:latin typeface="Calibri"/>
                      </a:endParaRP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r>
              <a:tr h="508000">
                <a:tc>
                  <a:txBody>
                    <a:bodyPr/>
                    <a:lstStyle/>
                    <a:p>
                      <a:pPr algn="ctr" rtl="0" fontAlgn="t"/>
                      <a:r>
                        <a:rPr lang="en-US" sz="2000" b="1" i="1" u="none" strike="noStrike">
                          <a:solidFill>
                            <a:srgbClr val="4F81BD"/>
                          </a:solidFill>
                          <a:latin typeface="Calibri"/>
                        </a:rPr>
                        <a:t>Square brackets</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a:solidFill>
                            <a:srgbClr val="4F81BD"/>
                          </a:solidFill>
                          <a:latin typeface="Calibri"/>
                        </a:rPr>
                        <a:t>[]</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dirty="0" smtClean="0">
                          <a:solidFill>
                            <a:srgbClr val="4F81BD"/>
                          </a:solidFill>
                          <a:latin typeface="Calibri"/>
                        </a:rPr>
                        <a:t>Used </a:t>
                      </a:r>
                      <a:r>
                        <a:rPr lang="en-US" sz="2000" b="1" i="1" u="none" strike="noStrike" dirty="0">
                          <a:solidFill>
                            <a:srgbClr val="4F81BD"/>
                          </a:solidFill>
                          <a:latin typeface="Calibri"/>
                        </a:rPr>
                        <a:t>for array declaration</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r>
              <a:tr h="508000">
                <a:tc>
                  <a:txBody>
                    <a:bodyPr/>
                    <a:lstStyle/>
                    <a:p>
                      <a:pPr algn="ctr" rtl="0" fontAlgn="t"/>
                      <a:r>
                        <a:rPr lang="en-US" sz="2000" b="1" i="1" u="none" strike="noStrike">
                          <a:solidFill>
                            <a:srgbClr val="4F81BD"/>
                          </a:solidFill>
                          <a:latin typeface="Calibri"/>
                        </a:rPr>
                        <a:t>Curly braces</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a:solidFill>
                            <a:srgbClr val="4F81BD"/>
                          </a:solidFill>
                          <a:latin typeface="Calibri"/>
                        </a:rPr>
                        <a:t>{}</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dirty="0">
                          <a:solidFill>
                            <a:srgbClr val="4F81BD"/>
                          </a:solidFill>
                          <a:latin typeface="Calibri"/>
                        </a:rPr>
                        <a:t>Scope of statement</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r>
              <a:tr h="508000">
                <a:tc>
                  <a:txBody>
                    <a:bodyPr/>
                    <a:lstStyle/>
                    <a:p>
                      <a:pPr algn="ctr" rtl="0" fontAlgn="t"/>
                      <a:r>
                        <a:rPr lang="en-US" sz="2000" b="1" i="1" u="none" strike="noStrike">
                          <a:solidFill>
                            <a:srgbClr val="4F81BD"/>
                          </a:solidFill>
                          <a:latin typeface="Calibri"/>
                        </a:rPr>
                        <a:t>Hash</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a:solidFill>
                            <a:srgbClr val="4F81BD"/>
                          </a:solidFill>
                          <a:latin typeface="Calibri"/>
                        </a:rPr>
                        <a:t>#</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dirty="0">
                          <a:solidFill>
                            <a:srgbClr val="4F81BD"/>
                          </a:solidFill>
                          <a:latin typeface="Calibri"/>
                        </a:rPr>
                        <a:t>Preprocessor directive</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r>
              <a:tr h="508000">
                <a:tc>
                  <a:txBody>
                    <a:bodyPr/>
                    <a:lstStyle/>
                    <a:p>
                      <a:pPr algn="ctr" rtl="0" fontAlgn="t"/>
                      <a:r>
                        <a:rPr lang="en-US" sz="2000" b="1" i="1" u="none" strike="noStrike">
                          <a:solidFill>
                            <a:srgbClr val="4F81BD"/>
                          </a:solidFill>
                          <a:latin typeface="Calibri"/>
                        </a:rPr>
                        <a:t>Comma</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a:solidFill>
                            <a:srgbClr val="4F81BD"/>
                          </a:solidFill>
                          <a:latin typeface="Calibri"/>
                        </a:rPr>
                        <a:t>,</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dirty="0" smtClean="0">
                          <a:solidFill>
                            <a:srgbClr val="4F81BD"/>
                          </a:solidFill>
                          <a:latin typeface="Calibri"/>
                        </a:rPr>
                        <a:t>Variable </a:t>
                      </a:r>
                      <a:r>
                        <a:rPr lang="en-US" sz="2000" b="1" i="1" u="none" strike="noStrike" dirty="0" err="1">
                          <a:solidFill>
                            <a:srgbClr val="4F81BD"/>
                          </a:solidFill>
                          <a:latin typeface="Calibri"/>
                        </a:rPr>
                        <a:t>seperator</a:t>
                      </a:r>
                      <a:r>
                        <a:rPr lang="en-US" sz="2000" b="1" i="1" u="none" strike="noStrike" dirty="0">
                          <a:solidFill>
                            <a:srgbClr val="4F81BD"/>
                          </a:solidFill>
                          <a:latin typeface="Calibri"/>
                        </a:rPr>
                        <a:t> </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r>
              <a:tr h="508000">
                <a:tc>
                  <a:txBody>
                    <a:bodyPr/>
                    <a:lstStyle/>
                    <a:p>
                      <a:pPr algn="ctr" rtl="0" fontAlgn="t"/>
                      <a:r>
                        <a:rPr lang="en-US" sz="2000" b="1" i="1" u="none" strike="noStrike">
                          <a:solidFill>
                            <a:srgbClr val="4F81BD"/>
                          </a:solidFill>
                          <a:latin typeface="Calibri"/>
                        </a:rPr>
                        <a:t>Null Character</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a:solidFill>
                            <a:srgbClr val="4F81BD"/>
                          </a:solidFill>
                          <a:latin typeface="Calibri"/>
                        </a:rPr>
                        <a:t>\0</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c>
                  <a:txBody>
                    <a:bodyPr/>
                    <a:lstStyle/>
                    <a:p>
                      <a:pPr algn="ctr" rtl="0" fontAlgn="t"/>
                      <a:r>
                        <a:rPr lang="en-US" sz="2000" b="1" i="1" u="none" strike="noStrike" dirty="0" smtClean="0">
                          <a:solidFill>
                            <a:srgbClr val="4F81BD"/>
                          </a:solidFill>
                          <a:latin typeface="Calibri"/>
                        </a:rPr>
                        <a:t>In </a:t>
                      </a:r>
                      <a:r>
                        <a:rPr lang="en-US" sz="2000" b="1" i="1" u="none" strike="noStrike" dirty="0">
                          <a:solidFill>
                            <a:srgbClr val="4F81BD"/>
                          </a:solidFill>
                          <a:latin typeface="Calibri"/>
                        </a:rPr>
                        <a:t>end of string</a:t>
                      </a:r>
                    </a:p>
                  </a:txBody>
                  <a:tcPr marL="7545" marR="7545" marT="75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AFB"/>
                    </a:solidFill>
                  </a:tcPr>
                </a:tc>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Autofit/>
          </a:bodyPr>
          <a:lstStyle/>
          <a:p>
            <a:r>
              <a:rPr lang="en-US" sz="2800" b="1" dirty="0" smtClean="0">
                <a:solidFill>
                  <a:srgbClr val="365F91"/>
                </a:solidFill>
                <a:latin typeface="Cambria"/>
              </a:rPr>
              <a:t>Keywords</a:t>
            </a:r>
            <a:endParaRPr lang="en-US" sz="2800" dirty="0"/>
          </a:p>
        </p:txBody>
      </p:sp>
      <p:graphicFrame>
        <p:nvGraphicFramePr>
          <p:cNvPr id="4" name="Table 3"/>
          <p:cNvGraphicFramePr>
            <a:graphicFrameLocks noGrp="1"/>
          </p:cNvGraphicFramePr>
          <p:nvPr/>
        </p:nvGraphicFramePr>
        <p:xfrm>
          <a:off x="381000" y="1981201"/>
          <a:ext cx="8381999" cy="4495799"/>
        </p:xfrm>
        <a:graphic>
          <a:graphicData uri="http://schemas.openxmlformats.org/drawingml/2006/table">
            <a:tbl>
              <a:tblPr/>
              <a:tblGrid>
                <a:gridCol w="2172741"/>
                <a:gridCol w="1889774"/>
                <a:gridCol w="2069752"/>
                <a:gridCol w="2249732"/>
              </a:tblGrid>
              <a:tr h="457199">
                <a:tc gridSpan="4">
                  <a:txBody>
                    <a:bodyPr/>
                    <a:lstStyle/>
                    <a:p>
                      <a:pPr marL="0" marR="0" algn="ctr">
                        <a:lnSpc>
                          <a:spcPct val="115000"/>
                        </a:lnSpc>
                        <a:spcBef>
                          <a:spcPts val="1000"/>
                        </a:spcBef>
                        <a:spcAft>
                          <a:spcPts val="0"/>
                        </a:spcAft>
                      </a:pPr>
                      <a:r>
                        <a:rPr lang="en-US" sz="2400" b="1" dirty="0">
                          <a:solidFill>
                            <a:srgbClr val="4F81BD"/>
                          </a:solidFill>
                          <a:latin typeface="Calibri"/>
                          <a:ea typeface="Times New Roman"/>
                          <a:cs typeface="Times New Roman"/>
                        </a:rPr>
                        <a:t>Keywords in C Language</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515092">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auto</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double</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err="1">
                          <a:solidFill>
                            <a:srgbClr val="4F81BD"/>
                          </a:solidFill>
                          <a:latin typeface="Calibri"/>
                          <a:ea typeface="Times New Roman"/>
                          <a:cs typeface="Times New Roman"/>
                        </a:rPr>
                        <a:t>int</a:t>
                      </a:r>
                      <a:endParaRPr lang="en-US" sz="2000" b="1" i="1" dirty="0">
                        <a:solidFill>
                          <a:srgbClr val="4F81BD"/>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a:solidFill>
                            <a:srgbClr val="4F81BD"/>
                          </a:solidFill>
                          <a:latin typeface="Calibri"/>
                          <a:ea typeface="Times New Roman"/>
                          <a:cs typeface="Times New Roman"/>
                        </a:rPr>
                        <a:t>struct</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15092">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break</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else</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long</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a:solidFill>
                            <a:srgbClr val="4F81BD"/>
                          </a:solidFill>
                          <a:latin typeface="Calibri"/>
                          <a:ea typeface="Times New Roman"/>
                          <a:cs typeface="Times New Roman"/>
                        </a:rPr>
                        <a:t>switch</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15092">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case</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err="1">
                          <a:solidFill>
                            <a:srgbClr val="4F81BD"/>
                          </a:solidFill>
                          <a:latin typeface="Calibri"/>
                          <a:ea typeface="Times New Roman"/>
                          <a:cs typeface="Times New Roman"/>
                        </a:rPr>
                        <a:t>enum</a:t>
                      </a:r>
                      <a:endParaRPr lang="en-US" sz="2000" b="1" i="1" dirty="0">
                        <a:solidFill>
                          <a:srgbClr val="4F81BD"/>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register </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err="1">
                          <a:solidFill>
                            <a:srgbClr val="4F81BD"/>
                          </a:solidFill>
                          <a:latin typeface="Calibri"/>
                          <a:ea typeface="Times New Roman"/>
                          <a:cs typeface="Times New Roman"/>
                        </a:rPr>
                        <a:t>typedef</a:t>
                      </a:r>
                      <a:endParaRPr lang="en-US" sz="2000" b="1" i="1" dirty="0">
                        <a:solidFill>
                          <a:srgbClr val="4F81BD"/>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15092">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char</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extern</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return</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union</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15092">
                <a:tc>
                  <a:txBody>
                    <a:bodyPr/>
                    <a:lstStyle/>
                    <a:p>
                      <a:pPr marL="0" marR="0" algn="ctr">
                        <a:lnSpc>
                          <a:spcPct val="115000"/>
                        </a:lnSpc>
                        <a:spcBef>
                          <a:spcPts val="1000"/>
                        </a:spcBef>
                        <a:spcAft>
                          <a:spcPts val="0"/>
                        </a:spcAft>
                      </a:pPr>
                      <a:r>
                        <a:rPr lang="en-US" sz="2000" b="1" i="1">
                          <a:solidFill>
                            <a:srgbClr val="4F81BD"/>
                          </a:solidFill>
                          <a:latin typeface="Calibri"/>
                          <a:ea typeface="Times New Roman"/>
                          <a:cs typeface="Times New Roman"/>
                        </a:rPr>
                        <a:t>continue</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for</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signed</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void</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15092">
                <a:tc>
                  <a:txBody>
                    <a:bodyPr/>
                    <a:lstStyle/>
                    <a:p>
                      <a:pPr marL="0" marR="0" algn="ctr">
                        <a:lnSpc>
                          <a:spcPct val="115000"/>
                        </a:lnSpc>
                        <a:spcBef>
                          <a:spcPts val="1000"/>
                        </a:spcBef>
                        <a:spcAft>
                          <a:spcPts val="0"/>
                        </a:spcAft>
                      </a:pPr>
                      <a:r>
                        <a:rPr lang="en-US" sz="2000" b="1" i="1">
                          <a:solidFill>
                            <a:srgbClr val="4F81BD"/>
                          </a:solidFill>
                          <a:latin typeface="Calibri"/>
                          <a:ea typeface="Times New Roman"/>
                          <a:cs typeface="Times New Roman"/>
                        </a:rPr>
                        <a:t>do</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if</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static </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while</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470844">
                <a:tc>
                  <a:txBody>
                    <a:bodyPr/>
                    <a:lstStyle/>
                    <a:p>
                      <a:pPr marL="0" marR="0" algn="ctr">
                        <a:lnSpc>
                          <a:spcPct val="115000"/>
                        </a:lnSpc>
                        <a:spcBef>
                          <a:spcPts val="1000"/>
                        </a:spcBef>
                        <a:spcAft>
                          <a:spcPts val="0"/>
                        </a:spcAft>
                      </a:pPr>
                      <a:r>
                        <a:rPr lang="en-US" sz="2000" b="1" i="1">
                          <a:solidFill>
                            <a:srgbClr val="4F81BD"/>
                          </a:solidFill>
                          <a:latin typeface="Calibri"/>
                          <a:ea typeface="Times New Roman"/>
                          <a:cs typeface="Times New Roman"/>
                        </a:rPr>
                        <a:t>default</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goto</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err="1">
                          <a:solidFill>
                            <a:srgbClr val="4F81BD"/>
                          </a:solidFill>
                          <a:latin typeface="Calibri"/>
                          <a:ea typeface="Times New Roman"/>
                          <a:cs typeface="Times New Roman"/>
                        </a:rPr>
                        <a:t>sizeof</a:t>
                      </a:r>
                      <a:endParaRPr lang="en-US" sz="2000" b="1" i="1" dirty="0">
                        <a:solidFill>
                          <a:srgbClr val="4F81BD"/>
                        </a:solidFill>
                        <a:latin typeface="Calibri"/>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volatile</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477204">
                <a:tc>
                  <a:txBody>
                    <a:bodyPr/>
                    <a:lstStyle/>
                    <a:p>
                      <a:pPr marL="0" marR="0" algn="ctr">
                        <a:lnSpc>
                          <a:spcPct val="115000"/>
                        </a:lnSpc>
                        <a:spcBef>
                          <a:spcPts val="1000"/>
                        </a:spcBef>
                        <a:spcAft>
                          <a:spcPts val="0"/>
                        </a:spcAft>
                      </a:pPr>
                      <a:r>
                        <a:rPr lang="en-US" sz="2000" b="1" i="1">
                          <a:solidFill>
                            <a:srgbClr val="4F81BD"/>
                          </a:solidFill>
                          <a:latin typeface="Calibri"/>
                          <a:ea typeface="Times New Roman"/>
                          <a:cs typeface="Times New Roman"/>
                        </a:rPr>
                        <a:t>const</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a:solidFill>
                            <a:srgbClr val="4F81BD"/>
                          </a:solidFill>
                          <a:latin typeface="Calibri"/>
                          <a:ea typeface="Times New Roman"/>
                          <a:cs typeface="Times New Roman"/>
                        </a:rPr>
                        <a:t>float</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short</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1000"/>
                        </a:spcBef>
                        <a:spcAft>
                          <a:spcPts val="0"/>
                        </a:spcAft>
                      </a:pPr>
                      <a:r>
                        <a:rPr lang="en-US" sz="2000" b="1" i="1" dirty="0">
                          <a:solidFill>
                            <a:srgbClr val="4F81BD"/>
                          </a:solidFill>
                          <a:latin typeface="Calibri"/>
                          <a:ea typeface="Times New Roman"/>
                          <a:cs typeface="Times New Roman"/>
                        </a:rPr>
                        <a:t>unsigned</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
        <p:nvSpPr>
          <p:cNvPr id="5" name="Rectangle 4"/>
          <p:cNvSpPr/>
          <p:nvPr/>
        </p:nvSpPr>
        <p:spPr>
          <a:xfrm>
            <a:off x="-381000" y="609600"/>
            <a:ext cx="9220200" cy="1200329"/>
          </a:xfrm>
          <a:prstGeom prst="rect">
            <a:avLst/>
          </a:prstGeom>
        </p:spPr>
        <p:txBody>
          <a:bodyPr wrap="square">
            <a:spAutoFit/>
          </a:bodyPr>
          <a:lstStyle/>
          <a:p>
            <a:pPr lvl="2" algn="just"/>
            <a:r>
              <a:rPr lang="en-US" b="1" i="1" dirty="0" smtClean="0">
                <a:solidFill>
                  <a:srgbClr val="4F81BD"/>
                </a:solidFill>
                <a:latin typeface="Cambria"/>
              </a:rPr>
              <a:t>Keywords are the reserved words in programming. As C is a case sensitive language, all keywords must be written in lowercase. Here is a list of all keywords allowed in ANSI C.</a:t>
            </a:r>
          </a:p>
          <a:p>
            <a:pPr lvl="2" algn="just"/>
            <a:r>
              <a:rPr lang="en-US" b="1" i="1" dirty="0" smtClean="0">
                <a:solidFill>
                  <a:srgbClr val="4F81BD"/>
                </a:solidFill>
                <a:latin typeface="Cambria"/>
              </a:rPr>
              <a:t>Generally in TC they all are seen in white color ( 32 in TC old versions)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IDENTIFIER</a:t>
            </a:r>
            <a:endParaRPr lang="en-US" b="1" baseline="0" smtClean="0">
              <a:solidFill>
                <a:srgbClr val="365F91"/>
              </a:solidFill>
              <a:latin typeface="Times New Roman"/>
            </a:endParaRPr>
          </a:p>
        </p:txBody>
      </p:sp>
      <p:sp>
        <p:nvSpPr>
          <p:cNvPr id="3" name="Text Placeholder 2"/>
          <p:cNvSpPr>
            <a:spLocks noGrp="1"/>
          </p:cNvSpPr>
          <p:nvPr>
            <p:ph type="body" idx="1"/>
          </p:nvPr>
        </p:nvSpPr>
        <p:spPr/>
        <p:txBody>
          <a:bodyPr/>
          <a:lstStyle/>
          <a:p>
            <a:pPr marR="0" lvl="2" rtl="0"/>
            <a:r>
              <a:rPr lang="en-US" b="1" i="1" baseline="0" smtClean="0">
                <a:solidFill>
                  <a:srgbClr val="4F81BD"/>
                </a:solidFill>
                <a:latin typeface="Cambria"/>
              </a:rPr>
              <a:t>Identifiers are the names you can give to entities such as variables, functions, array ,structures etc.</a:t>
            </a:r>
          </a:p>
          <a:p>
            <a:pPr marR="0" lvl="2" rtl="0"/>
            <a:r>
              <a:rPr lang="en-US" b="1" i="1" baseline="0" smtClean="0">
                <a:solidFill>
                  <a:srgbClr val="4F81BD"/>
                </a:solidFill>
                <a:latin typeface="Cambria"/>
              </a:rPr>
              <a:t>Also remember, identifier names must be different from keywords. You cannot use</a:t>
            </a:r>
            <a:r>
              <a:rPr lang="en-US" b="1" i="1" baseline="0" smtClean="0">
                <a:solidFill>
                  <a:srgbClr val="101820"/>
                </a:solidFill>
                <a:latin typeface="Verdana"/>
              </a:rPr>
              <a:t> int </a:t>
            </a:r>
            <a:r>
              <a:rPr lang="en-US" b="1" i="1" baseline="0" smtClean="0">
                <a:solidFill>
                  <a:srgbClr val="4F81BD"/>
                </a:solidFill>
                <a:latin typeface="Cambria"/>
              </a:rPr>
              <a:t>as an identifier because</a:t>
            </a:r>
            <a:r>
              <a:rPr lang="en-US" b="1" i="1" baseline="0" smtClean="0">
                <a:solidFill>
                  <a:srgbClr val="101820"/>
                </a:solidFill>
                <a:latin typeface="Verdana"/>
              </a:rPr>
              <a:t> int </a:t>
            </a:r>
            <a:r>
              <a:rPr lang="en-US" b="1" i="1" baseline="0" smtClean="0">
                <a:solidFill>
                  <a:srgbClr val="4F81BD"/>
                </a:solidFill>
                <a:latin typeface="Cambria"/>
              </a:rPr>
              <a:t>is a keyword.</a:t>
            </a:r>
          </a:p>
          <a:p>
            <a:pPr marR="0" lvl="2" rtl="0"/>
            <a:r>
              <a:rPr lang="en-US" b="1" i="1" baseline="0" smtClean="0">
                <a:solidFill>
                  <a:srgbClr val="4F81BD"/>
                </a:solidFill>
                <a:latin typeface="Cambria"/>
              </a:rPr>
              <a:t>Ex:</a:t>
            </a:r>
          </a:p>
          <a:p>
            <a:pPr marR="0" lvl="2" rtl="0"/>
            <a:r>
              <a:rPr lang="en-US" b="1" i="1" baseline="0" smtClean="0">
                <a:solidFill>
                  <a:srgbClr val="4F81BD"/>
                </a:solidFill>
                <a:latin typeface="Consolas"/>
              </a:rPr>
              <a:t>int money;</a:t>
            </a:r>
          </a:p>
          <a:p>
            <a:pPr marR="0" lvl="2" rtl="0"/>
            <a:r>
              <a:rPr lang="en-US" b="1" i="1" baseline="0" smtClean="0">
                <a:solidFill>
                  <a:srgbClr val="4F81BD"/>
                </a:solidFill>
                <a:latin typeface="Consolas"/>
              </a:rPr>
              <a:t>double accountBalance;</a:t>
            </a:r>
          </a:p>
          <a:p>
            <a:pPr marR="0" lvl="2" rtl="0"/>
            <a:r>
              <a:rPr lang="en-US" b="1" i="1" baseline="0" smtClean="0">
                <a:solidFill>
                  <a:srgbClr val="4F81BD"/>
                </a:solidFill>
                <a:latin typeface="Cambria"/>
              </a:rPr>
              <a:t>Identifier is like a word</a:t>
            </a:r>
          </a:p>
          <a:p>
            <a:pPr marR="0" lvl="2" rtl="0"/>
            <a:r>
              <a:rPr lang="en-US" b="1" i="1" baseline="0" smtClean="0">
                <a:solidFill>
                  <a:srgbClr val="4F81BD"/>
                </a:solidFill>
                <a:latin typeface="Cambria"/>
              </a:rPr>
              <a:t>Instruction is like a sentence</a:t>
            </a:r>
          </a:p>
          <a:p>
            <a:pPr marR="0" lvl="0" rtl="0"/>
            <a:endParaRPr lang="en-US" b="1" baseline="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Constant</a:t>
            </a:r>
            <a:endParaRPr lang="en-US" b="1" baseline="0" smtClean="0">
              <a:solidFill>
                <a:srgbClr val="365F91"/>
              </a:solidFill>
              <a:latin typeface="Times New Roman"/>
            </a:endParaRPr>
          </a:p>
        </p:txBody>
      </p:sp>
      <p:sp>
        <p:nvSpPr>
          <p:cNvPr id="3" name="Text Placeholder 2"/>
          <p:cNvSpPr>
            <a:spLocks noGrp="1"/>
          </p:cNvSpPr>
          <p:nvPr>
            <p:ph type="body" idx="1"/>
          </p:nvPr>
        </p:nvSpPr>
        <p:spPr/>
        <p:txBody>
          <a:bodyPr/>
          <a:lstStyle/>
          <a:p>
            <a:pPr marR="0" lvl="2" rtl="0"/>
            <a:r>
              <a:rPr lang="en-US" b="1" i="1" baseline="0" smtClean="0">
                <a:solidFill>
                  <a:srgbClr val="4F81BD"/>
                </a:solidFill>
                <a:latin typeface="Cambria"/>
              </a:rPr>
              <a:t>Any information is Constant</a:t>
            </a:r>
          </a:p>
          <a:p>
            <a:pPr marR="0" lvl="2" rtl="0"/>
            <a:r>
              <a:rPr lang="en-US" b="1" i="1" baseline="0" smtClean="0">
                <a:solidFill>
                  <a:srgbClr val="4F81BD"/>
                </a:solidFill>
                <a:latin typeface="Cambria"/>
              </a:rPr>
              <a:t>Data = Constant = Information</a:t>
            </a:r>
          </a:p>
          <a:p>
            <a:pPr marR="0" lvl="0" rtl="0"/>
            <a:endParaRPr lang="en-US" b="1" baseline="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Types of Constants</a:t>
            </a:r>
            <a:endParaRPr lang="en-US" b="1" baseline="0" smtClean="0">
              <a:solidFill>
                <a:srgbClr val="365F91"/>
              </a:solidFill>
              <a:latin typeface="Times New Roman"/>
            </a:endParaRPr>
          </a:p>
        </p:txBody>
      </p:sp>
      <p:sp>
        <p:nvSpPr>
          <p:cNvPr id="3" name="Text Placeholder 2"/>
          <p:cNvSpPr>
            <a:spLocks noGrp="1"/>
          </p:cNvSpPr>
          <p:nvPr>
            <p:ph type="body" idx="1"/>
          </p:nvPr>
        </p:nvSpPr>
        <p:spPr/>
        <p:txBody>
          <a:bodyPr>
            <a:normAutofit fontScale="85000" lnSpcReduction="20000"/>
          </a:bodyPr>
          <a:lstStyle/>
          <a:p>
            <a:pPr marR="0" lvl="0" rtl="0"/>
            <a:r>
              <a:rPr lang="en-US" b="1" baseline="0" smtClean="0">
                <a:solidFill>
                  <a:srgbClr val="4F81BD"/>
                </a:solidFill>
                <a:latin typeface="Cambria"/>
              </a:rPr>
              <a:t>Primary</a:t>
            </a:r>
          </a:p>
          <a:p>
            <a:pPr marR="0" lvl="2" rtl="0"/>
            <a:r>
              <a:rPr lang="en-US" b="1" i="1" baseline="0" smtClean="0">
                <a:solidFill>
                  <a:srgbClr val="4F81BD"/>
                </a:solidFill>
                <a:latin typeface="Cambria"/>
              </a:rPr>
              <a:t>Integer (2, -34 , 0)</a:t>
            </a:r>
          </a:p>
          <a:p>
            <a:pPr marR="0" lvl="2" rtl="0"/>
            <a:r>
              <a:rPr lang="en-US" b="1" i="1" baseline="0" smtClean="0">
                <a:solidFill>
                  <a:srgbClr val="4F81BD"/>
                </a:solidFill>
                <a:latin typeface="Cambria"/>
              </a:rPr>
              <a:t>Real (3.4 , 0.06 )</a:t>
            </a:r>
          </a:p>
          <a:p>
            <a:pPr marR="0" lvl="2" rtl="0"/>
            <a:r>
              <a:rPr lang="en-US" b="1" i="1" baseline="0" smtClean="0">
                <a:solidFill>
                  <a:srgbClr val="4F81BD"/>
                </a:solidFill>
                <a:latin typeface="Cambria"/>
              </a:rPr>
              <a:t>Character ( Single quote, lenghth one)</a:t>
            </a:r>
          </a:p>
          <a:p>
            <a:pPr marR="0" lvl="0" rtl="0"/>
            <a:r>
              <a:rPr lang="en-US" b="1" baseline="0" smtClean="0">
                <a:solidFill>
                  <a:srgbClr val="4F81BD"/>
                </a:solidFill>
                <a:latin typeface="Cambria"/>
              </a:rPr>
              <a:t>Secondary (Secondary constant made with the help of primary constant)</a:t>
            </a:r>
          </a:p>
          <a:p>
            <a:pPr marR="0" lvl="2" rtl="0"/>
            <a:r>
              <a:rPr lang="en-US" b="1" i="1" baseline="0" smtClean="0">
                <a:solidFill>
                  <a:srgbClr val="4F81BD"/>
                </a:solidFill>
                <a:latin typeface="Cambria"/>
              </a:rPr>
              <a:t>Array</a:t>
            </a:r>
          </a:p>
          <a:p>
            <a:pPr marR="0" lvl="2" rtl="0"/>
            <a:r>
              <a:rPr lang="en-US" b="1" i="1" baseline="0" smtClean="0">
                <a:solidFill>
                  <a:srgbClr val="4F81BD"/>
                </a:solidFill>
                <a:latin typeface="Cambria"/>
              </a:rPr>
              <a:t>String ( e.g “Rahul” )</a:t>
            </a:r>
          </a:p>
          <a:p>
            <a:pPr marR="0" lvl="2" rtl="0"/>
            <a:r>
              <a:rPr lang="en-US" b="1" i="1" baseline="0" smtClean="0">
                <a:solidFill>
                  <a:srgbClr val="4F81BD"/>
                </a:solidFill>
                <a:latin typeface="Cambria"/>
              </a:rPr>
              <a:t>Pointer</a:t>
            </a:r>
          </a:p>
          <a:p>
            <a:pPr marR="0" lvl="2" rtl="0"/>
            <a:r>
              <a:rPr lang="en-US" b="1" i="1" baseline="0" smtClean="0">
                <a:solidFill>
                  <a:srgbClr val="4F81BD"/>
                </a:solidFill>
                <a:latin typeface="Cambria"/>
              </a:rPr>
              <a:t>Union</a:t>
            </a:r>
          </a:p>
          <a:p>
            <a:pPr marR="0" lvl="2" rtl="0"/>
            <a:r>
              <a:rPr lang="en-US" b="1" i="1" baseline="0" smtClean="0">
                <a:solidFill>
                  <a:srgbClr val="4F81BD"/>
                </a:solidFill>
                <a:latin typeface="Cambria"/>
              </a:rPr>
              <a:t>Structure</a:t>
            </a:r>
          </a:p>
          <a:p>
            <a:pPr marR="0" lvl="2" rtl="0"/>
            <a:r>
              <a:rPr lang="en-US" b="1" i="1" baseline="0" smtClean="0">
                <a:solidFill>
                  <a:srgbClr val="4F81BD"/>
                </a:solidFill>
                <a:latin typeface="Cambria"/>
              </a:rPr>
              <a:t>Enumerator</a:t>
            </a:r>
          </a:p>
          <a:p>
            <a:pPr marR="0" lvl="2" rtl="0"/>
            <a:r>
              <a:rPr lang="en-US" b="1" i="1" baseline="0" smtClean="0">
                <a:solidFill>
                  <a:srgbClr val="4F81BD"/>
                </a:solidFill>
                <a:latin typeface="Cambria"/>
              </a:rPr>
              <a:t>Class</a:t>
            </a:r>
            <a:endParaRPr lang="en-US" b="1" i="1" baseline="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marR="0" rtl="0"/>
            <a:r>
              <a:rPr lang="en-US" b="1" baseline="0" smtClean="0">
                <a:solidFill>
                  <a:srgbClr val="365F91"/>
                </a:solidFill>
                <a:latin typeface="Cambria"/>
              </a:rPr>
              <a:t>Process Memory</a:t>
            </a:r>
          </a:p>
        </p:txBody>
      </p:sp>
      <p:sp>
        <p:nvSpPr>
          <p:cNvPr id="3" name="Text Placeholder 2"/>
          <p:cNvSpPr>
            <a:spLocks noGrp="1"/>
          </p:cNvSpPr>
          <p:nvPr>
            <p:ph type="body" idx="1"/>
          </p:nvPr>
        </p:nvSpPr>
        <p:spPr>
          <a:xfrm>
            <a:off x="457200" y="5029200"/>
            <a:ext cx="8229600" cy="1143000"/>
          </a:xfrm>
        </p:spPr>
        <p:txBody>
          <a:bodyPr>
            <a:normAutofit fontScale="92500"/>
          </a:bodyPr>
          <a:lstStyle/>
          <a:p>
            <a:pPr marR="0" lvl="0" rtl="0"/>
            <a:r>
              <a:rPr lang="en-US" b="1" baseline="0" dirty="0" smtClean="0">
                <a:solidFill>
                  <a:srgbClr val="4F81BD"/>
                </a:solidFill>
                <a:latin typeface="Cambria"/>
              </a:rPr>
              <a:t>Variable are the names of memory locations where we store data. (We will learn later )</a:t>
            </a: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p:txBody>
      </p:sp>
      <p:pic>
        <p:nvPicPr>
          <p:cNvPr id="4" name="Picture 3" descr="C:\Users\User\Desktop\Untitled.jpg"/>
          <p:cNvPicPr/>
          <p:nvPr/>
        </p:nvPicPr>
        <p:blipFill>
          <a:blip r:embed="rId2" cstate="print"/>
          <a:srcRect/>
          <a:stretch>
            <a:fillRect/>
          </a:stretch>
        </p:blipFill>
        <p:spPr bwMode="auto">
          <a:xfrm>
            <a:off x="609600" y="1295400"/>
            <a:ext cx="8001000" cy="38099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rPr>
              <a:t>Objective :5</a:t>
            </a:r>
            <a:endParaRPr lang="en-US" b="1" dirty="0">
              <a:solidFill>
                <a:schemeClr val="accent1">
                  <a:lumMod val="75000"/>
                </a:schemeClr>
              </a:solidFill>
            </a:endParaRPr>
          </a:p>
        </p:txBody>
      </p:sp>
      <p:sp>
        <p:nvSpPr>
          <p:cNvPr id="3" name="Text Placeholder 2"/>
          <p:cNvSpPr>
            <a:spLocks noGrp="1"/>
          </p:cNvSpPr>
          <p:nvPr>
            <p:ph type="body" idx="1"/>
          </p:nvPr>
        </p:nvSpPr>
        <p:spPr/>
        <p:txBody>
          <a:bodyPr/>
          <a:lstStyle/>
          <a:p>
            <a:pPr lvl="1"/>
            <a:r>
              <a:rPr lang="en-US" b="1" dirty="0" smtClean="0">
                <a:solidFill>
                  <a:srgbClr val="4F81BD"/>
                </a:solidFill>
                <a:latin typeface="Cambria"/>
              </a:rPr>
              <a:t>Variable</a:t>
            </a:r>
          </a:p>
          <a:p>
            <a:pPr lvl="1"/>
            <a:r>
              <a:rPr lang="en-US" b="1" dirty="0" smtClean="0">
                <a:solidFill>
                  <a:srgbClr val="4F81BD"/>
                </a:solidFill>
                <a:latin typeface="Cambria"/>
              </a:rPr>
              <a:t>Data Types</a:t>
            </a:r>
          </a:p>
          <a:p>
            <a:pPr lvl="1"/>
            <a:r>
              <a:rPr lang="en-US" b="1" dirty="0" smtClean="0">
                <a:solidFill>
                  <a:srgbClr val="4F81BD"/>
                </a:solidFill>
                <a:latin typeface="Cambria"/>
              </a:rPr>
              <a:t>Declaration Different Types of Variable</a:t>
            </a:r>
          </a:p>
          <a:p>
            <a:pPr lvl="1"/>
            <a:r>
              <a:rPr lang="en-US" b="1" dirty="0" smtClean="0">
                <a:solidFill>
                  <a:srgbClr val="4F81BD"/>
                </a:solidFill>
                <a:latin typeface="Cambria"/>
              </a:rPr>
              <a:t>Operator and Expressions</a:t>
            </a:r>
          </a:p>
          <a:p>
            <a:pPr>
              <a:buNone/>
            </a:pP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solidFill>
                  <a:schemeClr val="accent1">
                    <a:lumMod val="75000"/>
                  </a:schemeClr>
                </a:solidFill>
              </a:rPr>
              <a:t>Variable</a:t>
            </a:r>
            <a:endParaRPr lang="en-US" b="1" dirty="0">
              <a:solidFill>
                <a:schemeClr val="accent1">
                  <a:lumMod val="75000"/>
                </a:schemeClr>
              </a:solidFill>
            </a:endParaRPr>
          </a:p>
        </p:txBody>
      </p:sp>
      <p:sp>
        <p:nvSpPr>
          <p:cNvPr id="4" name="Rectangle 3"/>
          <p:cNvSpPr/>
          <p:nvPr/>
        </p:nvSpPr>
        <p:spPr>
          <a:xfrm>
            <a:off x="457200" y="1143000"/>
            <a:ext cx="8229600" cy="1323439"/>
          </a:xfrm>
          <a:prstGeom prst="rect">
            <a:avLst/>
          </a:prstGeom>
        </p:spPr>
        <p:txBody>
          <a:bodyPr wrap="square">
            <a:spAutoFit/>
          </a:bodyPr>
          <a:lstStyle/>
          <a:p>
            <a:pPr algn="just">
              <a:buNone/>
            </a:pPr>
            <a:r>
              <a:rPr lang="en-US" sz="2000" dirty="0" smtClean="0">
                <a:solidFill>
                  <a:schemeClr val="accent1">
                    <a:lumMod val="75000"/>
                  </a:schemeClr>
                </a:solidFill>
              </a:rPr>
              <a:t>A variable is a name that may be used to store a data value. Unlike constant, variables are changeable, we can change value of a variable during execution of a program. A programmer can choose a meaningful variable name. Example : average, height, age, total etc.</a:t>
            </a:r>
          </a:p>
        </p:txBody>
      </p:sp>
      <p:sp>
        <p:nvSpPr>
          <p:cNvPr id="5" name="Rectangle 4"/>
          <p:cNvSpPr/>
          <p:nvPr/>
        </p:nvSpPr>
        <p:spPr>
          <a:xfrm>
            <a:off x="2819400" y="2819400"/>
            <a:ext cx="3962400" cy="461665"/>
          </a:xfrm>
          <a:prstGeom prst="rect">
            <a:avLst/>
          </a:prstGeom>
        </p:spPr>
        <p:txBody>
          <a:bodyPr wrap="square">
            <a:spAutoFit/>
          </a:bodyPr>
          <a:lstStyle/>
          <a:p>
            <a:pPr algn="ctr"/>
            <a:r>
              <a:rPr lang="en-US" sz="2400" b="1" dirty="0" smtClean="0">
                <a:solidFill>
                  <a:schemeClr val="accent1">
                    <a:lumMod val="75000"/>
                  </a:schemeClr>
                </a:solidFill>
              </a:rPr>
              <a:t>Rules to define variable name</a:t>
            </a:r>
            <a:endParaRPr lang="en-US" sz="2400" b="1" dirty="0">
              <a:solidFill>
                <a:schemeClr val="accent1">
                  <a:lumMod val="75000"/>
                </a:schemeClr>
              </a:solidFill>
            </a:endParaRPr>
          </a:p>
        </p:txBody>
      </p:sp>
      <p:sp>
        <p:nvSpPr>
          <p:cNvPr id="50177" name="Rectangle 1"/>
          <p:cNvSpPr>
            <a:spLocks noChangeArrowheads="1"/>
          </p:cNvSpPr>
          <p:nvPr/>
        </p:nvSpPr>
        <p:spPr bwMode="auto">
          <a:xfrm>
            <a:off x="0" y="3429000"/>
            <a:ext cx="9144000" cy="4564298"/>
          </a:xfrm>
          <a:prstGeom prst="rect">
            <a:avLst/>
          </a:prstGeom>
          <a:solidFill>
            <a:srgbClr val="F7F7F9"/>
          </a:solidFill>
          <a:ln w="9525">
            <a:noFill/>
            <a:miter lim="800000"/>
            <a:headEnd/>
            <a:tailEnd/>
          </a:ln>
          <a:effectLst/>
        </p:spPr>
        <p:txBody>
          <a:bodyPr vert="horz" wrap="square" lIns="166635" tIns="0" rIns="0" bIns="88872"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 typeface="Wingdings" pitchFamily="2" charset="2"/>
              <a:buChar char="Ø"/>
              <a:tabLst/>
            </a:pPr>
            <a:endParaRPr kumimoji="0" lang="en-US" sz="20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en-US" sz="2000" b="0" i="0" u="none" strike="noStrike" cap="none" normalizeH="0" baseline="0" dirty="0" smtClean="0">
                <a:ln>
                  <a:noFill/>
                </a:ln>
                <a:solidFill>
                  <a:schemeClr val="accent1">
                    <a:lumMod val="75000"/>
                  </a:schemeClr>
                </a:solidFill>
                <a:effectLst/>
                <a:latin typeface="Times New Roman" pitchFamily="18" charset="0"/>
                <a:cs typeface="Times New Roman" pitchFamily="18" charset="0"/>
              </a:rPr>
              <a:t>Variable name must be </a:t>
            </a:r>
            <a:r>
              <a:rPr kumimoji="0" lang="en-US" sz="2000" b="0" i="0" u="none" strike="noStrike" cap="none" normalizeH="0" baseline="0" dirty="0" err="1" smtClean="0">
                <a:ln>
                  <a:noFill/>
                </a:ln>
                <a:solidFill>
                  <a:schemeClr val="accent1">
                    <a:lumMod val="75000"/>
                  </a:schemeClr>
                </a:solidFill>
                <a:effectLst/>
                <a:latin typeface="Times New Roman" pitchFamily="18" charset="0"/>
                <a:cs typeface="Times New Roman" pitchFamily="18" charset="0"/>
              </a:rPr>
              <a:t>upto</a:t>
            </a:r>
            <a:r>
              <a:rPr kumimoji="0" lang="en-US" sz="2000" b="0" i="0" u="none" strike="noStrike" cap="none" normalizeH="0" baseline="0" dirty="0" smtClean="0">
                <a:ln>
                  <a:noFill/>
                </a:ln>
                <a:solidFill>
                  <a:schemeClr val="accent1">
                    <a:lumMod val="75000"/>
                  </a:schemeClr>
                </a:solidFill>
                <a:effectLst/>
                <a:latin typeface="Times New Roman" pitchFamily="18" charset="0"/>
                <a:cs typeface="Times New Roman" pitchFamily="18" charset="0"/>
              </a:rPr>
              <a:t> 8 characters.</a:t>
            </a:r>
          </a:p>
          <a:p>
            <a:pPr marL="0" marR="0" lvl="0" indent="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en-US" sz="2000" b="0" i="0" u="none" strike="noStrike" cap="none" normalizeH="0" baseline="0" dirty="0" smtClean="0">
                <a:ln>
                  <a:noFill/>
                </a:ln>
                <a:solidFill>
                  <a:schemeClr val="accent1">
                    <a:lumMod val="75000"/>
                  </a:schemeClr>
                </a:solidFill>
                <a:effectLst/>
                <a:latin typeface="Times New Roman" pitchFamily="18" charset="0"/>
                <a:cs typeface="Times New Roman" pitchFamily="18" charset="0"/>
              </a:rPr>
              <a:t>Variable name must not start with a digit.</a:t>
            </a:r>
          </a:p>
          <a:p>
            <a:pPr marL="0" marR="0" lvl="0" indent="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en-US" sz="2000" b="0" i="0" u="none" strike="noStrike" cap="none" normalizeH="0" baseline="0" dirty="0" smtClean="0">
                <a:ln>
                  <a:noFill/>
                </a:ln>
                <a:solidFill>
                  <a:schemeClr val="accent1">
                    <a:lumMod val="75000"/>
                  </a:schemeClr>
                </a:solidFill>
                <a:effectLst/>
                <a:latin typeface="Times New Roman" pitchFamily="18" charset="0"/>
                <a:cs typeface="Times New Roman" pitchFamily="18" charset="0"/>
              </a:rPr>
              <a:t>Variable name can consist of alphabets, digits and special symbols like underscore _.</a:t>
            </a:r>
          </a:p>
          <a:p>
            <a:pPr marL="0" marR="0" lvl="0" indent="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en-US" sz="2000" b="0" i="0" u="none" strike="noStrike" cap="none" normalizeH="0" baseline="0" dirty="0" smtClean="0">
                <a:ln>
                  <a:noFill/>
                </a:ln>
                <a:solidFill>
                  <a:schemeClr val="accent1">
                    <a:lumMod val="75000"/>
                  </a:schemeClr>
                </a:solidFill>
                <a:effectLst/>
                <a:latin typeface="Times New Roman" pitchFamily="18" charset="0"/>
                <a:cs typeface="Times New Roman" pitchFamily="18" charset="0"/>
              </a:rPr>
              <a:t>Blank or spaces are not allowed in variable name.</a:t>
            </a:r>
          </a:p>
          <a:p>
            <a:pPr marL="0" marR="0" lvl="0" indent="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en-US" sz="2000" b="0" i="0" u="none" strike="noStrike" cap="none" normalizeH="0" baseline="0" dirty="0" smtClean="0">
                <a:ln>
                  <a:noFill/>
                </a:ln>
                <a:solidFill>
                  <a:schemeClr val="accent1">
                    <a:lumMod val="75000"/>
                  </a:schemeClr>
                </a:solidFill>
                <a:effectLst/>
                <a:latin typeface="Times New Roman" pitchFamily="18" charset="0"/>
                <a:cs typeface="Times New Roman" pitchFamily="18" charset="0"/>
              </a:rPr>
              <a:t>Keywords are not allowed as variable name.</a:t>
            </a:r>
          </a:p>
          <a:p>
            <a:pPr marL="0" marR="0" lvl="0" indent="0" algn="l" defTabSz="914400" rtl="0" eaLnBrk="0" fontAlgn="base" latinLnBrk="0" hangingPunct="0">
              <a:lnSpc>
                <a:spcPct val="150000"/>
              </a:lnSpc>
              <a:spcBef>
                <a:spcPct val="0"/>
              </a:spcBef>
              <a:spcAft>
                <a:spcPct val="0"/>
              </a:spcAft>
              <a:buClrTx/>
              <a:buSzTx/>
              <a:buFont typeface="Wingdings" pitchFamily="2" charset="2"/>
              <a:buChar char="Ø"/>
              <a:tabLst/>
            </a:pPr>
            <a:r>
              <a:rPr lang="en-US" sz="2000" dirty="0" smtClean="0">
                <a:solidFill>
                  <a:schemeClr val="accent1">
                    <a:lumMod val="75000"/>
                  </a:schemeClr>
                </a:solidFill>
                <a:latin typeface="Times New Roman" pitchFamily="18" charset="0"/>
                <a:cs typeface="Times New Roman" pitchFamily="18" charset="0"/>
              </a:rPr>
              <a:t>The Variable names may be a combination of uppercase and lowercase characters .  Ex: </a:t>
            </a:r>
            <a:r>
              <a:rPr lang="en-US" sz="2000" dirty="0" err="1" smtClean="0">
                <a:solidFill>
                  <a:schemeClr val="accent1">
                    <a:lumMod val="75000"/>
                  </a:schemeClr>
                </a:solidFill>
                <a:latin typeface="Times New Roman" pitchFamily="18" charset="0"/>
                <a:cs typeface="Times New Roman" pitchFamily="18" charset="0"/>
              </a:rPr>
              <a:t>suM</a:t>
            </a:r>
            <a:r>
              <a:rPr lang="en-US" sz="2000" dirty="0" smtClean="0">
                <a:solidFill>
                  <a:schemeClr val="accent1">
                    <a:lumMod val="75000"/>
                  </a:schemeClr>
                </a:solidFill>
                <a:latin typeface="Times New Roman" pitchFamily="18" charset="0"/>
                <a:cs typeface="Times New Roman" pitchFamily="18" charset="0"/>
              </a:rPr>
              <a:t> and sum are not the same</a:t>
            </a:r>
            <a:endParaRPr kumimoji="0" lang="en-US" sz="2000" b="0" i="0" u="none" strike="noStrike" cap="none" normalizeH="0" baseline="0" dirty="0" smtClean="0">
              <a:ln>
                <a:noFill/>
              </a:ln>
              <a:solidFill>
                <a:schemeClr val="accent1">
                  <a:lumMod val="75000"/>
                </a:schemeClr>
              </a:solidFill>
              <a:effectLst/>
              <a:latin typeface="Times New Roman" pitchFamily="18" charset="0"/>
              <a:cs typeface="Times New Roman" pitchFamily="18" charset="0"/>
            </a:endParaRPr>
          </a:p>
          <a:p>
            <a:pPr marL="0" marR="0" lvl="0" indent="0" algn="l" defTabSz="914400" rtl="0" eaLnBrk="0" fontAlgn="base" latinLnBrk="0" hangingPunct="0">
              <a:lnSpc>
                <a:spcPct val="15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r>
            <a:br>
              <a:rPr kumimoji="0" lang="en-US" b="0" i="0" u="none" strike="noStrike" cap="none" normalizeH="0" baseline="0" dirty="0" smtClean="0">
                <a:ln>
                  <a:noFill/>
                </a:ln>
                <a:solidFill>
                  <a:schemeClr val="tx1"/>
                </a:solidFill>
                <a:effectLst/>
                <a:latin typeface="Times New Roman" pitchFamily="18" charset="0"/>
                <a:cs typeface="Times New Roman" pitchFamily="18" charset="0"/>
              </a:rPr>
            </a:b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152401"/>
            <a:ext cx="8229600" cy="2431435"/>
          </a:xfrm>
          <a:prstGeom prst="rect">
            <a:avLst/>
          </a:prstGeom>
        </p:spPr>
        <p:txBody>
          <a:bodyPr wrap="square">
            <a:spAutoFit/>
          </a:bodyPr>
          <a:lstStyle/>
          <a:p>
            <a:pPr algn="ctr"/>
            <a:r>
              <a:rPr lang="en-US" sz="2800" b="1" dirty="0" smtClean="0">
                <a:solidFill>
                  <a:schemeClr val="accent1">
                    <a:lumMod val="75000"/>
                  </a:schemeClr>
                </a:solidFill>
                <a:latin typeface="Times New Roman" pitchFamily="18" charset="0"/>
                <a:cs typeface="Times New Roman" pitchFamily="18" charset="0"/>
              </a:rPr>
              <a:t>Data types in C Language</a:t>
            </a:r>
          </a:p>
          <a:p>
            <a:pPr algn="ctr"/>
            <a:endParaRPr lang="en-US" sz="2800" b="1" dirty="0" smtClean="0">
              <a:solidFill>
                <a:schemeClr val="accent1">
                  <a:lumMod val="75000"/>
                </a:schemeClr>
              </a:solidFill>
              <a:latin typeface="Times New Roman" pitchFamily="18" charset="0"/>
              <a:cs typeface="Times New Roman" pitchFamily="18" charset="0"/>
            </a:endParaRPr>
          </a:p>
          <a:p>
            <a:pPr algn="just"/>
            <a:r>
              <a:rPr lang="en-US" sz="2400" dirty="0" smtClean="0">
                <a:solidFill>
                  <a:schemeClr val="accent1">
                    <a:lumMod val="75000"/>
                  </a:schemeClr>
                </a:solidFill>
                <a:latin typeface="Times New Roman" pitchFamily="18" charset="0"/>
                <a:cs typeface="Times New Roman" pitchFamily="18" charset="0"/>
              </a:rPr>
              <a:t>Data types specify how we enter data into our programs and what type of data we enter. C language has some predefined set of data types to handle various kinds of data that we use in our program. These </a:t>
            </a:r>
            <a:r>
              <a:rPr lang="en-US" sz="2400" dirty="0" err="1" smtClean="0">
                <a:solidFill>
                  <a:schemeClr val="accent1">
                    <a:lumMod val="75000"/>
                  </a:schemeClr>
                </a:solidFill>
                <a:latin typeface="Times New Roman" pitchFamily="18" charset="0"/>
                <a:cs typeface="Times New Roman" pitchFamily="18" charset="0"/>
              </a:rPr>
              <a:t>datatypes</a:t>
            </a:r>
            <a:r>
              <a:rPr lang="en-US" sz="2400" dirty="0" smtClean="0">
                <a:solidFill>
                  <a:schemeClr val="accent1">
                    <a:lumMod val="75000"/>
                  </a:schemeClr>
                </a:solidFill>
                <a:latin typeface="Times New Roman" pitchFamily="18" charset="0"/>
                <a:cs typeface="Times New Roman" pitchFamily="18" charset="0"/>
              </a:rPr>
              <a:t> have different storage capacities.</a:t>
            </a:r>
            <a:endParaRPr lang="en-US" sz="2400" dirty="0">
              <a:solidFill>
                <a:schemeClr val="accent1">
                  <a:lumMod val="75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8200" y="152400"/>
            <a:ext cx="7772400" cy="400110"/>
          </a:xfrm>
          <a:prstGeom prst="rect">
            <a:avLst/>
          </a:prstGeom>
        </p:spPr>
        <p:txBody>
          <a:bodyPr wrap="square">
            <a:spAutoFit/>
          </a:bodyPr>
          <a:lstStyle/>
          <a:p>
            <a:pPr algn="ctr"/>
            <a:r>
              <a:rPr lang="en-US" sz="2000" b="1" dirty="0" smtClean="0">
                <a:solidFill>
                  <a:schemeClr val="accent1">
                    <a:lumMod val="75000"/>
                  </a:schemeClr>
                </a:solidFill>
              </a:rPr>
              <a:t>Size and Range  and Control Strings of Data type on 16-bit Compiler</a:t>
            </a:r>
            <a:endParaRPr lang="en-US" sz="2000" b="1" dirty="0">
              <a:solidFill>
                <a:schemeClr val="accent1">
                  <a:lumMod val="75000"/>
                </a:schemeClr>
              </a:solidFill>
            </a:endParaRPr>
          </a:p>
        </p:txBody>
      </p:sp>
      <p:graphicFrame>
        <p:nvGraphicFramePr>
          <p:cNvPr id="9" name="Table 8"/>
          <p:cNvGraphicFramePr>
            <a:graphicFrameLocks noGrp="1"/>
          </p:cNvGraphicFramePr>
          <p:nvPr/>
        </p:nvGraphicFramePr>
        <p:xfrm>
          <a:off x="304800" y="685803"/>
          <a:ext cx="8534400" cy="5791192"/>
        </p:xfrm>
        <a:graphic>
          <a:graphicData uri="http://schemas.openxmlformats.org/drawingml/2006/table">
            <a:tbl>
              <a:tblPr/>
              <a:tblGrid>
                <a:gridCol w="2499933"/>
                <a:gridCol w="1254189"/>
                <a:gridCol w="3124917"/>
                <a:gridCol w="1655361"/>
              </a:tblGrid>
              <a:tr h="309855">
                <a:tc>
                  <a:txBody>
                    <a:bodyPr/>
                    <a:lstStyle/>
                    <a:p>
                      <a:pPr algn="ctr" fontAlgn="t"/>
                      <a:r>
                        <a:rPr lang="en-US" sz="1600" b="1" i="0" u="none" strike="noStrike" dirty="0">
                          <a:solidFill>
                            <a:schemeClr val="accent1">
                              <a:lumMod val="75000"/>
                            </a:schemeClr>
                          </a:solidFill>
                          <a:latin typeface="+mn-lt"/>
                          <a:cs typeface="Times New Roman" pitchFamily="18" charset="0"/>
                        </a:rPr>
                        <a:t>Type</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t"/>
                      <a:r>
                        <a:rPr lang="en-US" sz="1600" b="1" i="0" u="none" strike="noStrike">
                          <a:solidFill>
                            <a:schemeClr val="accent1">
                              <a:lumMod val="75000"/>
                            </a:schemeClr>
                          </a:solidFill>
                          <a:latin typeface="+mn-lt"/>
                          <a:cs typeface="Times New Roman" pitchFamily="18" charset="0"/>
                        </a:rPr>
                        <a:t>Size(bytes)</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t"/>
                      <a:r>
                        <a:rPr lang="en-US" sz="1600" b="1" i="0" u="none" strike="noStrike">
                          <a:solidFill>
                            <a:schemeClr val="accent1">
                              <a:lumMod val="75000"/>
                            </a:schemeClr>
                          </a:solidFill>
                          <a:latin typeface="+mn-lt"/>
                          <a:cs typeface="Times New Roman" pitchFamily="18" charset="0"/>
                        </a:rPr>
                        <a:t>Range</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t"/>
                      <a:r>
                        <a:rPr lang="en-US" sz="1600" b="1" i="0" u="none" strike="noStrike">
                          <a:solidFill>
                            <a:schemeClr val="accent1">
                              <a:lumMod val="75000"/>
                            </a:schemeClr>
                          </a:solidFill>
                          <a:latin typeface="+mn-lt"/>
                          <a:cs typeface="Times New Roman" pitchFamily="18" charset="0"/>
                        </a:rPr>
                        <a:t>Control String</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r>
              <a:tr h="309855">
                <a:tc>
                  <a:txBody>
                    <a:bodyPr/>
                    <a:lstStyle/>
                    <a:p>
                      <a:pPr algn="ctr" fontAlgn="t"/>
                      <a:r>
                        <a:rPr lang="en-US" sz="1600" b="0" i="0" u="none" strike="noStrike">
                          <a:solidFill>
                            <a:schemeClr val="accent1">
                              <a:lumMod val="75000"/>
                            </a:schemeClr>
                          </a:solidFill>
                          <a:latin typeface="+mn-lt"/>
                          <a:cs typeface="Times New Roman" pitchFamily="18" charset="0"/>
                        </a:rPr>
                        <a:t>char or signed char</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dirty="0">
                          <a:solidFill>
                            <a:schemeClr val="accent1">
                              <a:lumMod val="75000"/>
                            </a:schemeClr>
                          </a:solidFill>
                          <a:latin typeface="+mn-lt"/>
                          <a:cs typeface="Times New Roman" pitchFamily="18" charset="0"/>
                        </a:rPr>
                        <a:t>1</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dirty="0">
                          <a:solidFill>
                            <a:schemeClr val="accent1">
                              <a:lumMod val="75000"/>
                            </a:schemeClr>
                          </a:solidFill>
                          <a:latin typeface="+mn-lt"/>
                          <a:cs typeface="Times New Roman" pitchFamily="18" charset="0"/>
                        </a:rPr>
                        <a:t>-128 to 127</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a:solidFill>
                            <a:schemeClr val="accent1">
                              <a:lumMod val="75000"/>
                            </a:schemeClr>
                          </a:solidFill>
                          <a:latin typeface="+mn-lt"/>
                          <a:cs typeface="Times New Roman" pitchFamily="18" charset="0"/>
                        </a:rPr>
                        <a:t>%c</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t"/>
                      <a:r>
                        <a:rPr lang="en-US" sz="1600" b="0" i="0" u="none" strike="noStrike">
                          <a:solidFill>
                            <a:schemeClr val="accent1">
                              <a:lumMod val="75000"/>
                            </a:schemeClr>
                          </a:solidFill>
                          <a:latin typeface="+mn-lt"/>
                          <a:cs typeface="Times New Roman" pitchFamily="18" charset="0"/>
                        </a:rPr>
                        <a:t>unsigned char</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t"/>
                      <a:r>
                        <a:rPr lang="en-US" sz="1600" b="0" i="0" u="none" strike="noStrike">
                          <a:solidFill>
                            <a:schemeClr val="accent1">
                              <a:lumMod val="75000"/>
                            </a:schemeClr>
                          </a:solidFill>
                          <a:latin typeface="+mn-lt"/>
                          <a:cs typeface="Times New Roman" pitchFamily="18" charset="0"/>
                        </a:rPr>
                        <a:t>1</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t"/>
                      <a:r>
                        <a:rPr lang="en-US" sz="1600" b="0" i="0" u="none" strike="noStrike" dirty="0">
                          <a:solidFill>
                            <a:schemeClr val="accent1">
                              <a:lumMod val="75000"/>
                            </a:schemeClr>
                          </a:solidFill>
                          <a:latin typeface="+mn-lt"/>
                          <a:cs typeface="Times New Roman" pitchFamily="18" charset="0"/>
                        </a:rPr>
                        <a:t>0 to 255</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n-US" sz="1600" b="0" i="0" u="none" strike="noStrike">
                          <a:solidFill>
                            <a:schemeClr val="accent1">
                              <a:lumMod val="75000"/>
                            </a:schemeClr>
                          </a:solidFill>
                          <a:latin typeface="+mn-lt"/>
                          <a:cs typeface="Times New Roman" pitchFamily="18" charset="0"/>
                        </a:rPr>
                        <a:t>%c</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b"/>
                      <a:r>
                        <a:rPr lang="en-US" sz="1600" b="0" i="0" u="none" strike="noStrike">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t"/>
                      <a:r>
                        <a:rPr lang="en-US" sz="1600" b="0" i="0" u="none" strike="noStrike">
                          <a:solidFill>
                            <a:schemeClr val="accent1">
                              <a:lumMod val="75000"/>
                            </a:schemeClr>
                          </a:solidFill>
                          <a:latin typeface="+mn-lt"/>
                          <a:cs typeface="Times New Roman" pitchFamily="18" charset="0"/>
                        </a:rPr>
                        <a:t>int or signed int</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a:solidFill>
                            <a:schemeClr val="accent1">
                              <a:lumMod val="75000"/>
                            </a:schemeClr>
                          </a:solidFill>
                          <a:latin typeface="+mn-lt"/>
                          <a:cs typeface="Times New Roman" pitchFamily="18" charset="0"/>
                        </a:rPr>
                        <a:t>2</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dirty="0">
                          <a:solidFill>
                            <a:schemeClr val="accent1">
                              <a:lumMod val="75000"/>
                            </a:schemeClr>
                          </a:solidFill>
                          <a:latin typeface="+mn-lt"/>
                          <a:cs typeface="Times New Roman" pitchFamily="18" charset="0"/>
                        </a:rPr>
                        <a:t>-32,768 to 32767</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a:solidFill>
                            <a:schemeClr val="accent1">
                              <a:lumMod val="75000"/>
                            </a:schemeClr>
                          </a:solidFill>
                          <a:latin typeface="+mn-lt"/>
                          <a:cs typeface="Times New Roman" pitchFamily="18" charset="0"/>
                        </a:rPr>
                        <a:t>%i or %d</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t"/>
                      <a:r>
                        <a:rPr lang="en-US" sz="1600" b="0" i="0" u="none" strike="noStrike">
                          <a:solidFill>
                            <a:schemeClr val="accent1">
                              <a:lumMod val="75000"/>
                            </a:schemeClr>
                          </a:solidFill>
                          <a:latin typeface="+mn-lt"/>
                          <a:cs typeface="Times New Roman" pitchFamily="18" charset="0"/>
                        </a:rPr>
                        <a:t>unsigned int</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t"/>
                      <a:r>
                        <a:rPr lang="en-US" sz="1600" b="0" i="0" u="none" strike="noStrike">
                          <a:solidFill>
                            <a:schemeClr val="accent1">
                              <a:lumMod val="75000"/>
                            </a:schemeClr>
                          </a:solidFill>
                          <a:latin typeface="+mn-lt"/>
                          <a:cs typeface="Times New Roman" pitchFamily="18" charset="0"/>
                        </a:rPr>
                        <a:t>2</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t"/>
                      <a:r>
                        <a:rPr lang="en-US" sz="1600" b="0" i="0" u="none" strike="noStrike" dirty="0">
                          <a:solidFill>
                            <a:schemeClr val="accent1">
                              <a:lumMod val="75000"/>
                            </a:schemeClr>
                          </a:solidFill>
                          <a:latin typeface="+mn-lt"/>
                          <a:cs typeface="Times New Roman" pitchFamily="18" charset="0"/>
                        </a:rPr>
                        <a:t>0 to 65535</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n-US" sz="1600" b="0" i="0" u="none" strike="noStrike">
                          <a:solidFill>
                            <a:schemeClr val="accent1">
                              <a:lumMod val="75000"/>
                            </a:schemeClr>
                          </a:solidFill>
                          <a:latin typeface="+mn-lt"/>
                          <a:cs typeface="Times New Roman" pitchFamily="18" charset="0"/>
                        </a:rPr>
                        <a:t>%u</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t"/>
                      <a:r>
                        <a:rPr lang="en-US" sz="1600" b="0" i="0" u="none" strike="noStrike">
                          <a:solidFill>
                            <a:schemeClr val="accent1">
                              <a:lumMod val="75000"/>
                            </a:schemeClr>
                          </a:solidFill>
                          <a:latin typeface="+mn-lt"/>
                          <a:cs typeface="Times New Roman" pitchFamily="18" charset="0"/>
                        </a:rPr>
                        <a:t>short int or signed short int</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a:solidFill>
                            <a:schemeClr val="accent1">
                              <a:lumMod val="75000"/>
                            </a:schemeClr>
                          </a:solidFill>
                          <a:latin typeface="+mn-lt"/>
                          <a:cs typeface="Times New Roman" pitchFamily="18" charset="0"/>
                        </a:rPr>
                        <a:t>1</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dirty="0">
                          <a:solidFill>
                            <a:schemeClr val="accent1">
                              <a:lumMod val="75000"/>
                            </a:schemeClr>
                          </a:solidFill>
                          <a:latin typeface="+mn-lt"/>
                          <a:cs typeface="Times New Roman" pitchFamily="18" charset="0"/>
                        </a:rPr>
                        <a:t>-128 to 127</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dirty="0">
                          <a:solidFill>
                            <a:schemeClr val="accent1">
                              <a:lumMod val="75000"/>
                            </a:schemeClr>
                          </a:solidFill>
                          <a:latin typeface="+mn-lt"/>
                          <a:cs typeface="Times New Roman" pitchFamily="18" charset="0"/>
                        </a:rPr>
                        <a:t>%d</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t"/>
                      <a:r>
                        <a:rPr lang="en-US" sz="1600" b="0" i="0" u="none" strike="noStrike">
                          <a:solidFill>
                            <a:schemeClr val="accent1">
                              <a:lumMod val="75000"/>
                            </a:schemeClr>
                          </a:solidFill>
                          <a:latin typeface="+mn-lt"/>
                          <a:cs typeface="Times New Roman" pitchFamily="18" charset="0"/>
                        </a:rPr>
                        <a:t>long int or signed long int</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t"/>
                      <a:r>
                        <a:rPr lang="en-US" sz="1600" b="0" i="0" u="none" strike="noStrike">
                          <a:solidFill>
                            <a:schemeClr val="accent1">
                              <a:lumMod val="75000"/>
                            </a:schemeClr>
                          </a:solidFill>
                          <a:latin typeface="+mn-lt"/>
                          <a:cs typeface="Times New Roman" pitchFamily="18" charset="0"/>
                        </a:rPr>
                        <a:t>4</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t"/>
                      <a:r>
                        <a:rPr lang="en-US" sz="1600" b="0" i="0" u="none" strike="noStrike" dirty="0">
                          <a:solidFill>
                            <a:schemeClr val="accent1">
                              <a:lumMod val="75000"/>
                            </a:schemeClr>
                          </a:solidFill>
                          <a:latin typeface="+mn-lt"/>
                          <a:cs typeface="Times New Roman" pitchFamily="18" charset="0"/>
                        </a:rPr>
                        <a:t>-2,147,483,648 to 2,147,483,647</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n-US" sz="1600" b="0" i="0" u="none" strike="noStrike" dirty="0">
                          <a:solidFill>
                            <a:schemeClr val="accent1">
                              <a:lumMod val="75000"/>
                            </a:schemeClr>
                          </a:solidFill>
                          <a:latin typeface="+mn-lt"/>
                          <a:cs typeface="Times New Roman" pitchFamily="18" charset="0"/>
                        </a:rPr>
                        <a:t>%ld</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t"/>
                      <a:r>
                        <a:rPr lang="en-US" sz="1600" b="0" i="0" u="none" strike="noStrike">
                          <a:solidFill>
                            <a:schemeClr val="accent1">
                              <a:lumMod val="75000"/>
                            </a:schemeClr>
                          </a:solidFill>
                          <a:latin typeface="+mn-lt"/>
                          <a:cs typeface="Times New Roman" pitchFamily="18" charset="0"/>
                        </a:rPr>
                        <a:t>unsigned long int</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a:solidFill>
                            <a:schemeClr val="accent1">
                              <a:lumMod val="75000"/>
                            </a:schemeClr>
                          </a:solidFill>
                          <a:latin typeface="+mn-lt"/>
                          <a:cs typeface="Times New Roman" pitchFamily="18" charset="0"/>
                        </a:rPr>
                        <a:t>4</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a:solidFill>
                            <a:schemeClr val="accent1">
                              <a:lumMod val="75000"/>
                            </a:schemeClr>
                          </a:solidFill>
                          <a:latin typeface="+mn-lt"/>
                          <a:cs typeface="Times New Roman" pitchFamily="18" charset="0"/>
                        </a:rPr>
                        <a:t>0 to 4,294,967,295</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dirty="0">
                          <a:solidFill>
                            <a:schemeClr val="accent1">
                              <a:lumMod val="75000"/>
                            </a:schemeClr>
                          </a:solidFill>
                          <a:latin typeface="+mn-lt"/>
                          <a:cs typeface="Times New Roman" pitchFamily="18" charset="0"/>
                        </a:rPr>
                        <a:t>%</a:t>
                      </a:r>
                      <a:r>
                        <a:rPr lang="en-US" sz="1600" b="0" i="0" u="none" strike="noStrike" dirty="0" err="1">
                          <a:solidFill>
                            <a:schemeClr val="accent1">
                              <a:lumMod val="75000"/>
                            </a:schemeClr>
                          </a:solidFill>
                          <a:latin typeface="+mn-lt"/>
                          <a:cs typeface="Times New Roman" pitchFamily="18" charset="0"/>
                        </a:rPr>
                        <a:t>lu</a:t>
                      </a:r>
                      <a:endParaRPr lang="en-US" sz="1600" b="0" i="0" u="none" strike="noStrike" dirty="0">
                        <a:solidFill>
                          <a:schemeClr val="accent1">
                            <a:lumMod val="75000"/>
                          </a:schemeClr>
                        </a:solidFill>
                        <a:latin typeface="+mn-lt"/>
                        <a:cs typeface="Times New Roman" pitchFamily="18" charset="0"/>
                      </a:endParaRP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b"/>
                      <a:r>
                        <a:rPr lang="en-US" sz="1600" b="0" i="0" u="none" strike="noStrike">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t"/>
                      <a:r>
                        <a:rPr lang="en-US" sz="1600" b="0" i="0" u="none" strike="noStrike">
                          <a:solidFill>
                            <a:schemeClr val="accent1">
                              <a:lumMod val="75000"/>
                            </a:schemeClr>
                          </a:solidFill>
                          <a:latin typeface="+mn-lt"/>
                          <a:cs typeface="Times New Roman" pitchFamily="18" charset="0"/>
                        </a:rPr>
                        <a:t>float</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a:solidFill>
                            <a:schemeClr val="accent1">
                              <a:lumMod val="75000"/>
                            </a:schemeClr>
                          </a:solidFill>
                          <a:latin typeface="+mn-lt"/>
                          <a:cs typeface="Times New Roman" pitchFamily="18" charset="0"/>
                        </a:rPr>
                        <a:t>4</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dirty="0">
                          <a:solidFill>
                            <a:schemeClr val="accent1">
                              <a:lumMod val="75000"/>
                            </a:schemeClr>
                          </a:solidFill>
                          <a:latin typeface="+mn-lt"/>
                          <a:cs typeface="Times New Roman" pitchFamily="18" charset="0"/>
                        </a:rPr>
                        <a:t>3.4E-38 to 3.4E+38</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dirty="0">
                          <a:solidFill>
                            <a:schemeClr val="accent1">
                              <a:lumMod val="75000"/>
                            </a:schemeClr>
                          </a:solidFill>
                          <a:latin typeface="+mn-lt"/>
                          <a:cs typeface="Times New Roman" pitchFamily="18" charset="0"/>
                        </a:rPr>
                        <a:t>%f or %g</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t"/>
                      <a:r>
                        <a:rPr lang="en-US" sz="1600" b="0" i="0" u="none" strike="noStrike">
                          <a:solidFill>
                            <a:schemeClr val="accent1">
                              <a:lumMod val="75000"/>
                            </a:schemeClr>
                          </a:solidFill>
                          <a:latin typeface="+mn-lt"/>
                          <a:cs typeface="Times New Roman" pitchFamily="18" charset="0"/>
                        </a:rPr>
                        <a:t>double</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t"/>
                      <a:r>
                        <a:rPr lang="en-US" sz="1600" b="0" i="0" u="none" strike="noStrike">
                          <a:solidFill>
                            <a:schemeClr val="accent1">
                              <a:lumMod val="75000"/>
                            </a:schemeClr>
                          </a:solidFill>
                          <a:latin typeface="+mn-lt"/>
                          <a:cs typeface="Times New Roman" pitchFamily="18" charset="0"/>
                        </a:rPr>
                        <a:t>8</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t"/>
                      <a:r>
                        <a:rPr lang="en-US" sz="1600" b="0" i="0" u="none" strike="noStrike" dirty="0">
                          <a:solidFill>
                            <a:schemeClr val="accent1">
                              <a:lumMod val="75000"/>
                            </a:schemeClr>
                          </a:solidFill>
                          <a:latin typeface="+mn-lt"/>
                          <a:cs typeface="Times New Roman" pitchFamily="18" charset="0"/>
                        </a:rPr>
                        <a:t>1.7E-308 to 1.7E+308</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9F9"/>
                    </a:solidFill>
                  </a:tcPr>
                </a:tc>
                <a:tc>
                  <a:txBody>
                    <a:bodyPr/>
                    <a:lstStyle/>
                    <a:p>
                      <a:pPr algn="ctr" fontAlgn="b"/>
                      <a:r>
                        <a:rPr lang="en-US" sz="1600" b="0" i="0" u="none" strike="noStrike" dirty="0">
                          <a:solidFill>
                            <a:schemeClr val="accent1">
                              <a:lumMod val="75000"/>
                            </a:schemeClr>
                          </a:solidFill>
                          <a:latin typeface="+mn-lt"/>
                          <a:cs typeface="Times New Roman" pitchFamily="18" charset="0"/>
                        </a:rPr>
                        <a:t>%lf</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t"/>
                      <a:r>
                        <a:rPr lang="en-US" sz="1600" b="0" i="0" u="none" strike="noStrike">
                          <a:solidFill>
                            <a:schemeClr val="accent1">
                              <a:lumMod val="75000"/>
                            </a:schemeClr>
                          </a:solidFill>
                          <a:latin typeface="+mn-lt"/>
                          <a:cs typeface="Times New Roman" pitchFamily="18" charset="0"/>
                        </a:rPr>
                        <a:t>long double</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a:solidFill>
                            <a:schemeClr val="accent1">
                              <a:lumMod val="75000"/>
                            </a:schemeClr>
                          </a:solidFill>
                          <a:latin typeface="+mn-lt"/>
                          <a:cs typeface="Times New Roman" pitchFamily="18" charset="0"/>
                        </a:rPr>
                        <a:t>10</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sz="1600" b="0" i="0" u="none" strike="noStrike" dirty="0">
                          <a:solidFill>
                            <a:schemeClr val="accent1">
                              <a:lumMod val="75000"/>
                            </a:schemeClr>
                          </a:solidFill>
                          <a:latin typeface="+mn-lt"/>
                          <a:cs typeface="Times New Roman" pitchFamily="18" charset="0"/>
                        </a:rPr>
                        <a:t>3.4E-4932 to 1.1E+4932</a:t>
                      </a:r>
                    </a:p>
                  </a:txBody>
                  <a:tcPr marL="9053" marR="9053" marT="90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600" b="0" i="0" u="none" strike="noStrike" dirty="0">
                          <a:solidFill>
                            <a:schemeClr val="accent1">
                              <a:lumMod val="75000"/>
                            </a:schemeClr>
                          </a:solidFill>
                          <a:latin typeface="+mn-lt"/>
                          <a:cs typeface="Times New Roman" pitchFamily="18" charset="0"/>
                        </a:rPr>
                        <a:t>%lf</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b"/>
                      <a:r>
                        <a:rPr lang="en-US" sz="1600" b="0" i="0" u="none" strike="noStrike">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55">
                <a:tc>
                  <a:txBody>
                    <a:bodyPr/>
                    <a:lstStyle/>
                    <a:p>
                      <a:pPr algn="ctr" fontAlgn="b"/>
                      <a:r>
                        <a:rPr lang="en-US" sz="1600" b="0" i="0" u="none" strike="noStrike">
                          <a:solidFill>
                            <a:schemeClr val="accent1">
                              <a:lumMod val="75000"/>
                            </a:schemeClr>
                          </a:solidFill>
                          <a:latin typeface="+mn-lt"/>
                          <a:cs typeface="Times New Roman" pitchFamily="18" charset="0"/>
                        </a:rPr>
                        <a:t>void</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chemeClr val="accent1">
                              <a:lumMod val="75000"/>
                            </a:schemeClr>
                          </a:solidFill>
                          <a:latin typeface="+mn-lt"/>
                          <a:cs typeface="Times New Roman" pitchFamily="18" charset="0"/>
                        </a:rPr>
                        <a:t> </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833512">
                <a:tc gridSpan="4">
                  <a:txBody>
                    <a:bodyPr/>
                    <a:lstStyle/>
                    <a:p>
                      <a:pPr algn="ctr" fontAlgn="b"/>
                      <a:r>
                        <a:rPr lang="en-US" sz="1600" b="1" i="0" u="none" strike="noStrike" dirty="0">
                          <a:solidFill>
                            <a:schemeClr val="accent1">
                              <a:lumMod val="75000"/>
                            </a:schemeClr>
                          </a:solidFill>
                          <a:latin typeface="+mn-lt"/>
                          <a:cs typeface="Times New Roman" pitchFamily="18" charset="0"/>
                        </a:rPr>
                        <a:t>void</a:t>
                      </a:r>
                      <a:r>
                        <a:rPr lang="en-US" sz="1600" b="0" i="0" u="none" strike="noStrike" dirty="0">
                          <a:solidFill>
                            <a:schemeClr val="accent1">
                              <a:lumMod val="75000"/>
                            </a:schemeClr>
                          </a:solidFill>
                          <a:latin typeface="+mn-lt"/>
                          <a:cs typeface="Times New Roman" pitchFamily="18" charset="0"/>
                        </a:rPr>
                        <a:t> type means no value. This is usually used to specify the type of functions. We will learn it later</a:t>
                      </a:r>
                      <a:br>
                        <a:rPr lang="en-US" sz="1600" b="0" i="0" u="none" strike="noStrike" dirty="0">
                          <a:solidFill>
                            <a:schemeClr val="accent1">
                              <a:lumMod val="75000"/>
                            </a:schemeClr>
                          </a:solidFill>
                          <a:latin typeface="+mn-lt"/>
                          <a:cs typeface="Times New Roman" pitchFamily="18" charset="0"/>
                        </a:rPr>
                      </a:br>
                      <a:r>
                        <a:rPr lang="en-US" sz="1600" b="0" i="0" u="none" strike="noStrike" dirty="0">
                          <a:solidFill>
                            <a:schemeClr val="accent1">
                              <a:lumMod val="75000"/>
                            </a:schemeClr>
                          </a:solidFill>
                          <a:latin typeface="+mn-lt"/>
                          <a:cs typeface="Times New Roman" pitchFamily="18" charset="0"/>
                        </a:rPr>
                        <a:t/>
                      </a:r>
                      <a:br>
                        <a:rPr lang="en-US" sz="1600" b="0" i="0" u="none" strike="noStrike" dirty="0">
                          <a:solidFill>
                            <a:schemeClr val="accent1">
                              <a:lumMod val="75000"/>
                            </a:schemeClr>
                          </a:solidFill>
                          <a:latin typeface="+mn-lt"/>
                          <a:cs typeface="Times New Roman" pitchFamily="18" charset="0"/>
                        </a:rPr>
                      </a:br>
                      <a:endParaRPr lang="en-US" sz="1600" b="0" i="0" u="none" strike="noStrike" dirty="0">
                        <a:solidFill>
                          <a:schemeClr val="accent1">
                            <a:lumMod val="75000"/>
                          </a:schemeClr>
                        </a:solidFill>
                        <a:latin typeface="+mn-lt"/>
                        <a:cs typeface="Times New Roman" pitchFamily="18" charset="0"/>
                      </a:endParaRP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r>
              <a:tr h="309855">
                <a:tc gridSpan="4">
                  <a:txBody>
                    <a:bodyPr/>
                    <a:lstStyle/>
                    <a:p>
                      <a:pPr algn="ctr" fontAlgn="b"/>
                      <a:r>
                        <a:rPr lang="en-US" sz="1600" b="1" i="0" u="none" strike="noStrike" dirty="0">
                          <a:solidFill>
                            <a:schemeClr val="accent1">
                              <a:lumMod val="75000"/>
                            </a:schemeClr>
                          </a:solidFill>
                          <a:latin typeface="+mn-lt"/>
                          <a:cs typeface="Times New Roman" pitchFamily="18" charset="0"/>
                        </a:rPr>
                        <a:t>Note:</a:t>
                      </a:r>
                      <a:r>
                        <a:rPr lang="en-US" sz="1600" b="0" i="0" u="none" strike="noStrike" dirty="0">
                          <a:solidFill>
                            <a:schemeClr val="accent1">
                              <a:lumMod val="75000"/>
                            </a:schemeClr>
                          </a:solidFill>
                          <a:latin typeface="+mn-lt"/>
                          <a:cs typeface="Times New Roman" pitchFamily="18" charset="0"/>
                        </a:rPr>
                        <a:t> C program takes 64 Kb memory in RAM on 16 - bit Compiler</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pPr lvl="1" algn="ctr" rtl="0">
              <a:spcBef>
                <a:spcPct val="0"/>
              </a:spcBef>
            </a:pPr>
            <a:r>
              <a:rPr lang="en-US" sz="2400" b="1" dirty="0" smtClean="0">
                <a:solidFill>
                  <a:srgbClr val="4F81BD"/>
                </a:solidFill>
                <a:latin typeface="Cambria"/>
              </a:rPr>
              <a:t>Declaration Different Types of Variable</a:t>
            </a:r>
            <a:br>
              <a:rPr lang="en-US" sz="2400" b="1" dirty="0" smtClean="0">
                <a:solidFill>
                  <a:srgbClr val="4F81BD"/>
                </a:solidFill>
                <a:latin typeface="Cambria"/>
              </a:rPr>
            </a:br>
            <a:endParaRPr lang="en-US" sz="2400" dirty="0"/>
          </a:p>
        </p:txBody>
      </p:sp>
      <p:sp>
        <p:nvSpPr>
          <p:cNvPr id="4" name="Rectangle 3"/>
          <p:cNvSpPr/>
          <p:nvPr/>
        </p:nvSpPr>
        <p:spPr>
          <a:xfrm>
            <a:off x="304800" y="990600"/>
            <a:ext cx="8382000" cy="5632311"/>
          </a:xfrm>
          <a:prstGeom prst="rect">
            <a:avLst/>
          </a:prstGeom>
        </p:spPr>
        <p:txBody>
          <a:bodyPr wrap="square">
            <a:spAutoFit/>
          </a:bodyPr>
          <a:lstStyle/>
          <a:p>
            <a:r>
              <a:rPr lang="en-US" b="1" dirty="0" smtClean="0">
                <a:solidFill>
                  <a:schemeClr val="accent1">
                    <a:lumMod val="75000"/>
                  </a:schemeClr>
                </a:solidFill>
              </a:rPr>
              <a:t>The declaration of variables should be done in the declaration part of the program. The variables must be declared before they are used in the program. </a:t>
            </a:r>
          </a:p>
          <a:p>
            <a:endParaRPr lang="en-US" b="1" dirty="0" smtClean="0">
              <a:solidFill>
                <a:schemeClr val="accent1">
                  <a:lumMod val="75000"/>
                </a:schemeClr>
              </a:solidFill>
            </a:endParaRPr>
          </a:p>
          <a:p>
            <a:r>
              <a:rPr lang="en-US" b="1" dirty="0" smtClean="0">
                <a:solidFill>
                  <a:schemeClr val="accent1">
                    <a:lumMod val="75000"/>
                  </a:schemeClr>
                </a:solidFill>
              </a:rPr>
              <a:t>Declaration provides two things</a:t>
            </a:r>
          </a:p>
          <a:p>
            <a:pPr marL="342900" indent="-342900">
              <a:buFont typeface="+mj-lt"/>
              <a:buAutoNum type="arabicPeriod"/>
            </a:pPr>
            <a:r>
              <a:rPr lang="en-US" b="1" dirty="0" smtClean="0">
                <a:solidFill>
                  <a:schemeClr val="accent1">
                    <a:lumMod val="75000"/>
                  </a:schemeClr>
                </a:solidFill>
              </a:rPr>
              <a:t>Compiler obtains the variable name</a:t>
            </a:r>
          </a:p>
          <a:p>
            <a:pPr marL="342900" indent="-342900">
              <a:buFont typeface="+mj-lt"/>
              <a:buAutoNum type="arabicPeriod"/>
            </a:pPr>
            <a:r>
              <a:rPr lang="en-US" b="1" dirty="0" smtClean="0">
                <a:solidFill>
                  <a:schemeClr val="accent1">
                    <a:lumMod val="75000"/>
                  </a:schemeClr>
                </a:solidFill>
              </a:rPr>
              <a:t>It tells to the compiler data types of the variable being declared and helps in allocating the memory.</a:t>
            </a:r>
          </a:p>
          <a:p>
            <a:pPr marL="342900" indent="-342900">
              <a:buFont typeface="+mj-lt"/>
              <a:buAutoNum type="arabicPeriod"/>
            </a:pPr>
            <a:endParaRPr lang="en-US" b="1" dirty="0" smtClean="0">
              <a:solidFill>
                <a:schemeClr val="accent1">
                  <a:lumMod val="75000"/>
                </a:schemeClr>
              </a:solidFill>
            </a:endParaRPr>
          </a:p>
          <a:p>
            <a:r>
              <a:rPr lang="en-US" b="1" dirty="0" smtClean="0">
                <a:solidFill>
                  <a:schemeClr val="accent1">
                    <a:lumMod val="75000"/>
                  </a:schemeClr>
                </a:solidFill>
              </a:rPr>
              <a:t>The syntax of declaring a variable is as follows.</a:t>
            </a:r>
          </a:p>
          <a:p>
            <a:endParaRPr lang="en-US" b="1" dirty="0" smtClean="0">
              <a:solidFill>
                <a:schemeClr val="accent1">
                  <a:lumMod val="75000"/>
                </a:schemeClr>
              </a:solidFill>
            </a:endParaRPr>
          </a:p>
          <a:p>
            <a:r>
              <a:rPr lang="en-US" b="1" dirty="0" smtClean="0">
                <a:solidFill>
                  <a:schemeClr val="accent1">
                    <a:lumMod val="75000"/>
                  </a:schemeClr>
                </a:solidFill>
              </a:rPr>
              <a:t>Syntax : </a:t>
            </a:r>
            <a:r>
              <a:rPr lang="en-US" b="1" dirty="0" err="1" smtClean="0">
                <a:solidFill>
                  <a:schemeClr val="accent1">
                    <a:lumMod val="75000"/>
                  </a:schemeClr>
                </a:solidFill>
              </a:rPr>
              <a:t>Data_type</a:t>
            </a:r>
            <a:r>
              <a:rPr lang="en-US" b="1" dirty="0" smtClean="0">
                <a:solidFill>
                  <a:schemeClr val="accent1">
                    <a:lumMod val="75000"/>
                  </a:schemeClr>
                </a:solidFill>
              </a:rPr>
              <a:t> </a:t>
            </a:r>
            <a:r>
              <a:rPr lang="en-US" b="1" dirty="0" err="1" smtClean="0">
                <a:solidFill>
                  <a:schemeClr val="accent1">
                    <a:lumMod val="75000"/>
                  </a:schemeClr>
                </a:solidFill>
              </a:rPr>
              <a:t>variable_name</a:t>
            </a:r>
            <a:endParaRPr lang="en-US" b="1" dirty="0" smtClean="0">
              <a:solidFill>
                <a:schemeClr val="accent1">
                  <a:lumMod val="75000"/>
                </a:schemeClr>
              </a:solidFill>
            </a:endParaRPr>
          </a:p>
          <a:p>
            <a:r>
              <a:rPr lang="en-US" b="1" dirty="0" smtClean="0">
                <a:solidFill>
                  <a:schemeClr val="accent1">
                    <a:lumMod val="75000"/>
                  </a:schemeClr>
                </a:solidFill>
              </a:rPr>
              <a:t>Example :</a:t>
            </a:r>
          </a:p>
          <a:p>
            <a:r>
              <a:rPr lang="en-US" b="1" dirty="0" err="1" smtClean="0">
                <a:solidFill>
                  <a:schemeClr val="accent1">
                    <a:lumMod val="75000"/>
                  </a:schemeClr>
                </a:solidFill>
              </a:rPr>
              <a:t>int</a:t>
            </a:r>
            <a:r>
              <a:rPr lang="en-US" b="1" dirty="0" smtClean="0">
                <a:solidFill>
                  <a:schemeClr val="accent1">
                    <a:lumMod val="75000"/>
                  </a:schemeClr>
                </a:solidFill>
              </a:rPr>
              <a:t> age;</a:t>
            </a:r>
          </a:p>
          <a:p>
            <a:r>
              <a:rPr lang="en-US" b="1" dirty="0" smtClean="0">
                <a:solidFill>
                  <a:schemeClr val="accent1">
                    <a:lumMod val="75000"/>
                  </a:schemeClr>
                </a:solidFill>
              </a:rPr>
              <a:t>char m;</a:t>
            </a:r>
          </a:p>
          <a:p>
            <a:r>
              <a:rPr lang="en-US" b="1" dirty="0" smtClean="0">
                <a:solidFill>
                  <a:schemeClr val="accent1">
                    <a:lumMod val="75000"/>
                  </a:schemeClr>
                </a:solidFill>
              </a:rPr>
              <a:t>float s;</a:t>
            </a:r>
          </a:p>
          <a:p>
            <a:r>
              <a:rPr lang="en-US" b="1" dirty="0" smtClean="0">
                <a:solidFill>
                  <a:schemeClr val="accent1">
                    <a:lumMod val="75000"/>
                  </a:schemeClr>
                </a:solidFill>
              </a:rPr>
              <a:t>double k;</a:t>
            </a:r>
          </a:p>
          <a:p>
            <a:r>
              <a:rPr lang="en-US" b="1" dirty="0" err="1" smtClean="0">
                <a:solidFill>
                  <a:schemeClr val="accent1">
                    <a:lumMod val="75000"/>
                  </a:schemeClr>
                </a:solidFill>
              </a:rPr>
              <a:t>int</a:t>
            </a:r>
            <a:r>
              <a:rPr lang="en-US" b="1" dirty="0" smtClean="0">
                <a:solidFill>
                  <a:schemeClr val="accent1">
                    <a:lumMod val="75000"/>
                  </a:schemeClr>
                </a:solidFill>
              </a:rPr>
              <a:t> </a:t>
            </a:r>
            <a:r>
              <a:rPr lang="en-US" b="1" dirty="0" err="1" smtClean="0">
                <a:solidFill>
                  <a:schemeClr val="accent1">
                    <a:lumMod val="75000"/>
                  </a:schemeClr>
                </a:solidFill>
              </a:rPr>
              <a:t>a,b,c</a:t>
            </a:r>
            <a:r>
              <a:rPr lang="en-US" b="1" dirty="0" smtClean="0">
                <a:solidFill>
                  <a:schemeClr val="accent1">
                    <a:lumMod val="75000"/>
                  </a:schemeClr>
                </a:solidFill>
              </a:rPr>
              <a:t>;</a:t>
            </a:r>
          </a:p>
          <a:p>
            <a:endParaRPr lang="en-US" b="1" dirty="0" smtClean="0">
              <a:solidFill>
                <a:schemeClr val="accent1">
                  <a:lumMod val="75000"/>
                </a:schemeClr>
              </a:solidFill>
            </a:endParaRPr>
          </a:p>
          <a:p>
            <a:r>
              <a:rPr lang="en-US" b="1" dirty="0" smtClean="0">
                <a:solidFill>
                  <a:schemeClr val="accent1">
                    <a:lumMod val="75000"/>
                  </a:schemeClr>
                </a:solidFill>
              </a:rPr>
              <a:t>The </a:t>
            </a:r>
            <a:r>
              <a:rPr lang="en-US" b="1" dirty="0" err="1" smtClean="0">
                <a:solidFill>
                  <a:schemeClr val="accent1">
                    <a:lumMod val="75000"/>
                  </a:schemeClr>
                </a:solidFill>
              </a:rPr>
              <a:t>int</a:t>
            </a:r>
            <a:r>
              <a:rPr lang="en-US" b="1" dirty="0" smtClean="0">
                <a:solidFill>
                  <a:schemeClr val="accent1">
                    <a:lumMod val="75000"/>
                  </a:schemeClr>
                </a:solidFill>
              </a:rPr>
              <a:t>, char, float and double are the keywords to represent data types. Commas separate the variables, in case variables are more than one.</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pPr lvl="1" algn="ctr" rtl="0">
              <a:spcBef>
                <a:spcPct val="0"/>
              </a:spcBef>
            </a:pPr>
            <a:r>
              <a:rPr lang="en-US" sz="3200" b="1" dirty="0" smtClean="0">
                <a:solidFill>
                  <a:srgbClr val="4F81BD"/>
                </a:solidFill>
                <a:latin typeface="Cambria"/>
              </a:rPr>
              <a:t>Operator and Expressions</a:t>
            </a:r>
            <a:r>
              <a:rPr lang="en-US" b="1" dirty="0" smtClean="0">
                <a:solidFill>
                  <a:srgbClr val="4F81BD"/>
                </a:solidFill>
                <a:latin typeface="Cambria"/>
              </a:rPr>
              <a:t/>
            </a:r>
            <a:br>
              <a:rPr lang="en-US" b="1" dirty="0" smtClean="0">
                <a:solidFill>
                  <a:srgbClr val="4F81BD"/>
                </a:solidFill>
                <a:latin typeface="Cambria"/>
              </a:rPr>
            </a:br>
            <a:endParaRPr lang="en-US" dirty="0"/>
          </a:p>
        </p:txBody>
      </p:sp>
      <p:sp>
        <p:nvSpPr>
          <p:cNvPr id="46081" name="Rectangle 1"/>
          <p:cNvSpPr>
            <a:spLocks noChangeArrowheads="1"/>
          </p:cNvSpPr>
          <p:nvPr/>
        </p:nvSpPr>
        <p:spPr bwMode="auto">
          <a:xfrm>
            <a:off x="762000" y="838200"/>
            <a:ext cx="7848600" cy="4313961"/>
          </a:xfrm>
          <a:prstGeom prst="rect">
            <a:avLst/>
          </a:prstGeom>
          <a:noFill/>
          <a:ln w="9525">
            <a:noFill/>
            <a:miter lim="800000"/>
            <a:headEnd/>
            <a:tailEnd/>
          </a:ln>
          <a:effectLst/>
        </p:spPr>
        <p:txBody>
          <a:bodyPr vert="horz" wrap="square" lIns="0" tIns="126960" rIns="0"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rgbClr val="4F81BD"/>
                </a:solidFill>
                <a:effectLst/>
                <a:latin typeface="Cambria" pitchFamily="18" charset="0"/>
                <a:ea typeface="Times New Roman" pitchFamily="18" charset="0"/>
                <a:cs typeface="Times New Roman" pitchFamily="18" charset="0"/>
              </a:rPr>
              <a:t>Operators, functions, value and variables are combined together to form expressions.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rgbClr val="4F81BD"/>
                </a:solidFill>
                <a:effectLst/>
                <a:latin typeface="Cambria" pitchFamily="18" charset="0"/>
                <a:ea typeface="Times New Roman" pitchFamily="18" charset="0"/>
                <a:cs typeface="Times New Roman" pitchFamily="18" charset="0"/>
              </a:rPr>
              <a:t>Consider the expression A + B * 5. where, +, * are operators, A, B  are variables, 5 is value and A + B * 5 is an </a:t>
            </a:r>
            <a:r>
              <a:rPr kumimoji="0" lang="en-US" sz="2800" b="1" i="0" u="none" strike="noStrike" cap="none" normalizeH="0" baseline="0" dirty="0" smtClean="0">
                <a:ln>
                  <a:noFill/>
                </a:ln>
                <a:solidFill>
                  <a:srgbClr val="403152"/>
                </a:solidFill>
                <a:effectLst/>
                <a:latin typeface="Cambria" pitchFamily="18" charset="0"/>
                <a:ea typeface="Times New Roman" pitchFamily="18" charset="0"/>
                <a:cs typeface="Times New Roman" pitchFamily="18" charset="0"/>
              </a:rPr>
              <a:t>EXPRESSION</a:t>
            </a:r>
            <a:r>
              <a:rPr kumimoji="0" lang="en-US" sz="2800" b="1" i="0" u="none" strike="noStrike" cap="none" normalizeH="0" baseline="0" dirty="0" smtClean="0">
                <a:ln>
                  <a:noFill/>
                </a:ln>
                <a:solidFill>
                  <a:srgbClr val="4F81BD"/>
                </a:solidFill>
                <a:effectLst/>
                <a:latin typeface="Cambria" pitchFamily="18" charset="0"/>
                <a:ea typeface="Times New Roman" pitchFamily="18" charset="0"/>
                <a:cs typeface="Times New Roman"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dirty="0" smtClean="0">
              <a:ln>
                <a:noFill/>
              </a:ln>
              <a:solidFill>
                <a:srgbClr val="4F81BD"/>
              </a:solidFill>
              <a:effectLst/>
              <a:latin typeface="Cambria" pitchFamily="18" charset="0"/>
              <a:ea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rgbClr val="4F81BD"/>
                </a:solidFill>
                <a:effectLst/>
                <a:latin typeface="Cambria" pitchFamily="18" charset="0"/>
                <a:ea typeface="Times New Roman" pitchFamily="18" charset="0"/>
                <a:cs typeface="Times New Roman" pitchFamily="18" charset="0"/>
              </a:rPr>
              <a:t>The symbols which are used to perform logical and mathematical operations in a C program are called C </a:t>
            </a:r>
            <a:r>
              <a:rPr kumimoji="0" lang="en-US" sz="2800" b="1" i="0" u="none" strike="noStrike" cap="none" normalizeH="0" baseline="0" dirty="0" smtClean="0">
                <a:ln>
                  <a:noFill/>
                </a:ln>
                <a:solidFill>
                  <a:srgbClr val="403152"/>
                </a:solidFill>
                <a:effectLst/>
                <a:latin typeface="Cambria" pitchFamily="18" charset="0"/>
                <a:ea typeface="Times New Roman" pitchFamily="18" charset="0"/>
                <a:cs typeface="Times New Roman" pitchFamily="18" charset="0"/>
              </a:rPr>
              <a:t>OPERATORS</a:t>
            </a:r>
            <a:r>
              <a:rPr kumimoji="0" lang="en-US" sz="2000" b="1" i="0" u="none" strike="noStrike" cap="none" normalizeH="0" baseline="0" dirty="0" smtClean="0">
                <a:ln>
                  <a:noFill/>
                </a:ln>
                <a:solidFill>
                  <a:srgbClr val="403152"/>
                </a:solidFill>
                <a:effectLst/>
                <a:latin typeface="Cambria" pitchFamily="18" charset="0"/>
                <a:ea typeface="Times New Roman" pitchFamily="18" charset="0"/>
                <a:cs typeface="Times New Roman" pitchFamily="18" charset="0"/>
              </a:rPr>
              <a:t>.</a:t>
            </a:r>
            <a:endParaRPr kumimoji="0" lang="en-US" sz="2000" b="1" i="0" u="none" strike="noStrike" cap="none" normalizeH="0" baseline="0" dirty="0" smtClean="0">
              <a:ln>
                <a:noFill/>
              </a:ln>
              <a:solidFill>
                <a:srgbClr val="4F81BD"/>
              </a:solidFill>
              <a:effectLst/>
              <a:latin typeface="Cambria" pitchFamily="18" charset="0"/>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p:cNvSpPr>
            <a:spLocks noChangeArrowheads="1"/>
          </p:cNvSpPr>
          <p:nvPr/>
        </p:nvSpPr>
        <p:spPr bwMode="auto">
          <a:xfrm>
            <a:off x="838200" y="-229390"/>
            <a:ext cx="7467600" cy="1169454"/>
          </a:xfrm>
          <a:prstGeom prst="rect">
            <a:avLst/>
          </a:prstGeom>
          <a:noFill/>
          <a:ln w="9525">
            <a:noFill/>
            <a:miter lim="800000"/>
            <a:headEnd/>
            <a:tailEnd/>
          </a:ln>
          <a:effectLst/>
        </p:spPr>
        <p:txBody>
          <a:bodyPr vert="horz" wrap="square" lIns="0" tIns="304704" rIns="0" bIns="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rgbClr val="365F91"/>
                </a:solidFill>
                <a:effectLst/>
                <a:latin typeface="Cambria" pitchFamily="18" charset="0"/>
                <a:ea typeface="Times New Roman" pitchFamily="18" charset="0"/>
                <a:cs typeface="Times New Roman" pitchFamily="18" charset="0"/>
              </a:rPr>
              <a:t>C language offers many types of operators.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5" name="Table 4"/>
          <p:cNvGraphicFramePr>
            <a:graphicFrameLocks noGrp="1"/>
          </p:cNvGraphicFramePr>
          <p:nvPr/>
        </p:nvGraphicFramePr>
        <p:xfrm>
          <a:off x="457200" y="685803"/>
          <a:ext cx="8382000" cy="5843682"/>
        </p:xfrm>
        <a:graphic>
          <a:graphicData uri="http://schemas.openxmlformats.org/drawingml/2006/table">
            <a:tbl>
              <a:tblPr/>
              <a:tblGrid>
                <a:gridCol w="4329406"/>
                <a:gridCol w="4052594"/>
              </a:tblGrid>
              <a:tr h="619014">
                <a:tc>
                  <a:txBody>
                    <a:bodyPr/>
                    <a:lstStyle/>
                    <a:p>
                      <a:pPr marL="0" marR="0" algn="ctr">
                        <a:lnSpc>
                          <a:spcPct val="115000"/>
                        </a:lnSpc>
                        <a:spcBef>
                          <a:spcPts val="1000"/>
                        </a:spcBef>
                        <a:spcAft>
                          <a:spcPts val="0"/>
                        </a:spcAft>
                      </a:pPr>
                      <a:r>
                        <a:rPr lang="en-US" sz="2400" b="1" dirty="0">
                          <a:solidFill>
                            <a:schemeClr val="accent1">
                              <a:lumMod val="75000"/>
                            </a:schemeClr>
                          </a:solidFill>
                          <a:latin typeface="Times New Roman" pitchFamily="18" charset="0"/>
                          <a:ea typeface="Times New Roman"/>
                          <a:cs typeface="Times New Roman" pitchFamily="18" charset="0"/>
                        </a:rPr>
                        <a:t>Types of Operator</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400" b="1" dirty="0">
                          <a:solidFill>
                            <a:schemeClr val="accent1">
                              <a:lumMod val="75000"/>
                            </a:schemeClr>
                          </a:solidFill>
                          <a:latin typeface="Times New Roman" pitchFamily="18" charset="0"/>
                          <a:ea typeface="Times New Roman"/>
                          <a:cs typeface="Times New Roman" pitchFamily="18" charset="0"/>
                        </a:rPr>
                        <a:t>Symbolic Representation</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9024">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Arithmetic operators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 ,  -  , * , / and  %</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9024">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Relational operators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&gt; ,  &lt; , = = , &gt;=  , &lt;=  and !=</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9024">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Logical operators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&amp;&amp; </a:t>
                      </a:r>
                      <a:r>
                        <a:rPr lang="en-US" sz="2000" b="1" i="1" dirty="0" smtClean="0">
                          <a:solidFill>
                            <a:srgbClr val="4F81BD"/>
                          </a:solidFill>
                          <a:latin typeface="Times New Roman" pitchFamily="18" charset="0"/>
                          <a:ea typeface="Times New Roman"/>
                          <a:cs typeface="Times New Roman" pitchFamily="18" charset="0"/>
                        </a:rPr>
                        <a:t>and  ||</a:t>
                      </a:r>
                      <a:endParaRPr lang="en-US" sz="2000" b="1" i="1" dirty="0">
                        <a:solidFill>
                          <a:srgbClr val="4F81BD"/>
                        </a:solidFill>
                        <a:latin typeface="Times New Roman" pitchFamily="18" charset="0"/>
                        <a:ea typeface="Times New Roman"/>
                        <a:cs typeface="Times New Roman"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9024">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Increment and Decrement operator</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 and --</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9024">
                <a:tc>
                  <a:txBody>
                    <a:bodyPr/>
                    <a:lstStyle/>
                    <a:p>
                      <a:pPr marL="0" marR="0" algn="ctr">
                        <a:lnSpc>
                          <a:spcPct val="115000"/>
                        </a:lnSpc>
                        <a:spcBef>
                          <a:spcPts val="1000"/>
                        </a:spcBef>
                        <a:spcAft>
                          <a:spcPts val="0"/>
                        </a:spcAft>
                      </a:pPr>
                      <a:r>
                        <a:rPr lang="en-US" sz="2000" b="1" i="1">
                          <a:solidFill>
                            <a:srgbClr val="4F81BD"/>
                          </a:solidFill>
                          <a:latin typeface="Times New Roman" pitchFamily="18" charset="0"/>
                          <a:ea typeface="Times New Roman"/>
                          <a:cs typeface="Times New Roman" pitchFamily="18" charset="0"/>
                        </a:rPr>
                        <a:t>Assignment Operator</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9024">
                <a:tc>
                  <a:txBody>
                    <a:bodyPr/>
                    <a:lstStyle/>
                    <a:p>
                      <a:pPr marL="0" marR="0" algn="ctr">
                        <a:lnSpc>
                          <a:spcPct val="115000"/>
                        </a:lnSpc>
                        <a:spcBef>
                          <a:spcPts val="1000"/>
                        </a:spcBef>
                        <a:spcAft>
                          <a:spcPts val="0"/>
                        </a:spcAft>
                      </a:pPr>
                      <a:r>
                        <a:rPr lang="en-US" sz="2000" b="1" i="1">
                          <a:solidFill>
                            <a:srgbClr val="4F81BD"/>
                          </a:solidFill>
                          <a:latin typeface="Times New Roman" pitchFamily="18" charset="0"/>
                          <a:ea typeface="Times New Roman"/>
                          <a:cs typeface="Times New Roman" pitchFamily="18" charset="0"/>
                        </a:rPr>
                        <a:t>Bitwise operators</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&amp; , | , ^ , &gt;&gt; , &lt;&lt; and ~</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9024">
                <a:tc>
                  <a:txBody>
                    <a:bodyPr/>
                    <a:lstStyle/>
                    <a:p>
                      <a:pPr marL="0" marR="0" algn="ctr">
                        <a:lnSpc>
                          <a:spcPct val="115000"/>
                        </a:lnSpc>
                        <a:spcBef>
                          <a:spcPts val="1000"/>
                        </a:spcBef>
                        <a:spcAft>
                          <a:spcPts val="0"/>
                        </a:spcAft>
                      </a:pPr>
                      <a:r>
                        <a:rPr lang="en-US" sz="2000" b="1" i="1">
                          <a:solidFill>
                            <a:srgbClr val="4F81BD"/>
                          </a:solidFill>
                          <a:latin typeface="Times New Roman" pitchFamily="18" charset="0"/>
                          <a:ea typeface="Times New Roman"/>
                          <a:cs typeface="Times New Roman" pitchFamily="18" charset="0"/>
                        </a:rPr>
                        <a:t>Comma operator</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9024">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Conditional operator</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000" b="1" i="1" dirty="0">
                          <a:solidFill>
                            <a:srgbClr val="4F81BD"/>
                          </a:solidFill>
                          <a:latin typeface="Times New Roman" pitchFamily="18" charset="0"/>
                          <a:ea typeface="Times New Roman"/>
                          <a:cs typeface="Times New Roman" pitchFamily="18" charset="0"/>
                        </a:rPr>
                        <a:t>? :</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2476">
                <a:tc>
                  <a:txBody>
                    <a:bodyPr/>
                    <a:lstStyle/>
                    <a:p>
                      <a:pPr marL="0" marR="0" algn="ctr">
                        <a:lnSpc>
                          <a:spcPct val="115000"/>
                        </a:lnSpc>
                        <a:spcBef>
                          <a:spcPts val="1000"/>
                        </a:spcBef>
                        <a:spcAft>
                          <a:spcPts val="0"/>
                        </a:spcAft>
                      </a:pPr>
                      <a:r>
                        <a:rPr lang="en-US" sz="2000" b="1" i="1" dirty="0" smtClean="0">
                          <a:solidFill>
                            <a:srgbClr val="4F81BD"/>
                          </a:solidFill>
                          <a:latin typeface="Times New Roman" pitchFamily="18" charset="0"/>
                          <a:ea typeface="Times New Roman"/>
                          <a:cs typeface="Times New Roman" pitchFamily="18" charset="0"/>
                        </a:rPr>
                        <a:t>Compound Statement Operator</a:t>
                      </a:r>
                      <a:endParaRPr lang="en-US" sz="2000" b="1" i="1" dirty="0">
                        <a:solidFill>
                          <a:srgbClr val="4F81BD"/>
                        </a:solidFill>
                        <a:latin typeface="Times New Roman" pitchFamily="18" charset="0"/>
                        <a:ea typeface="Times New Roman"/>
                        <a:cs typeface="Times New Roman"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000" b="1" i="1" dirty="0" smtClean="0">
                          <a:solidFill>
                            <a:srgbClr val="4F81BD"/>
                          </a:solidFill>
                          <a:latin typeface="Times New Roman" pitchFamily="18" charset="0"/>
                          <a:ea typeface="Times New Roman"/>
                          <a:cs typeface="Times New Roman" pitchFamily="18" charset="0"/>
                        </a:rPr>
                        <a:t>+= , -= ,*= , /=  ,%=</a:t>
                      </a:r>
                    </a:p>
                    <a:p>
                      <a:pPr marL="0" marR="0" algn="ctr">
                        <a:lnSpc>
                          <a:spcPct val="115000"/>
                        </a:lnSpc>
                        <a:spcBef>
                          <a:spcPts val="1000"/>
                        </a:spcBef>
                        <a:spcAft>
                          <a:spcPts val="0"/>
                        </a:spcAft>
                      </a:pPr>
                      <a:r>
                        <a:rPr lang="en-US" sz="2000" b="1" i="1" baseline="0" dirty="0" smtClean="0">
                          <a:solidFill>
                            <a:schemeClr val="accent2">
                              <a:lumMod val="50000"/>
                            </a:schemeClr>
                          </a:solidFill>
                          <a:latin typeface="Times New Roman" pitchFamily="18" charset="0"/>
                          <a:ea typeface="Times New Roman"/>
                          <a:cs typeface="Times New Roman" pitchFamily="18" charset="0"/>
                        </a:rPr>
                        <a:t> </a:t>
                      </a:r>
                      <a:r>
                        <a:rPr lang="en-US" sz="2000" b="1" i="1" baseline="0" dirty="0" err="1" smtClean="0">
                          <a:solidFill>
                            <a:schemeClr val="accent2">
                              <a:lumMod val="50000"/>
                            </a:schemeClr>
                          </a:solidFill>
                          <a:latin typeface="Times New Roman" pitchFamily="18" charset="0"/>
                          <a:ea typeface="Times New Roman"/>
                          <a:cs typeface="Times New Roman" pitchFamily="18" charset="0"/>
                        </a:rPr>
                        <a:t>e.g</a:t>
                      </a:r>
                      <a:r>
                        <a:rPr lang="en-US" sz="2000" b="1" i="1" baseline="0" dirty="0" smtClean="0">
                          <a:solidFill>
                            <a:schemeClr val="accent2">
                              <a:lumMod val="50000"/>
                            </a:schemeClr>
                          </a:solidFill>
                          <a:latin typeface="Times New Roman" pitchFamily="18" charset="0"/>
                          <a:ea typeface="Times New Roman"/>
                          <a:cs typeface="Times New Roman" pitchFamily="18" charset="0"/>
                        </a:rPr>
                        <a:t> </a:t>
                      </a:r>
                      <a:r>
                        <a:rPr lang="en-US" sz="2000" b="1" i="1" baseline="0" dirty="0" err="1" smtClean="0">
                          <a:solidFill>
                            <a:schemeClr val="accent2">
                              <a:lumMod val="50000"/>
                            </a:schemeClr>
                          </a:solidFill>
                          <a:latin typeface="Times New Roman" pitchFamily="18" charset="0"/>
                          <a:ea typeface="Times New Roman"/>
                          <a:cs typeface="Times New Roman" pitchFamily="18" charset="0"/>
                        </a:rPr>
                        <a:t>int</a:t>
                      </a:r>
                      <a:r>
                        <a:rPr lang="en-US" sz="2000" b="1" i="1" baseline="0" dirty="0" smtClean="0">
                          <a:solidFill>
                            <a:schemeClr val="accent2">
                              <a:lumMod val="50000"/>
                            </a:schemeClr>
                          </a:solidFill>
                          <a:latin typeface="Times New Roman" pitchFamily="18" charset="0"/>
                          <a:ea typeface="Times New Roman"/>
                          <a:cs typeface="Times New Roman" pitchFamily="18" charset="0"/>
                        </a:rPr>
                        <a:t> x=2; x+=5;   O/p : x=7</a:t>
                      </a:r>
                      <a:endParaRPr lang="en-US" sz="2000" b="1" i="1" dirty="0">
                        <a:solidFill>
                          <a:schemeClr val="accent2">
                            <a:lumMod val="50000"/>
                          </a:schemeClr>
                        </a:solidFill>
                        <a:latin typeface="Times New Roman" pitchFamily="18" charset="0"/>
                        <a:ea typeface="Times New Roman"/>
                        <a:cs typeface="Times New Roman"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838200"/>
            <a:ext cx="8229600" cy="5287963"/>
          </a:xfrm>
        </p:spPr>
        <p:txBody>
          <a:bodyPr/>
          <a:lstStyle/>
          <a:p>
            <a:pPr>
              <a:buNone/>
            </a:pPr>
            <a:r>
              <a:rPr lang="en-US" sz="2400" b="1" dirty="0" smtClean="0">
                <a:solidFill>
                  <a:schemeClr val="accent1"/>
                </a:solidFill>
              </a:rPr>
              <a:t>Note:</a:t>
            </a:r>
          </a:p>
          <a:p>
            <a:pPr>
              <a:buNone/>
            </a:pPr>
            <a:r>
              <a:rPr lang="en-US" sz="1800" b="1" dirty="0" smtClean="0">
                <a:solidFill>
                  <a:schemeClr val="accent1"/>
                </a:solidFill>
              </a:rPr>
              <a:t>If Logical AND (&amp;&amp;) Operator consist two condition like this e.g. </a:t>
            </a:r>
            <a:r>
              <a:rPr lang="en-US" sz="1800" b="1" dirty="0" smtClean="0">
                <a:solidFill>
                  <a:schemeClr val="accent2">
                    <a:lumMod val="75000"/>
                  </a:schemeClr>
                </a:solidFill>
              </a:rPr>
              <a:t>if( 3&gt;5 &amp;&amp; 4&lt;6)</a:t>
            </a:r>
          </a:p>
          <a:p>
            <a:pPr>
              <a:buNone/>
            </a:pPr>
            <a:r>
              <a:rPr lang="en-US" sz="1800" b="1" dirty="0" smtClean="0">
                <a:solidFill>
                  <a:schemeClr val="accent1"/>
                </a:solidFill>
              </a:rPr>
              <a:t>If first condition is false then control doesn’t check second condition, skip it and go to next statement.</a:t>
            </a:r>
          </a:p>
          <a:p>
            <a:pPr>
              <a:buNone/>
            </a:pPr>
            <a:endParaRPr lang="en-US" sz="1800" b="1" dirty="0" smtClean="0">
              <a:solidFill>
                <a:schemeClr val="accent1"/>
              </a:solidFill>
            </a:endParaRPr>
          </a:p>
          <a:p>
            <a:pPr>
              <a:buNone/>
            </a:pPr>
            <a:r>
              <a:rPr lang="en-US" sz="1800" b="1" dirty="0" smtClean="0">
                <a:solidFill>
                  <a:schemeClr val="accent1"/>
                </a:solidFill>
              </a:rPr>
              <a:t>If Logical OR (||) Operator consist two condition like this e.g. </a:t>
            </a:r>
            <a:r>
              <a:rPr lang="en-US" sz="1800" b="1" dirty="0" smtClean="0">
                <a:solidFill>
                  <a:schemeClr val="accent2">
                    <a:lumMod val="75000"/>
                  </a:schemeClr>
                </a:solidFill>
              </a:rPr>
              <a:t>if( 7&gt;5 || 4&lt;6)</a:t>
            </a:r>
          </a:p>
          <a:p>
            <a:pPr>
              <a:buNone/>
            </a:pPr>
            <a:r>
              <a:rPr lang="en-US" sz="1800" b="1" dirty="0" smtClean="0">
                <a:solidFill>
                  <a:schemeClr val="accent1"/>
                </a:solidFill>
              </a:rPr>
              <a:t>If first condition is true then control doesn’t check second condition, skip it and go to next statement.</a:t>
            </a:r>
          </a:p>
          <a:p>
            <a:pPr>
              <a:buNone/>
            </a:pPr>
            <a:endParaRPr lang="en-US" sz="1800" b="1" dirty="0">
              <a:solidFill>
                <a:schemeClr val="accent1"/>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ph type="body" idx="1"/>
          </p:nvPr>
        </p:nvSpPr>
        <p:spPr>
          <a:xfrm>
            <a:off x="304800" y="838200"/>
            <a:ext cx="8382000" cy="5791200"/>
          </a:xfrm>
        </p:spPr>
        <p:txBody>
          <a:bodyPr>
            <a:normAutofit fontScale="85000" lnSpcReduction="20000"/>
          </a:bodyPr>
          <a:lstStyle/>
          <a:p>
            <a:pPr marR="0" lvl="1" rtl="0"/>
            <a:r>
              <a:rPr lang="en-US" b="1" baseline="0" dirty="0" smtClean="0">
                <a:solidFill>
                  <a:srgbClr val="4F81BD"/>
                </a:solidFill>
                <a:latin typeface="Cambria"/>
              </a:rPr>
              <a:t>A C program basically has the following form:</a:t>
            </a:r>
          </a:p>
          <a:p>
            <a:pPr marR="0" lvl="2" rtl="0"/>
            <a:r>
              <a:rPr lang="en-US" b="1" i="1" baseline="0" dirty="0" smtClean="0">
                <a:solidFill>
                  <a:srgbClr val="4F81BD"/>
                </a:solidFill>
                <a:latin typeface="Cambria"/>
              </a:rPr>
              <a:t>Preprocessor Commands</a:t>
            </a:r>
          </a:p>
          <a:p>
            <a:pPr marR="0" lvl="2" rtl="0"/>
            <a:r>
              <a:rPr lang="en-US" b="1" i="1" baseline="0" dirty="0" smtClean="0">
                <a:solidFill>
                  <a:srgbClr val="4F81BD"/>
                </a:solidFill>
                <a:latin typeface="Cambria"/>
              </a:rPr>
              <a:t>Functions</a:t>
            </a:r>
          </a:p>
          <a:p>
            <a:pPr marR="0" lvl="2" rtl="0"/>
            <a:r>
              <a:rPr lang="en-US" b="1" i="1" baseline="0" dirty="0" smtClean="0">
                <a:solidFill>
                  <a:srgbClr val="4F81BD"/>
                </a:solidFill>
                <a:latin typeface="Cambria"/>
              </a:rPr>
              <a:t>Variables</a:t>
            </a:r>
          </a:p>
          <a:p>
            <a:pPr marR="0" lvl="2" rtl="0"/>
            <a:r>
              <a:rPr lang="en-US" b="1" i="1" baseline="0" dirty="0" smtClean="0">
                <a:solidFill>
                  <a:srgbClr val="4F81BD"/>
                </a:solidFill>
                <a:latin typeface="Cambria"/>
              </a:rPr>
              <a:t>Statements &amp; Expressions</a:t>
            </a:r>
          </a:p>
          <a:p>
            <a:pPr marR="0" lvl="2" rtl="0"/>
            <a:r>
              <a:rPr lang="en-US" b="1" i="1" baseline="0" dirty="0" smtClean="0">
                <a:solidFill>
                  <a:srgbClr val="4F81BD"/>
                </a:solidFill>
                <a:latin typeface="Cambria"/>
              </a:rPr>
              <a:t>Comments</a:t>
            </a:r>
          </a:p>
          <a:p>
            <a:pPr lvl="0">
              <a:buNone/>
            </a:pPr>
            <a:r>
              <a:rPr lang="en-US" b="1" i="1" dirty="0" smtClean="0">
                <a:solidFill>
                  <a:srgbClr val="365F91"/>
                </a:solidFill>
                <a:latin typeface="Cambria"/>
              </a:rPr>
              <a:t>		</a:t>
            </a:r>
          </a:p>
          <a:p>
            <a:pPr marR="0" lvl="2" rtl="0">
              <a:buNone/>
            </a:pPr>
            <a:r>
              <a:rPr lang="en-US" b="1" i="1" baseline="0" dirty="0" smtClean="0">
                <a:solidFill>
                  <a:srgbClr val="4F81BD"/>
                </a:solidFill>
                <a:latin typeface="Cambria"/>
              </a:rPr>
              <a:t>#include &lt;</a:t>
            </a:r>
            <a:r>
              <a:rPr lang="en-US" b="1" i="1" baseline="0" dirty="0" err="1" smtClean="0">
                <a:solidFill>
                  <a:srgbClr val="4F81BD"/>
                </a:solidFill>
                <a:latin typeface="Cambria"/>
              </a:rPr>
              <a:t>stdio.h</a:t>
            </a:r>
            <a:r>
              <a:rPr lang="en-US" b="1" i="1" baseline="0" dirty="0" smtClean="0">
                <a:solidFill>
                  <a:srgbClr val="4F81BD"/>
                </a:solidFill>
                <a:latin typeface="Cambria"/>
              </a:rPr>
              <a:t>&gt;</a:t>
            </a:r>
          </a:p>
          <a:p>
            <a:pPr marR="0" lvl="2" rtl="0">
              <a:buNone/>
            </a:pPr>
            <a:r>
              <a:rPr lang="en-US" b="1" i="1" baseline="0" dirty="0" smtClean="0">
                <a:solidFill>
                  <a:srgbClr val="4F81BD"/>
                </a:solidFill>
                <a:latin typeface="Cambria"/>
              </a:rPr>
              <a:t>#include&lt;</a:t>
            </a:r>
            <a:r>
              <a:rPr lang="en-US" b="1" i="1" baseline="0" dirty="0" err="1" smtClean="0">
                <a:solidFill>
                  <a:srgbClr val="4F81BD"/>
                </a:solidFill>
                <a:latin typeface="Cambria"/>
              </a:rPr>
              <a:t>conio.h</a:t>
            </a:r>
            <a:r>
              <a:rPr lang="en-US" b="1" i="1" baseline="0" dirty="0" smtClean="0">
                <a:solidFill>
                  <a:srgbClr val="4F81BD"/>
                </a:solidFill>
                <a:latin typeface="Cambria"/>
              </a:rPr>
              <a:t>&gt;</a:t>
            </a:r>
          </a:p>
          <a:p>
            <a:pPr marR="0" lvl="2" rtl="0">
              <a:buNone/>
            </a:pPr>
            <a:r>
              <a:rPr lang="en-US" b="1" i="1" baseline="0" dirty="0" smtClean="0">
                <a:solidFill>
                  <a:srgbClr val="4F81BD"/>
                </a:solidFill>
                <a:latin typeface="Cambria"/>
              </a:rPr>
              <a:t>void main()</a:t>
            </a:r>
          </a:p>
          <a:p>
            <a:pPr marR="0" lvl="2" rtl="0">
              <a:buNone/>
            </a:pP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 Simple Hello Program</a:t>
            </a:r>
          </a:p>
          <a:p>
            <a:pPr marR="0" lvl="2" rtl="0">
              <a:buNone/>
            </a:pPr>
            <a:r>
              <a:rPr lang="en-US" b="1" i="1" baseline="0" dirty="0" smtClean="0">
                <a:solidFill>
                  <a:srgbClr val="4F81BD"/>
                </a:solidFill>
                <a:latin typeface="Cambria"/>
              </a:rPr>
              <a:t> /* My first program</a:t>
            </a:r>
          </a:p>
          <a:p>
            <a:pPr marR="0" lvl="2" rtl="0">
              <a:buNone/>
            </a:pPr>
            <a:r>
              <a:rPr lang="en-US" b="1" i="1" baseline="0" dirty="0" smtClean="0">
                <a:solidFill>
                  <a:srgbClr val="4F81BD"/>
                </a:solidFill>
                <a:latin typeface="Cambria"/>
              </a:rPr>
              <a:t>     in C language */</a:t>
            </a:r>
          </a:p>
          <a:p>
            <a:pPr marR="0" lvl="2" rtl="0">
              <a:buNone/>
            </a:pPr>
            <a:r>
              <a:rPr lang="en-US" b="1" i="1" baseline="0" dirty="0" smtClean="0">
                <a:solidFill>
                  <a:srgbClr val="4F81BD"/>
                </a:solidFill>
                <a:latin typeface="Cambria"/>
              </a:rPr>
              <a:t>   </a:t>
            </a:r>
            <a:r>
              <a:rPr lang="en-US" b="1" i="1" baseline="0" dirty="0" err="1" smtClean="0">
                <a:solidFill>
                  <a:srgbClr val="4F81BD"/>
                </a:solidFill>
                <a:latin typeface="Cambria"/>
              </a:rPr>
              <a:t>printf</a:t>
            </a:r>
            <a:r>
              <a:rPr lang="en-US" b="1" i="1" baseline="0" dirty="0" smtClean="0">
                <a:solidFill>
                  <a:srgbClr val="4F81BD"/>
                </a:solidFill>
                <a:latin typeface="Cambria"/>
              </a:rPr>
              <a:t>("Hello, World! \n");</a:t>
            </a:r>
          </a:p>
          <a:p>
            <a:pPr marR="0" lvl="2" rtl="0">
              <a:buNone/>
            </a:pPr>
            <a:r>
              <a:rPr lang="en-US" b="1" i="1" baseline="0" dirty="0" smtClean="0">
                <a:solidFill>
                  <a:srgbClr val="4F81BD"/>
                </a:solidFill>
                <a:latin typeface="Cambria"/>
              </a:rPr>
              <a:t>   </a:t>
            </a:r>
            <a:r>
              <a:rPr lang="en-US" b="1" i="1" baseline="0" dirty="0" err="1" smtClean="0">
                <a:solidFill>
                  <a:srgbClr val="4F81BD"/>
                </a:solidFill>
                <a:latin typeface="Cambria"/>
              </a:rPr>
              <a:t>getch</a:t>
            </a: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a:t>
            </a:r>
            <a:endParaRPr lang="en-US" b="1" i="1" baseline="0" dirty="0" smtClean="0">
              <a:solidFill>
                <a:srgbClr val="4F81BD"/>
              </a:solidFill>
              <a:latin typeface="Times New Roman"/>
            </a:endParaRPr>
          </a:p>
        </p:txBody>
      </p:sp>
      <p:sp>
        <p:nvSpPr>
          <p:cNvPr id="3" name="Rectangle 2"/>
          <p:cNvSpPr/>
          <p:nvPr/>
        </p:nvSpPr>
        <p:spPr>
          <a:xfrm>
            <a:off x="1905000" y="152400"/>
            <a:ext cx="4800600" cy="523220"/>
          </a:xfrm>
          <a:prstGeom prst="rect">
            <a:avLst/>
          </a:prstGeom>
        </p:spPr>
        <p:txBody>
          <a:bodyPr wrap="square">
            <a:spAutoFit/>
          </a:bodyPr>
          <a:lstStyle/>
          <a:p>
            <a:pPr lvl="0" algn="ctr">
              <a:buNone/>
            </a:pPr>
            <a:r>
              <a:rPr lang="en-US" sz="2800" b="1" i="1" dirty="0" smtClean="0">
                <a:solidFill>
                  <a:srgbClr val="365F91"/>
                </a:solidFill>
                <a:latin typeface="Cambria"/>
              </a:rPr>
              <a:t>C – Basic Program</a:t>
            </a:r>
            <a:endParaRPr lang="en-US" sz="2800" b="1"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R="0" rtl="0"/>
            <a:r>
              <a:rPr lang="en-US" sz="3200" b="1" baseline="0" dirty="0" smtClean="0">
                <a:solidFill>
                  <a:srgbClr val="365F91"/>
                </a:solidFill>
                <a:latin typeface="Cambria"/>
              </a:rPr>
              <a:t>Note the followings</a:t>
            </a:r>
          </a:p>
        </p:txBody>
      </p:sp>
      <p:sp>
        <p:nvSpPr>
          <p:cNvPr id="3" name="Text Placeholder 2"/>
          <p:cNvSpPr>
            <a:spLocks noGrp="1"/>
          </p:cNvSpPr>
          <p:nvPr>
            <p:ph type="body" idx="1"/>
          </p:nvPr>
        </p:nvSpPr>
        <p:spPr/>
        <p:txBody>
          <a:bodyPr>
            <a:normAutofit fontScale="25000" lnSpcReduction="20000"/>
          </a:bodyPr>
          <a:lstStyle/>
          <a:p>
            <a:pPr marR="0" lvl="2" rtl="0">
              <a:lnSpc>
                <a:spcPct val="170000"/>
              </a:lnSpc>
            </a:pPr>
            <a:r>
              <a:rPr lang="en-US" sz="6200" b="1" i="1" baseline="0" dirty="0" smtClean="0">
                <a:solidFill>
                  <a:srgbClr val="4F81BD"/>
                </a:solidFill>
                <a:latin typeface="Cambria"/>
              </a:rPr>
              <a:t>C  is a case sensitive programming language. It means in C</a:t>
            </a:r>
            <a:r>
              <a:rPr lang="en-US" sz="6200" b="1" i="1" baseline="0" dirty="0" smtClean="0">
                <a:solidFill>
                  <a:srgbClr val="000000"/>
                </a:solidFill>
                <a:latin typeface="Verdana"/>
              </a:rPr>
              <a:t> </a:t>
            </a:r>
            <a:r>
              <a:rPr lang="en-US" sz="6200" b="1" i="1" baseline="0" dirty="0" err="1" smtClean="0">
                <a:solidFill>
                  <a:srgbClr val="4F81BD"/>
                </a:solidFill>
                <a:latin typeface="Cambria"/>
              </a:rPr>
              <a:t>printf</a:t>
            </a:r>
            <a:r>
              <a:rPr lang="en-US" sz="6200" b="1" i="1" baseline="0" dirty="0" smtClean="0">
                <a:solidFill>
                  <a:srgbClr val="000000"/>
                </a:solidFill>
                <a:latin typeface="Verdana"/>
              </a:rPr>
              <a:t> </a:t>
            </a:r>
            <a:r>
              <a:rPr lang="en-US" sz="6200" b="1" i="1" baseline="0" dirty="0" smtClean="0">
                <a:solidFill>
                  <a:srgbClr val="4F81BD"/>
                </a:solidFill>
                <a:latin typeface="Cambria"/>
              </a:rPr>
              <a:t>and</a:t>
            </a:r>
            <a:r>
              <a:rPr lang="en-US" sz="6200" b="1" i="1" baseline="0" dirty="0" smtClean="0">
                <a:solidFill>
                  <a:srgbClr val="000000"/>
                </a:solidFill>
                <a:latin typeface="Verdana"/>
              </a:rPr>
              <a:t> </a:t>
            </a:r>
            <a:r>
              <a:rPr lang="en-US" sz="6200" b="1" i="1" baseline="0" dirty="0" err="1" smtClean="0">
                <a:solidFill>
                  <a:srgbClr val="4F81BD"/>
                </a:solidFill>
                <a:latin typeface="Cambria"/>
              </a:rPr>
              <a:t>Printf</a:t>
            </a:r>
            <a:r>
              <a:rPr lang="en-US" sz="6200" b="1" i="1" baseline="0" dirty="0" smtClean="0">
                <a:solidFill>
                  <a:srgbClr val="000000"/>
                </a:solidFill>
                <a:latin typeface="Verdana"/>
              </a:rPr>
              <a:t> </a:t>
            </a:r>
            <a:r>
              <a:rPr lang="en-US" sz="6200" b="1" i="1" baseline="0" dirty="0" smtClean="0">
                <a:solidFill>
                  <a:srgbClr val="4F81BD"/>
                </a:solidFill>
                <a:latin typeface="Cambria"/>
              </a:rPr>
              <a:t>will have different meanings.</a:t>
            </a:r>
          </a:p>
          <a:p>
            <a:pPr marR="0" lvl="2" rtl="0">
              <a:lnSpc>
                <a:spcPct val="170000"/>
              </a:lnSpc>
            </a:pPr>
            <a:r>
              <a:rPr lang="en-US" sz="6200" b="1" i="1" baseline="0" dirty="0" smtClean="0">
                <a:solidFill>
                  <a:srgbClr val="4F81BD"/>
                </a:solidFill>
                <a:latin typeface="Cambria"/>
              </a:rPr>
              <a:t>C has a free-form line structure. End of each C statement must be marked with a semicolon.</a:t>
            </a:r>
          </a:p>
          <a:p>
            <a:pPr marR="0" lvl="2" rtl="0">
              <a:lnSpc>
                <a:spcPct val="170000"/>
              </a:lnSpc>
            </a:pPr>
            <a:r>
              <a:rPr lang="en-US" sz="6200" b="1" i="1" baseline="0" dirty="0" smtClean="0">
                <a:solidFill>
                  <a:srgbClr val="4F81BD"/>
                </a:solidFill>
                <a:latin typeface="Cambria"/>
              </a:rPr>
              <a:t>Multiple statements can be one the same line.</a:t>
            </a:r>
          </a:p>
          <a:p>
            <a:pPr marR="0" lvl="2" rtl="0">
              <a:lnSpc>
                <a:spcPct val="170000"/>
              </a:lnSpc>
            </a:pPr>
            <a:r>
              <a:rPr lang="en-US" sz="6200" b="1" i="1" baseline="0" dirty="0" smtClean="0">
                <a:solidFill>
                  <a:srgbClr val="4F81BD"/>
                </a:solidFill>
                <a:latin typeface="Cambria"/>
              </a:rPr>
              <a:t>White Spaces (</a:t>
            </a:r>
            <a:r>
              <a:rPr lang="en-US" sz="6200" b="1" i="1" baseline="0" dirty="0" err="1" smtClean="0">
                <a:solidFill>
                  <a:srgbClr val="4F81BD"/>
                </a:solidFill>
                <a:latin typeface="Cambria"/>
              </a:rPr>
              <a:t>ie</a:t>
            </a:r>
            <a:r>
              <a:rPr lang="en-US" sz="6200" b="1" i="1" baseline="0" dirty="0" smtClean="0">
                <a:solidFill>
                  <a:srgbClr val="4F81BD"/>
                </a:solidFill>
                <a:latin typeface="Cambria"/>
              </a:rPr>
              <a:t>. tab space and space bar ) are ignored.</a:t>
            </a:r>
          </a:p>
          <a:p>
            <a:pPr lvl="2">
              <a:lnSpc>
                <a:spcPct val="170000"/>
              </a:lnSpc>
            </a:pPr>
            <a:r>
              <a:rPr lang="en-US" sz="6200" b="1" i="1" baseline="0" dirty="0" smtClean="0">
                <a:solidFill>
                  <a:srgbClr val="4F81BD"/>
                </a:solidFill>
                <a:latin typeface="Cambria"/>
              </a:rPr>
              <a:t>Statements can continue over multiple lines</a:t>
            </a:r>
            <a:r>
              <a:rPr lang="en-US" sz="6200" b="1" i="1" dirty="0" smtClean="0">
                <a:solidFill>
                  <a:srgbClr val="4F81BD"/>
                </a:solidFill>
                <a:latin typeface="Cambria"/>
              </a:rPr>
              <a:t>. </a:t>
            </a:r>
          </a:p>
          <a:p>
            <a:pPr lvl="2">
              <a:lnSpc>
                <a:spcPct val="170000"/>
              </a:lnSpc>
            </a:pPr>
            <a:r>
              <a:rPr lang="en-US" sz="6200" b="1" i="1" dirty="0" smtClean="0">
                <a:solidFill>
                  <a:srgbClr val="4F81BD"/>
                </a:solidFill>
                <a:latin typeface="Cambria"/>
              </a:rPr>
              <a:t>Compilation start from first line code of header file (check line compiled by compiler)</a:t>
            </a:r>
          </a:p>
          <a:p>
            <a:pPr lvl="2">
              <a:lnSpc>
                <a:spcPct val="170000"/>
              </a:lnSpc>
            </a:pPr>
            <a:r>
              <a:rPr lang="en-US" sz="6200" b="1" i="1" dirty="0" smtClean="0">
                <a:solidFill>
                  <a:srgbClr val="4F81BD"/>
                </a:solidFill>
                <a:latin typeface="Cambria"/>
              </a:rPr>
              <a:t>execution start  at main() (note: without main execution is not done)</a:t>
            </a:r>
            <a:endParaRPr lang="en-US" sz="6200" b="1" i="1" baseline="0" dirty="0" smtClean="0">
              <a:solidFill>
                <a:srgbClr val="4F81BD"/>
              </a:solidFill>
              <a:latin typeface="Cambria"/>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R="0" rtl="0"/>
            <a:r>
              <a:rPr lang="en-US" b="1" dirty="0" err="1" smtClean="0">
                <a:solidFill>
                  <a:srgbClr val="365F91"/>
                </a:solidFill>
                <a:latin typeface="Cambria"/>
              </a:rPr>
              <a:t>printf</a:t>
            </a:r>
            <a:r>
              <a:rPr lang="en-US" b="1" baseline="0" dirty="0" smtClean="0">
                <a:solidFill>
                  <a:srgbClr val="365F91"/>
                </a:solidFill>
                <a:latin typeface="Cambria"/>
              </a:rPr>
              <a:t> and </a:t>
            </a:r>
            <a:r>
              <a:rPr lang="en-US" b="1" dirty="0" err="1" smtClean="0">
                <a:solidFill>
                  <a:srgbClr val="365F91"/>
                </a:solidFill>
                <a:latin typeface="Cambria"/>
              </a:rPr>
              <a:t>scanf</a:t>
            </a:r>
            <a:r>
              <a:rPr lang="en-US" b="1" baseline="0" dirty="0" smtClean="0">
                <a:solidFill>
                  <a:srgbClr val="365F91"/>
                </a:solidFill>
                <a:latin typeface="Cambria"/>
              </a:rPr>
              <a:t> function in c programming</a:t>
            </a:r>
          </a:p>
        </p:txBody>
      </p:sp>
      <p:sp>
        <p:nvSpPr>
          <p:cNvPr id="3" name="Text Placeholder 2"/>
          <p:cNvSpPr>
            <a:spLocks noGrp="1"/>
          </p:cNvSpPr>
          <p:nvPr>
            <p:ph type="body" idx="1"/>
          </p:nvPr>
        </p:nvSpPr>
        <p:spPr/>
        <p:txBody>
          <a:bodyPr/>
          <a:lstStyle/>
          <a:p>
            <a:pPr marR="0" lvl="0" rtl="0"/>
            <a:r>
              <a:rPr lang="en-US" b="1" baseline="0" dirty="0" err="1" smtClean="0">
                <a:solidFill>
                  <a:srgbClr val="4F81BD"/>
                </a:solidFill>
                <a:latin typeface="Cambria"/>
              </a:rPr>
              <a:t>printf</a:t>
            </a:r>
            <a:r>
              <a:rPr lang="en-US" b="1" baseline="0" dirty="0" smtClean="0">
                <a:solidFill>
                  <a:srgbClr val="4F81BD"/>
                </a:solidFill>
                <a:latin typeface="Cambria"/>
              </a:rPr>
              <a:t>() and </a:t>
            </a:r>
            <a:r>
              <a:rPr lang="en-US" b="1" baseline="0" dirty="0" err="1" smtClean="0">
                <a:solidFill>
                  <a:srgbClr val="4F81BD"/>
                </a:solidFill>
                <a:latin typeface="Cambria"/>
              </a:rPr>
              <a:t>scanf</a:t>
            </a:r>
            <a:r>
              <a:rPr lang="en-US" b="1" baseline="0" dirty="0" smtClean="0">
                <a:solidFill>
                  <a:srgbClr val="4F81BD"/>
                </a:solidFill>
                <a:latin typeface="Cambria"/>
              </a:rPr>
              <a:t>() functions are inbuilt library function in C.</a:t>
            </a:r>
          </a:p>
          <a:p>
            <a:pPr marR="0" lvl="0" rtl="0">
              <a:buNone/>
            </a:pPr>
            <a:endParaRPr lang="en-US" b="1" baseline="0" dirty="0" smtClean="0">
              <a:solidFill>
                <a:srgbClr val="4F81BD"/>
              </a:solidFill>
              <a:latin typeface="Cambria"/>
            </a:endParaRPr>
          </a:p>
          <a:p>
            <a:pPr marR="0" lvl="0" rtl="0"/>
            <a:r>
              <a:rPr lang="en-US" b="1" baseline="0" dirty="0" smtClean="0">
                <a:solidFill>
                  <a:srgbClr val="4F81BD"/>
                </a:solidFill>
                <a:latin typeface="Cambria"/>
              </a:rPr>
              <a:t>These functions are declared and related macros are defined in "</a:t>
            </a:r>
            <a:r>
              <a:rPr lang="en-US" b="1" baseline="0" dirty="0" err="1" smtClean="0">
                <a:solidFill>
                  <a:srgbClr val="4F81BD"/>
                </a:solidFill>
                <a:latin typeface="Cambria"/>
              </a:rPr>
              <a:t>stdio.h</a:t>
            </a:r>
            <a:r>
              <a:rPr lang="en-US" b="1" baseline="0" dirty="0" smtClean="0">
                <a:solidFill>
                  <a:srgbClr val="4F81BD"/>
                </a:solidFill>
                <a:latin typeface="Cambria"/>
              </a:rPr>
              <a:t>" which is a header file.</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fontScale="90000"/>
          </a:bodyPr>
          <a:lstStyle/>
          <a:p>
            <a:pPr marR="0" rtl="0"/>
            <a:r>
              <a:rPr lang="en-US" b="1" baseline="0" dirty="0" err="1" smtClean="0">
                <a:solidFill>
                  <a:srgbClr val="365F91"/>
                </a:solidFill>
                <a:latin typeface="Cambria"/>
              </a:rPr>
              <a:t>printf</a:t>
            </a:r>
            <a:r>
              <a:rPr lang="en-US" b="1" baseline="0" dirty="0" smtClean="0">
                <a:solidFill>
                  <a:srgbClr val="365F91"/>
                </a:solidFill>
                <a:latin typeface="Cambria"/>
              </a:rPr>
              <a:t> function</a:t>
            </a:r>
          </a:p>
        </p:txBody>
      </p:sp>
      <p:sp>
        <p:nvSpPr>
          <p:cNvPr id="3" name="Text Placeholder 2"/>
          <p:cNvSpPr>
            <a:spLocks noGrp="1"/>
          </p:cNvSpPr>
          <p:nvPr>
            <p:ph type="body" idx="1"/>
          </p:nvPr>
        </p:nvSpPr>
        <p:spPr>
          <a:xfrm>
            <a:off x="228600" y="990600"/>
            <a:ext cx="8686800" cy="5638800"/>
          </a:xfrm>
        </p:spPr>
        <p:txBody>
          <a:bodyPr>
            <a:normAutofit fontScale="92500"/>
          </a:bodyPr>
          <a:lstStyle/>
          <a:p>
            <a:pPr marR="0" lvl="0" rtl="0">
              <a:buFont typeface="Wingdings" pitchFamily="2" charset="2"/>
              <a:buChar char="Ø"/>
            </a:pPr>
            <a:r>
              <a:rPr lang="en-US" sz="3000" b="1" baseline="0" dirty="0" err="1" smtClean="0">
                <a:solidFill>
                  <a:srgbClr val="4F81BD"/>
                </a:solidFill>
                <a:latin typeface="Cambria"/>
              </a:rPr>
              <a:t>printf</a:t>
            </a:r>
            <a:r>
              <a:rPr lang="en-US" sz="3000" b="1" baseline="0" dirty="0" smtClean="0">
                <a:solidFill>
                  <a:srgbClr val="4F81BD"/>
                </a:solidFill>
                <a:latin typeface="Cambria"/>
              </a:rPr>
              <a:t>() is not a keyword</a:t>
            </a:r>
          </a:p>
          <a:p>
            <a:pPr marR="0" lvl="0" rtl="0">
              <a:buFont typeface="Wingdings" pitchFamily="2" charset="2"/>
              <a:buChar char="Ø"/>
            </a:pPr>
            <a:r>
              <a:rPr lang="en-US" sz="3000" b="1" baseline="0" dirty="0" err="1" smtClean="0">
                <a:solidFill>
                  <a:srgbClr val="4F81BD"/>
                </a:solidFill>
                <a:latin typeface="Cambria"/>
              </a:rPr>
              <a:t>printf</a:t>
            </a:r>
            <a:r>
              <a:rPr lang="en-US" sz="3000" b="1" baseline="0" dirty="0" smtClean="0">
                <a:solidFill>
                  <a:srgbClr val="4F81BD"/>
                </a:solidFill>
                <a:latin typeface="Cambria"/>
              </a:rPr>
              <a:t>() is a predefined function</a:t>
            </a:r>
            <a:endParaRPr lang="en-US" b="1" baseline="0" dirty="0" smtClean="0">
              <a:solidFill>
                <a:srgbClr val="4F81BD"/>
              </a:solidFill>
              <a:latin typeface="Cambria"/>
            </a:endParaRPr>
          </a:p>
          <a:p>
            <a:pPr marR="0" lvl="0" rtl="0">
              <a:buNone/>
            </a:pPr>
            <a:r>
              <a:rPr lang="en-US" sz="2800" b="1" baseline="0" dirty="0" err="1" smtClean="0">
                <a:solidFill>
                  <a:srgbClr val="4F81BD"/>
                </a:solidFill>
                <a:latin typeface="Cambria"/>
              </a:rPr>
              <a:t>printf</a:t>
            </a:r>
            <a:r>
              <a:rPr lang="en-US" sz="2800" b="1" baseline="0" dirty="0" smtClean="0">
                <a:solidFill>
                  <a:srgbClr val="4F81BD"/>
                </a:solidFill>
                <a:latin typeface="Cambria"/>
              </a:rPr>
              <a:t>() function is used to print Two types of</a:t>
            </a:r>
            <a:r>
              <a:rPr lang="en-US" sz="2800" b="1" dirty="0" smtClean="0">
                <a:solidFill>
                  <a:srgbClr val="4F81BD"/>
                </a:solidFill>
                <a:latin typeface="Cambria"/>
              </a:rPr>
              <a:t> </a:t>
            </a:r>
            <a:r>
              <a:rPr lang="en-US" sz="2800" b="1" baseline="0" dirty="0" smtClean="0">
                <a:solidFill>
                  <a:srgbClr val="4F81BD"/>
                </a:solidFill>
                <a:latin typeface="Cambria"/>
              </a:rPr>
              <a:t>messages.</a:t>
            </a:r>
          </a:p>
          <a:p>
            <a:pPr marR="0" lvl="0" rtl="0">
              <a:buNone/>
            </a:pPr>
            <a:endParaRPr lang="en-US" sz="2600" b="1" dirty="0" smtClean="0">
              <a:solidFill>
                <a:srgbClr val="4F81BD"/>
              </a:solidFill>
              <a:latin typeface="Cambria"/>
            </a:endParaRPr>
          </a:p>
          <a:p>
            <a:pPr marR="0" lvl="0" rtl="0">
              <a:buNone/>
            </a:pPr>
            <a:r>
              <a:rPr lang="en-US" sz="2600" b="1" dirty="0" smtClean="0">
                <a:solidFill>
                  <a:srgbClr val="4F81BD"/>
                </a:solidFill>
                <a:latin typeface="Cambria"/>
              </a:rPr>
              <a:t>1 </a:t>
            </a:r>
            <a:r>
              <a:rPr lang="en-US" sz="2600" b="1" baseline="0" dirty="0" smtClean="0">
                <a:solidFill>
                  <a:srgbClr val="4F81BD"/>
                </a:solidFill>
                <a:latin typeface="Cambria"/>
              </a:rPr>
              <a:t>Printing text as it is.</a:t>
            </a:r>
          </a:p>
          <a:p>
            <a:pPr marR="0" lvl="1" rtl="0">
              <a:buNone/>
            </a:pPr>
            <a:r>
              <a:rPr lang="en-US" b="1" baseline="0" dirty="0" smtClean="0">
                <a:solidFill>
                  <a:srgbClr val="4F81BD"/>
                </a:solidFill>
                <a:latin typeface="Cambria"/>
              </a:rPr>
              <a:t>Syntax : </a:t>
            </a:r>
            <a:r>
              <a:rPr lang="en-US" b="1" baseline="0" dirty="0" err="1" smtClean="0">
                <a:solidFill>
                  <a:srgbClr val="4F81BD"/>
                </a:solidFill>
                <a:latin typeface="Cambria"/>
              </a:rPr>
              <a:t>printf</a:t>
            </a:r>
            <a:r>
              <a:rPr lang="en-US" b="1" baseline="0" dirty="0" smtClean="0">
                <a:solidFill>
                  <a:srgbClr val="4F81BD"/>
                </a:solidFill>
                <a:latin typeface="Cambria"/>
              </a:rPr>
              <a:t>(" Write Text Here" );</a:t>
            </a:r>
          </a:p>
          <a:p>
            <a:pPr marR="0" lvl="1" rtl="0"/>
            <a:endParaRPr lang="en-US" b="1" baseline="0" dirty="0" smtClean="0">
              <a:solidFill>
                <a:srgbClr val="4F81BD"/>
              </a:solidFill>
              <a:latin typeface="Cambria"/>
            </a:endParaRPr>
          </a:p>
          <a:p>
            <a:pPr marR="0" lvl="0" rtl="0">
              <a:buNone/>
            </a:pPr>
            <a:r>
              <a:rPr lang="en-US" sz="2600" b="1" baseline="0" dirty="0" smtClean="0">
                <a:solidFill>
                  <a:srgbClr val="4F81BD"/>
                </a:solidFill>
                <a:latin typeface="Cambria"/>
              </a:rPr>
              <a:t>2 ) Printing the value of "character, string, float, integer, octal and hexadecimal values" and expressions value and </a:t>
            </a:r>
            <a:r>
              <a:rPr lang="en-US" sz="2600" b="1" baseline="0" dirty="0" err="1" smtClean="0">
                <a:solidFill>
                  <a:srgbClr val="4F81BD"/>
                </a:solidFill>
                <a:latin typeface="Cambria"/>
              </a:rPr>
              <a:t>function_return</a:t>
            </a:r>
            <a:r>
              <a:rPr lang="en-US" sz="2600" b="1" baseline="0" dirty="0" smtClean="0">
                <a:solidFill>
                  <a:srgbClr val="4F81BD"/>
                </a:solidFill>
                <a:latin typeface="Cambria"/>
              </a:rPr>
              <a:t> value onto the output screen.</a:t>
            </a:r>
          </a:p>
          <a:p>
            <a:pPr marR="0" lvl="1" rtl="0">
              <a:buNone/>
            </a:pPr>
            <a:r>
              <a:rPr lang="en-US" b="1" dirty="0">
                <a:solidFill>
                  <a:srgbClr val="4F81BD"/>
                </a:solidFill>
                <a:latin typeface="Cambria"/>
              </a:rPr>
              <a:t>S</a:t>
            </a:r>
            <a:r>
              <a:rPr lang="en-US" b="1" baseline="0" dirty="0" smtClean="0">
                <a:solidFill>
                  <a:srgbClr val="4F81BD"/>
                </a:solidFill>
                <a:latin typeface="Cambria"/>
              </a:rPr>
              <a:t>yntax : </a:t>
            </a:r>
            <a:r>
              <a:rPr lang="en-US" b="1" baseline="0" dirty="0" err="1" smtClean="0">
                <a:solidFill>
                  <a:srgbClr val="4F81BD"/>
                </a:solidFill>
                <a:latin typeface="Cambria"/>
              </a:rPr>
              <a:t>printf</a:t>
            </a:r>
            <a:r>
              <a:rPr lang="en-US" b="1" baseline="0" dirty="0" smtClean="0">
                <a:solidFill>
                  <a:srgbClr val="4F81BD"/>
                </a:solidFill>
                <a:latin typeface="Cambria"/>
              </a:rPr>
              <a:t>("</a:t>
            </a:r>
            <a:r>
              <a:rPr lang="en-US" b="1" baseline="0" dirty="0" err="1" smtClean="0">
                <a:solidFill>
                  <a:srgbClr val="4F81BD"/>
                </a:solidFill>
                <a:latin typeface="Cambria"/>
              </a:rPr>
              <a:t>formate_specifier</a:t>
            </a:r>
            <a:r>
              <a:rPr lang="en-US" b="1" baseline="0" dirty="0" smtClean="0">
                <a:solidFill>
                  <a:srgbClr val="4F81BD"/>
                </a:solidFill>
                <a:latin typeface="Cambria"/>
              </a:rPr>
              <a:t>", </a:t>
            </a:r>
            <a:r>
              <a:rPr lang="en-US" b="1" baseline="0" dirty="0" err="1" smtClean="0">
                <a:solidFill>
                  <a:srgbClr val="FF0000"/>
                </a:solidFill>
                <a:latin typeface="Cambria"/>
              </a:rPr>
              <a:t>variable_name</a:t>
            </a:r>
            <a:r>
              <a:rPr lang="en-US" b="1" baseline="0" dirty="0" smtClean="0">
                <a:solidFill>
                  <a:srgbClr val="4F81BD"/>
                </a:solidFill>
                <a:latin typeface="Cambria"/>
              </a:rPr>
              <a:t>/ </a:t>
            </a:r>
            <a:r>
              <a:rPr lang="en-US" b="1" baseline="0" dirty="0" err="1" smtClean="0">
                <a:solidFill>
                  <a:schemeClr val="accent6">
                    <a:lumMod val="50000"/>
                  </a:schemeClr>
                </a:solidFill>
                <a:latin typeface="Cambria"/>
              </a:rPr>
              <a:t>functions_call</a:t>
            </a:r>
            <a:r>
              <a:rPr lang="en-US" b="1" baseline="0" dirty="0" smtClean="0">
                <a:solidFill>
                  <a:srgbClr val="4F81BD"/>
                </a:solidFill>
                <a:latin typeface="Cambria"/>
              </a:rPr>
              <a:t>/</a:t>
            </a:r>
            <a:r>
              <a:rPr lang="en-US" b="1" baseline="0" dirty="0" smtClean="0">
                <a:solidFill>
                  <a:srgbClr val="7030A0"/>
                </a:solidFill>
                <a:latin typeface="Cambria"/>
              </a:rPr>
              <a:t>expression</a:t>
            </a:r>
            <a:r>
              <a:rPr lang="en-US" b="1" baseline="0" dirty="0" smtClean="0">
                <a:solidFill>
                  <a:srgbClr val="4F81BD"/>
                </a:solidFill>
                <a:latin typeface="Cambria"/>
              </a:rPr>
              <a:t> );</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pPr marR="0" rtl="0"/>
            <a:r>
              <a:rPr lang="en-US" b="1" baseline="0" dirty="0" smtClean="0">
                <a:solidFill>
                  <a:srgbClr val="365F91"/>
                </a:solidFill>
                <a:latin typeface="Cambria"/>
              </a:rPr>
              <a:t>Use : format </a:t>
            </a:r>
            <a:r>
              <a:rPr lang="en-US" b="1" baseline="0" dirty="0" err="1" smtClean="0">
                <a:solidFill>
                  <a:srgbClr val="365F91"/>
                </a:solidFill>
                <a:latin typeface="Cambria"/>
              </a:rPr>
              <a:t>specifier</a:t>
            </a:r>
            <a:endParaRPr lang="en-US" b="1" baseline="0" dirty="0" smtClean="0">
              <a:solidFill>
                <a:srgbClr val="365F91"/>
              </a:solidFill>
              <a:latin typeface="Cambria"/>
            </a:endParaRPr>
          </a:p>
        </p:txBody>
      </p:sp>
      <p:sp>
        <p:nvSpPr>
          <p:cNvPr id="3" name="Text Placeholder 2"/>
          <p:cNvSpPr>
            <a:spLocks noGrp="1"/>
          </p:cNvSpPr>
          <p:nvPr>
            <p:ph type="body" idx="1"/>
          </p:nvPr>
        </p:nvSpPr>
        <p:spPr>
          <a:xfrm>
            <a:off x="457200" y="990600"/>
            <a:ext cx="8229600" cy="5135563"/>
          </a:xfrm>
        </p:spPr>
        <p:txBody>
          <a:bodyPr>
            <a:normAutofit fontScale="85000" lnSpcReduction="20000"/>
          </a:bodyPr>
          <a:lstStyle/>
          <a:p>
            <a:pPr marR="0" lvl="1" rtl="0">
              <a:buFont typeface="Wingdings" pitchFamily="2" charset="2"/>
              <a:buChar char="Ø"/>
            </a:pPr>
            <a:r>
              <a:rPr lang="en-US" b="1" baseline="0" dirty="0" smtClean="0">
                <a:solidFill>
                  <a:srgbClr val="4F81BD"/>
                </a:solidFill>
                <a:latin typeface="Cambria"/>
              </a:rPr>
              <a:t>%d  : value of an integer variable  </a:t>
            </a:r>
          </a:p>
          <a:p>
            <a:pPr marR="0" lvl="1" rtl="0">
              <a:buFont typeface="Wingdings" pitchFamily="2" charset="2"/>
              <a:buChar char="Ø"/>
            </a:pPr>
            <a:r>
              <a:rPr lang="en-US" b="1" baseline="0" dirty="0" smtClean="0">
                <a:solidFill>
                  <a:srgbClr val="4F81BD"/>
                </a:solidFill>
                <a:latin typeface="Cambria"/>
              </a:rPr>
              <a:t>%c  : value of a character variable</a:t>
            </a:r>
          </a:p>
          <a:p>
            <a:pPr marR="0" lvl="1" rtl="0">
              <a:buFont typeface="Wingdings" pitchFamily="2" charset="2"/>
              <a:buChar char="Ø"/>
            </a:pPr>
            <a:r>
              <a:rPr lang="en-US" b="1" baseline="0" dirty="0" smtClean="0">
                <a:solidFill>
                  <a:srgbClr val="4F81BD"/>
                </a:solidFill>
                <a:latin typeface="Cambria"/>
              </a:rPr>
              <a:t>%f  : value of a float variable</a:t>
            </a:r>
          </a:p>
          <a:p>
            <a:pPr marR="0" lvl="1" rtl="0">
              <a:buFont typeface="Wingdings" pitchFamily="2" charset="2"/>
              <a:buChar char="Ø"/>
            </a:pPr>
            <a:r>
              <a:rPr lang="en-US" b="1" baseline="0" dirty="0" smtClean="0">
                <a:solidFill>
                  <a:srgbClr val="4F81BD"/>
                </a:solidFill>
                <a:latin typeface="Cambria"/>
              </a:rPr>
              <a:t>%lf : value of a double variable</a:t>
            </a:r>
          </a:p>
          <a:p>
            <a:pPr marR="0" lvl="1" rtl="0">
              <a:buFont typeface="Wingdings" pitchFamily="2" charset="2"/>
              <a:buChar char="Ø"/>
            </a:pPr>
            <a:r>
              <a:rPr lang="en-US" b="1" baseline="0" dirty="0" smtClean="0">
                <a:solidFill>
                  <a:srgbClr val="4F81BD"/>
                </a:solidFill>
                <a:latin typeface="Cambria"/>
              </a:rPr>
              <a:t>%s  : value of a string variable</a:t>
            </a:r>
          </a:p>
          <a:p>
            <a:pPr marR="0" lvl="1" rtl="0">
              <a:buFont typeface="Wingdings" pitchFamily="2" charset="2"/>
              <a:buChar char="Ø"/>
            </a:pPr>
            <a:r>
              <a:rPr lang="en-US" b="1" baseline="0" dirty="0" smtClean="0">
                <a:solidFill>
                  <a:srgbClr val="4F81BD"/>
                </a:solidFill>
                <a:latin typeface="Cambria"/>
              </a:rPr>
              <a:t>%o  : octal value corresponding to integer variable</a:t>
            </a:r>
          </a:p>
          <a:p>
            <a:pPr marR="0" lvl="1" rtl="0">
              <a:buFont typeface="Wingdings" pitchFamily="2" charset="2"/>
              <a:buChar char="Ø"/>
            </a:pPr>
            <a:r>
              <a:rPr lang="en-US" b="1" baseline="0" dirty="0" smtClean="0">
                <a:solidFill>
                  <a:srgbClr val="4F81BD"/>
                </a:solidFill>
                <a:latin typeface="Cambria"/>
              </a:rPr>
              <a:t>%x  :a hexadecimal value corresponding to integer variable</a:t>
            </a:r>
          </a:p>
          <a:p>
            <a:pPr marR="0" lvl="1" rtl="0">
              <a:buNone/>
            </a:pPr>
            <a:r>
              <a:rPr lang="en-US" sz="2400" b="1" i="1" baseline="0" dirty="0" smtClean="0">
                <a:solidFill>
                  <a:srgbClr val="4F81BD"/>
                </a:solidFill>
                <a:latin typeface="Cambria"/>
              </a:rPr>
              <a:t>% sign indicate to the Compiler that change the meaning of suffix.</a:t>
            </a:r>
          </a:p>
          <a:p>
            <a:pPr marR="0" lvl="1" rtl="0">
              <a:buNone/>
            </a:pPr>
            <a:r>
              <a:rPr lang="en-US" sz="2400" b="1" i="1" dirty="0" err="1" smtClean="0">
                <a:solidFill>
                  <a:srgbClr val="4F81BD"/>
                </a:solidFill>
                <a:latin typeface="Cambria"/>
              </a:rPr>
              <a:t>e.g</a:t>
            </a:r>
            <a:r>
              <a:rPr lang="en-US" sz="2400" b="1" i="1" dirty="0" smtClean="0">
                <a:solidFill>
                  <a:srgbClr val="4F81BD"/>
                </a:solidFill>
                <a:latin typeface="Cambria"/>
              </a:rPr>
              <a:t> : %d , change the meaning of </a:t>
            </a:r>
            <a:r>
              <a:rPr lang="en-US" sz="2400" b="1" i="1" dirty="0" smtClean="0">
                <a:solidFill>
                  <a:srgbClr val="FF0000"/>
                </a:solidFill>
                <a:latin typeface="Cambria"/>
              </a:rPr>
              <a:t>d</a:t>
            </a:r>
            <a:r>
              <a:rPr lang="en-US" sz="2400" b="1" i="1" baseline="0" dirty="0" smtClean="0">
                <a:solidFill>
                  <a:srgbClr val="4F81BD"/>
                </a:solidFill>
                <a:latin typeface="Cambria"/>
              </a:rPr>
              <a:t> .</a:t>
            </a:r>
          </a:p>
          <a:p>
            <a:pPr marR="0" lvl="1" rtl="0">
              <a:buNone/>
            </a:pPr>
            <a:endParaRPr lang="en-US" sz="2400" b="1" i="1" baseline="0" dirty="0" smtClean="0">
              <a:solidFill>
                <a:srgbClr val="4F81BD"/>
              </a:solidFill>
              <a:latin typeface="Cambria"/>
            </a:endParaRPr>
          </a:p>
          <a:p>
            <a:pPr marR="0" lvl="1" rtl="0">
              <a:buNone/>
            </a:pPr>
            <a:r>
              <a:rPr lang="en-US" sz="2400" b="1" baseline="0" dirty="0" smtClean="0">
                <a:solidFill>
                  <a:srgbClr val="4F81BD"/>
                </a:solidFill>
                <a:latin typeface="Cambria"/>
              </a:rPr>
              <a:t>Note: </a:t>
            </a:r>
          </a:p>
          <a:p>
            <a:pPr marR="0" lvl="1" rtl="0">
              <a:buNone/>
            </a:pPr>
            <a:r>
              <a:rPr lang="en-US" sz="2400" b="1" dirty="0" smtClean="0">
                <a:solidFill>
                  <a:srgbClr val="4F81BD"/>
                </a:solidFill>
                <a:latin typeface="Cambria"/>
              </a:rPr>
              <a:t>	</a:t>
            </a:r>
            <a:r>
              <a:rPr lang="en-US" sz="2400" b="1" baseline="0" dirty="0" smtClean="0">
                <a:solidFill>
                  <a:srgbClr val="4F81BD"/>
                </a:solidFill>
                <a:latin typeface="Cambria"/>
              </a:rPr>
              <a:t>we can output more than one value of variable/ expressions </a:t>
            </a:r>
            <a:r>
              <a:rPr lang="en-US" sz="2400" b="1" dirty="0" smtClean="0">
                <a:solidFill>
                  <a:srgbClr val="4F81BD"/>
                </a:solidFill>
                <a:latin typeface="Cambria"/>
              </a:rPr>
              <a:t>/</a:t>
            </a:r>
            <a:r>
              <a:rPr lang="en-US" sz="2400" b="1" baseline="0" dirty="0" smtClean="0">
                <a:solidFill>
                  <a:srgbClr val="4F81BD"/>
                </a:solidFill>
                <a:latin typeface="Cambria"/>
              </a:rPr>
              <a:t>functions.</a:t>
            </a:r>
          </a:p>
          <a:p>
            <a:pPr marR="0" lvl="1" rtl="0">
              <a:buNone/>
            </a:pPr>
            <a:r>
              <a:rPr lang="en-US" b="1" dirty="0" smtClean="0">
                <a:solidFill>
                  <a:srgbClr val="4F81BD"/>
                </a:solidFill>
                <a:latin typeface="Cambria"/>
              </a:rPr>
              <a:t>	</a:t>
            </a:r>
            <a:endParaRPr lang="en-US" b="1" baseline="0" dirty="0" smtClean="0">
              <a:solidFill>
                <a:srgbClr val="4F81BD"/>
              </a:solidFill>
              <a:latin typeface="Cambria"/>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Autofit/>
          </a:bodyPr>
          <a:lstStyle/>
          <a:p>
            <a:r>
              <a:rPr lang="en-US" sz="3600" b="1" dirty="0" smtClean="0">
                <a:solidFill>
                  <a:srgbClr val="FF0000"/>
                </a:solidFill>
              </a:rPr>
              <a:t>How to print %d using </a:t>
            </a:r>
            <a:r>
              <a:rPr lang="en-US" sz="3600" b="1" dirty="0" err="1" smtClean="0">
                <a:solidFill>
                  <a:srgbClr val="FF0000"/>
                </a:solidFill>
              </a:rPr>
              <a:t>printf</a:t>
            </a:r>
            <a:r>
              <a:rPr lang="en-US" sz="3600" b="1" dirty="0" smtClean="0">
                <a:solidFill>
                  <a:srgbClr val="FF0000"/>
                </a:solidFill>
              </a:rPr>
              <a:t> in C language</a:t>
            </a:r>
            <a:endParaRPr lang="en-US" sz="3600" b="1" dirty="0">
              <a:solidFill>
                <a:srgbClr val="FF0000"/>
              </a:solidFill>
            </a:endParaRPr>
          </a:p>
        </p:txBody>
      </p:sp>
      <p:sp>
        <p:nvSpPr>
          <p:cNvPr id="4" name="Content Placeholder 3"/>
          <p:cNvSpPr>
            <a:spLocks noGrp="1"/>
          </p:cNvSpPr>
          <p:nvPr>
            <p:ph idx="1"/>
          </p:nvPr>
        </p:nvSpPr>
        <p:spPr>
          <a:xfrm>
            <a:off x="304800" y="1219200"/>
            <a:ext cx="8382000" cy="5257800"/>
          </a:xfrm>
        </p:spPr>
        <p:txBody>
          <a:bodyPr>
            <a:normAutofit fontScale="92500" lnSpcReduction="10000"/>
          </a:bodyPr>
          <a:lstStyle/>
          <a:p>
            <a:pPr algn="just">
              <a:buNone/>
            </a:pPr>
            <a:r>
              <a:rPr lang="en-US" sz="3000" b="1" dirty="0" smtClean="0">
                <a:solidFill>
                  <a:schemeClr val="tx2">
                    <a:lumMod val="60000"/>
                    <a:lumOff val="40000"/>
                  </a:schemeClr>
                </a:solidFill>
              </a:rPr>
              <a:t>	We Know that the meaning of % in C Language is to indicate to the Compiler that change the meaning of suffix.</a:t>
            </a:r>
          </a:p>
          <a:p>
            <a:pPr algn="just">
              <a:buNone/>
            </a:pPr>
            <a:r>
              <a:rPr lang="en-US" b="1" i="1" dirty="0" smtClean="0">
                <a:solidFill>
                  <a:schemeClr val="tx2">
                    <a:lumMod val="60000"/>
                    <a:lumOff val="40000"/>
                  </a:schemeClr>
                </a:solidFill>
              </a:rPr>
              <a:t>	</a:t>
            </a:r>
            <a:r>
              <a:rPr lang="en-US" sz="2200" b="1" i="1" dirty="0" err="1" smtClean="0">
                <a:solidFill>
                  <a:schemeClr val="tx2">
                    <a:lumMod val="60000"/>
                    <a:lumOff val="40000"/>
                  </a:schemeClr>
                </a:solidFill>
              </a:rPr>
              <a:t>e.g</a:t>
            </a:r>
            <a:r>
              <a:rPr lang="en-US" sz="2200" b="1" i="1" dirty="0" smtClean="0">
                <a:solidFill>
                  <a:schemeClr val="tx2">
                    <a:lumMod val="60000"/>
                    <a:lumOff val="40000"/>
                  </a:schemeClr>
                </a:solidFill>
              </a:rPr>
              <a:t> : %d , in this the meaning of d is changed .Now </a:t>
            </a:r>
            <a:r>
              <a:rPr lang="en-US" sz="2200" b="1" i="1" dirty="0" smtClean="0">
                <a:solidFill>
                  <a:srgbClr val="FF0000"/>
                </a:solidFill>
              </a:rPr>
              <a:t>d</a:t>
            </a:r>
            <a:r>
              <a:rPr lang="en-US" sz="2200" b="1" i="1" dirty="0" smtClean="0">
                <a:solidFill>
                  <a:schemeClr val="tx2">
                    <a:lumMod val="60000"/>
                    <a:lumOff val="40000"/>
                  </a:schemeClr>
                </a:solidFill>
              </a:rPr>
              <a:t> work as control string  or format </a:t>
            </a:r>
            <a:r>
              <a:rPr lang="en-US" sz="2200" b="1" i="1" dirty="0" err="1" smtClean="0">
                <a:solidFill>
                  <a:schemeClr val="tx2">
                    <a:lumMod val="60000"/>
                    <a:lumOff val="40000"/>
                  </a:schemeClr>
                </a:solidFill>
              </a:rPr>
              <a:t>specifier</a:t>
            </a:r>
            <a:r>
              <a:rPr lang="en-US" sz="2200" b="1" i="1" dirty="0" smtClean="0">
                <a:solidFill>
                  <a:schemeClr val="tx2">
                    <a:lumMod val="60000"/>
                    <a:lumOff val="40000"/>
                  </a:schemeClr>
                </a:solidFill>
              </a:rPr>
              <a:t> for the format Decimal value.</a:t>
            </a:r>
            <a:endParaRPr lang="en-US" sz="2200" b="1" dirty="0" smtClean="0">
              <a:solidFill>
                <a:schemeClr val="tx2">
                  <a:lumMod val="60000"/>
                  <a:lumOff val="40000"/>
                </a:schemeClr>
              </a:solidFill>
            </a:endParaRPr>
          </a:p>
          <a:p>
            <a:pPr algn="just">
              <a:buNone/>
            </a:pPr>
            <a:r>
              <a:rPr lang="en-US" b="1" dirty="0" smtClean="0">
                <a:solidFill>
                  <a:schemeClr val="tx2">
                    <a:lumMod val="60000"/>
                    <a:lumOff val="40000"/>
                  </a:schemeClr>
                </a:solidFill>
              </a:rPr>
              <a:t>	</a:t>
            </a:r>
            <a:r>
              <a:rPr lang="en-US" sz="2800" b="1" dirty="0" smtClean="0">
                <a:solidFill>
                  <a:schemeClr val="tx2">
                    <a:lumMod val="60000"/>
                    <a:lumOff val="40000"/>
                  </a:schemeClr>
                </a:solidFill>
              </a:rPr>
              <a:t>To print the %d on Output screen we use % sign as prefix with %d, </a:t>
            </a:r>
            <a:r>
              <a:rPr lang="en-US" sz="2800" b="1" dirty="0" err="1" smtClean="0">
                <a:solidFill>
                  <a:srgbClr val="FF0000"/>
                </a:solidFill>
              </a:rPr>
              <a:t>e.g</a:t>
            </a:r>
            <a:r>
              <a:rPr lang="en-US" sz="2800" b="1" dirty="0" smtClean="0">
                <a:solidFill>
                  <a:srgbClr val="FF0000"/>
                </a:solidFill>
              </a:rPr>
              <a:t> : %%d</a:t>
            </a:r>
            <a:r>
              <a:rPr lang="en-US" sz="2800" b="1" dirty="0" smtClean="0">
                <a:solidFill>
                  <a:schemeClr val="tx2">
                    <a:lumMod val="60000"/>
                    <a:lumOff val="40000"/>
                  </a:schemeClr>
                </a:solidFill>
              </a:rPr>
              <a:t> in this , first % change the meaning of % in %d and indicate to the compiler that % is just a printable symbol. Due to this % will not work as format </a:t>
            </a:r>
            <a:r>
              <a:rPr lang="en-US" sz="2800" b="1" dirty="0" err="1" smtClean="0">
                <a:solidFill>
                  <a:schemeClr val="tx2">
                    <a:lumMod val="60000"/>
                    <a:lumOff val="40000"/>
                  </a:schemeClr>
                </a:solidFill>
              </a:rPr>
              <a:t>specifier</a:t>
            </a:r>
            <a:r>
              <a:rPr lang="en-US" sz="2800" b="1" dirty="0" smtClean="0">
                <a:solidFill>
                  <a:schemeClr val="tx2">
                    <a:lumMod val="60000"/>
                    <a:lumOff val="40000"/>
                  </a:schemeClr>
                </a:solidFill>
              </a:rPr>
              <a:t>, because  its meaning changed. </a:t>
            </a:r>
          </a:p>
          <a:p>
            <a:pPr>
              <a:buNone/>
            </a:pPr>
            <a:r>
              <a:rPr lang="en-US" b="1" dirty="0" smtClean="0">
                <a:solidFill>
                  <a:schemeClr val="tx2">
                    <a:lumMod val="60000"/>
                    <a:lumOff val="40000"/>
                  </a:schemeClr>
                </a:solidFill>
              </a:rPr>
              <a:t>	</a:t>
            </a:r>
            <a:r>
              <a:rPr lang="en-US" sz="2400" b="1" i="1" dirty="0" err="1" smtClean="0">
                <a:solidFill>
                  <a:schemeClr val="tx2">
                    <a:lumMod val="60000"/>
                    <a:lumOff val="40000"/>
                  </a:schemeClr>
                </a:solidFill>
              </a:rPr>
              <a:t>e.g</a:t>
            </a:r>
            <a:r>
              <a:rPr lang="en-US" sz="2400" b="1" i="1" dirty="0" smtClean="0">
                <a:solidFill>
                  <a:schemeClr val="tx2">
                    <a:lumMod val="60000"/>
                    <a:lumOff val="40000"/>
                  </a:schemeClr>
                </a:solidFill>
              </a:rPr>
              <a:t> : </a:t>
            </a:r>
            <a:r>
              <a:rPr lang="en-US" sz="2400" b="1" i="1" dirty="0" err="1" smtClean="0">
                <a:solidFill>
                  <a:schemeClr val="tx2">
                    <a:lumMod val="60000"/>
                    <a:lumOff val="40000"/>
                  </a:schemeClr>
                </a:solidFill>
              </a:rPr>
              <a:t>printf</a:t>
            </a:r>
            <a:r>
              <a:rPr lang="en-US" sz="2400" b="1" i="1" dirty="0" smtClean="0">
                <a:solidFill>
                  <a:schemeClr val="tx2">
                    <a:lumMod val="60000"/>
                    <a:lumOff val="40000"/>
                  </a:schemeClr>
                </a:solidFill>
              </a:rPr>
              <a:t>(“%%d”);</a:t>
            </a:r>
          </a:p>
          <a:p>
            <a:pPr>
              <a:buNone/>
            </a:pPr>
            <a:r>
              <a:rPr lang="en-US" sz="2800" b="1" i="1" dirty="0" smtClean="0">
                <a:solidFill>
                  <a:schemeClr val="tx2">
                    <a:lumMod val="60000"/>
                    <a:lumOff val="40000"/>
                  </a:schemeClr>
                </a:solidFill>
              </a:rPr>
              <a:t>	In this %</a:t>
            </a:r>
            <a:r>
              <a:rPr lang="en-US" sz="2800" b="1" i="1" dirty="0" smtClean="0">
                <a:solidFill>
                  <a:srgbClr val="FF0000"/>
                </a:solidFill>
              </a:rPr>
              <a:t>%</a:t>
            </a:r>
            <a:r>
              <a:rPr lang="en-US" sz="2800" b="1" i="1" dirty="0" smtClean="0">
                <a:solidFill>
                  <a:schemeClr val="tx2">
                    <a:lumMod val="60000"/>
                    <a:lumOff val="40000"/>
                  </a:schemeClr>
                </a:solidFill>
              </a:rPr>
              <a:t>d , </a:t>
            </a:r>
            <a:r>
              <a:rPr lang="en-US" sz="2800" b="1" i="1" dirty="0" smtClean="0">
                <a:solidFill>
                  <a:srgbClr val="FF0000"/>
                </a:solidFill>
              </a:rPr>
              <a:t>%</a:t>
            </a:r>
            <a:r>
              <a:rPr lang="en-US" sz="2800" b="1" i="1" dirty="0" smtClean="0">
                <a:solidFill>
                  <a:schemeClr val="tx2">
                    <a:lumMod val="60000"/>
                    <a:lumOff val="40000"/>
                  </a:schemeClr>
                </a:solidFill>
              </a:rPr>
              <a:t>  is like a </a:t>
            </a:r>
            <a:r>
              <a:rPr lang="en-US" sz="2800" b="1" i="1" smtClean="0">
                <a:solidFill>
                  <a:schemeClr val="tx2">
                    <a:lumMod val="60000"/>
                    <a:lumOff val="40000"/>
                  </a:schemeClr>
                </a:solidFill>
              </a:rPr>
              <a:t>printable symbol.</a:t>
            </a:r>
            <a:endParaRPr lang="en-US" sz="2800" b="1" dirty="0" smtClean="0">
              <a:solidFill>
                <a:schemeClr val="tx2">
                  <a:lumMod val="60000"/>
                  <a:lumOff val="40000"/>
                </a:schemeClr>
              </a:solidFill>
            </a:endParaRPr>
          </a:p>
          <a:p>
            <a:pPr lvl="1" algn="just">
              <a:buNone/>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dirty="0" err="1" smtClean="0">
                <a:solidFill>
                  <a:srgbClr val="365F91"/>
                </a:solidFill>
                <a:latin typeface="Cambria"/>
              </a:rPr>
              <a:t>scanf</a:t>
            </a:r>
            <a:r>
              <a:rPr lang="en-US" b="1" baseline="0" dirty="0" smtClean="0">
                <a:solidFill>
                  <a:srgbClr val="365F91"/>
                </a:solidFill>
                <a:latin typeface="Cambria"/>
              </a:rPr>
              <a:t> Function</a:t>
            </a:r>
          </a:p>
        </p:txBody>
      </p:sp>
      <p:sp>
        <p:nvSpPr>
          <p:cNvPr id="3" name="Text Placeholder 2"/>
          <p:cNvSpPr>
            <a:spLocks noGrp="1"/>
          </p:cNvSpPr>
          <p:nvPr>
            <p:ph type="body" idx="1"/>
          </p:nvPr>
        </p:nvSpPr>
        <p:spPr>
          <a:xfrm>
            <a:off x="152400" y="1371600"/>
            <a:ext cx="8763000" cy="4754563"/>
          </a:xfrm>
        </p:spPr>
        <p:txBody>
          <a:bodyPr/>
          <a:lstStyle/>
          <a:p>
            <a:pPr>
              <a:buFont typeface="Wingdings" pitchFamily="2" charset="2"/>
              <a:buChar char="Ø"/>
            </a:pPr>
            <a:r>
              <a:rPr lang="en-US" b="1" baseline="0" dirty="0" err="1" smtClean="0">
                <a:solidFill>
                  <a:srgbClr val="4F81BD"/>
                </a:solidFill>
                <a:latin typeface="Cambria"/>
              </a:rPr>
              <a:t>scanf</a:t>
            </a:r>
            <a:r>
              <a:rPr lang="en-US" b="1" baseline="0" dirty="0" smtClean="0">
                <a:solidFill>
                  <a:srgbClr val="4F81BD"/>
                </a:solidFill>
                <a:latin typeface="Cambria"/>
              </a:rPr>
              <a:t>() is not a keyword</a:t>
            </a:r>
          </a:p>
          <a:p>
            <a:pPr>
              <a:buFont typeface="Wingdings" pitchFamily="2" charset="2"/>
              <a:buChar char="Ø"/>
            </a:pPr>
            <a:r>
              <a:rPr lang="en-US" b="1" baseline="0" dirty="0" err="1" smtClean="0">
                <a:solidFill>
                  <a:srgbClr val="4F81BD"/>
                </a:solidFill>
                <a:latin typeface="Cambria"/>
              </a:rPr>
              <a:t>scanf</a:t>
            </a:r>
            <a:r>
              <a:rPr lang="en-US" b="1" baseline="0" dirty="0" smtClean="0">
                <a:solidFill>
                  <a:srgbClr val="4F81BD"/>
                </a:solidFill>
                <a:latin typeface="Cambria"/>
              </a:rPr>
              <a:t>() is a predefined function</a:t>
            </a:r>
          </a:p>
          <a:p>
            <a:pPr>
              <a:buNone/>
            </a:pPr>
            <a:endParaRPr lang="en-US" b="1" baseline="0" dirty="0" smtClean="0">
              <a:solidFill>
                <a:srgbClr val="4F81BD"/>
              </a:solidFill>
              <a:latin typeface="Cambria"/>
            </a:endParaRPr>
          </a:p>
          <a:p>
            <a:pPr marR="0" lvl="0" rtl="0">
              <a:buNone/>
            </a:pPr>
            <a:r>
              <a:rPr lang="en-US" b="1" baseline="0" dirty="0" err="1" smtClean="0">
                <a:solidFill>
                  <a:srgbClr val="4F81BD"/>
                </a:solidFill>
                <a:latin typeface="Cambria"/>
              </a:rPr>
              <a:t>scanf</a:t>
            </a:r>
            <a:r>
              <a:rPr lang="en-US" b="1" baseline="0" dirty="0" smtClean="0">
                <a:solidFill>
                  <a:srgbClr val="4F81BD"/>
                </a:solidFill>
                <a:latin typeface="Cambria"/>
              </a:rPr>
              <a:t>() function is used to read character, string, numeric data from keyboard.</a:t>
            </a:r>
          </a:p>
          <a:p>
            <a:pPr marR="0" lvl="0" rtl="0">
              <a:buNone/>
            </a:pPr>
            <a:endParaRPr lang="en-US" b="1" baseline="0" dirty="0" smtClean="0">
              <a:solidFill>
                <a:srgbClr val="4F81BD"/>
              </a:solidFill>
              <a:latin typeface="Cambria"/>
            </a:endParaRPr>
          </a:p>
          <a:p>
            <a:pPr marR="0" lvl="0" rtl="0">
              <a:buNone/>
            </a:pPr>
            <a:r>
              <a:rPr lang="en-US" sz="2800" b="1" baseline="0" dirty="0" smtClean="0">
                <a:solidFill>
                  <a:srgbClr val="4F81BD"/>
                </a:solidFill>
                <a:latin typeface="Cambria"/>
              </a:rPr>
              <a:t>syntax : </a:t>
            </a:r>
            <a:r>
              <a:rPr lang="en-US" sz="2800" b="1" smtClean="0">
                <a:solidFill>
                  <a:srgbClr val="4F81BD"/>
                </a:solidFill>
                <a:latin typeface="Cambria"/>
              </a:rPr>
              <a:t>scanf</a:t>
            </a:r>
            <a:r>
              <a:rPr lang="en-US" sz="2800" b="1" baseline="0" smtClean="0">
                <a:solidFill>
                  <a:srgbClr val="4F81BD"/>
                </a:solidFill>
                <a:latin typeface="Cambria"/>
              </a:rPr>
              <a:t>("</a:t>
            </a:r>
            <a:r>
              <a:rPr lang="en-US" sz="2800" b="1" baseline="0" dirty="0" err="1" smtClean="0">
                <a:solidFill>
                  <a:srgbClr val="4F81BD"/>
                </a:solidFill>
                <a:latin typeface="Cambria"/>
              </a:rPr>
              <a:t>format_specifier</a:t>
            </a:r>
            <a:r>
              <a:rPr lang="en-US" sz="2800" b="1" baseline="0" dirty="0" smtClean="0">
                <a:solidFill>
                  <a:srgbClr val="4F81BD"/>
                </a:solidFill>
                <a:latin typeface="Cambria"/>
              </a:rPr>
              <a:t>", </a:t>
            </a:r>
            <a:r>
              <a:rPr lang="en-US" sz="2800" b="1" baseline="0" dirty="0" err="1" smtClean="0">
                <a:solidFill>
                  <a:srgbClr val="4F81BD"/>
                </a:solidFill>
                <a:latin typeface="Cambria"/>
              </a:rPr>
              <a:t>variable_address</a:t>
            </a:r>
            <a:r>
              <a:rPr lang="en-US" sz="2800" b="1" baseline="0" dirty="0" smtClean="0">
                <a:solidFill>
                  <a:srgbClr val="4F81BD"/>
                </a:solidFill>
                <a:latin typeface="Cambria"/>
              </a:rPr>
              <a:t>)</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pPr marR="0" rtl="0"/>
            <a:r>
              <a:rPr lang="en-US" b="1" baseline="0" dirty="0" smtClean="0">
                <a:solidFill>
                  <a:srgbClr val="365F91"/>
                </a:solidFill>
                <a:latin typeface="Cambria"/>
              </a:rPr>
              <a:t>Use : format </a:t>
            </a:r>
            <a:r>
              <a:rPr lang="en-US" b="1" baseline="0" dirty="0" err="1" smtClean="0">
                <a:solidFill>
                  <a:srgbClr val="365F91"/>
                </a:solidFill>
                <a:latin typeface="Cambria"/>
              </a:rPr>
              <a:t>specifier</a:t>
            </a:r>
            <a:endParaRPr lang="en-US" b="1" baseline="0" dirty="0" smtClean="0">
              <a:solidFill>
                <a:srgbClr val="365F91"/>
              </a:solidFill>
              <a:latin typeface="Cambria"/>
            </a:endParaRPr>
          </a:p>
        </p:txBody>
      </p:sp>
      <p:sp>
        <p:nvSpPr>
          <p:cNvPr id="3" name="Text Placeholder 2"/>
          <p:cNvSpPr>
            <a:spLocks noGrp="1"/>
          </p:cNvSpPr>
          <p:nvPr>
            <p:ph type="body" idx="1"/>
          </p:nvPr>
        </p:nvSpPr>
        <p:spPr>
          <a:xfrm>
            <a:off x="228600" y="914400"/>
            <a:ext cx="8686800" cy="5715000"/>
          </a:xfrm>
        </p:spPr>
        <p:txBody>
          <a:bodyPr>
            <a:normAutofit fontScale="85000" lnSpcReduction="20000"/>
          </a:bodyPr>
          <a:lstStyle/>
          <a:p>
            <a:pPr marR="0" lvl="0" rtl="0">
              <a:buFont typeface="Wingdings" pitchFamily="2" charset="2"/>
              <a:buChar char="Ø"/>
            </a:pPr>
            <a:r>
              <a:rPr lang="en-US" b="1" baseline="0" dirty="0" smtClean="0">
                <a:solidFill>
                  <a:srgbClr val="4F81BD"/>
                </a:solidFill>
                <a:latin typeface="Cambria"/>
              </a:rPr>
              <a:t>%d  : value of an integer variable  </a:t>
            </a:r>
          </a:p>
          <a:p>
            <a:pPr marR="0" lvl="0" rtl="0">
              <a:buFont typeface="Wingdings" pitchFamily="2" charset="2"/>
              <a:buChar char="Ø"/>
            </a:pPr>
            <a:r>
              <a:rPr lang="en-US" b="1" baseline="0" dirty="0" smtClean="0">
                <a:solidFill>
                  <a:srgbClr val="4F81BD"/>
                </a:solidFill>
                <a:latin typeface="Cambria"/>
              </a:rPr>
              <a:t>%c  : value of a character variable</a:t>
            </a:r>
          </a:p>
          <a:p>
            <a:pPr marR="0" lvl="0" rtl="0">
              <a:buFont typeface="Wingdings" pitchFamily="2" charset="2"/>
              <a:buChar char="Ø"/>
            </a:pPr>
            <a:r>
              <a:rPr lang="en-US" b="1" baseline="0" dirty="0" smtClean="0">
                <a:solidFill>
                  <a:srgbClr val="4F81BD"/>
                </a:solidFill>
                <a:latin typeface="Cambria"/>
              </a:rPr>
              <a:t>%f  : value of a float variable</a:t>
            </a:r>
          </a:p>
          <a:p>
            <a:pPr marR="0" lvl="0" rtl="0">
              <a:buFont typeface="Wingdings" pitchFamily="2" charset="2"/>
              <a:buChar char="Ø"/>
            </a:pPr>
            <a:r>
              <a:rPr lang="en-US" b="1" baseline="0" dirty="0" smtClean="0">
                <a:solidFill>
                  <a:srgbClr val="4F81BD"/>
                </a:solidFill>
                <a:latin typeface="Cambria"/>
              </a:rPr>
              <a:t>%lf : value of a double variable</a:t>
            </a:r>
          </a:p>
          <a:p>
            <a:pPr marR="0" lvl="0" rtl="0">
              <a:buFont typeface="Wingdings" pitchFamily="2" charset="2"/>
              <a:buChar char="Ø"/>
            </a:pPr>
            <a:r>
              <a:rPr lang="en-US" b="1" baseline="0" dirty="0" smtClean="0">
                <a:solidFill>
                  <a:srgbClr val="4F81BD"/>
                </a:solidFill>
                <a:latin typeface="Cambria"/>
              </a:rPr>
              <a:t>%s  : value of a string variable</a:t>
            </a:r>
          </a:p>
          <a:p>
            <a:pPr marR="0" lvl="0" rtl="0">
              <a:buFont typeface="Wingdings" pitchFamily="2" charset="2"/>
              <a:buChar char="Ø"/>
            </a:pPr>
            <a:r>
              <a:rPr lang="en-US" b="1" baseline="0" dirty="0" smtClean="0">
                <a:solidFill>
                  <a:srgbClr val="4F81BD"/>
                </a:solidFill>
                <a:latin typeface="Cambria"/>
              </a:rPr>
              <a:t>%o  : octal value corresponding to integer variable</a:t>
            </a:r>
          </a:p>
          <a:p>
            <a:pPr marR="0" lvl="0" rtl="0">
              <a:buFont typeface="Wingdings" pitchFamily="2" charset="2"/>
              <a:buChar char="Ø"/>
            </a:pPr>
            <a:r>
              <a:rPr lang="en-US" b="1" baseline="0" dirty="0" smtClean="0">
                <a:solidFill>
                  <a:srgbClr val="4F81BD"/>
                </a:solidFill>
                <a:latin typeface="Cambria"/>
              </a:rPr>
              <a:t>%x  :a hexadecimal value corresponding to integer variable</a:t>
            </a:r>
          </a:p>
          <a:p>
            <a:pPr marR="0" lvl="0" rtl="0"/>
            <a:endParaRPr lang="en-US" b="1" baseline="0" dirty="0" smtClean="0">
              <a:solidFill>
                <a:srgbClr val="4F81BD"/>
              </a:solidFill>
              <a:latin typeface="Cambria"/>
            </a:endParaRPr>
          </a:p>
          <a:p>
            <a:pPr marR="0" lvl="0" rtl="0">
              <a:buNone/>
            </a:pPr>
            <a:r>
              <a:rPr lang="en-US" b="1" baseline="0" dirty="0" smtClean="0">
                <a:solidFill>
                  <a:srgbClr val="4F81BD"/>
                </a:solidFill>
                <a:latin typeface="Cambria"/>
              </a:rPr>
              <a:t>Note: </a:t>
            </a:r>
          </a:p>
          <a:p>
            <a:pPr marR="0" lvl="0" rtl="0">
              <a:buFont typeface="Wingdings" pitchFamily="2" charset="2"/>
              <a:buChar char="§"/>
            </a:pPr>
            <a:r>
              <a:rPr lang="en-US" b="1" baseline="0" dirty="0" smtClean="0">
                <a:solidFill>
                  <a:srgbClr val="4F81BD"/>
                </a:solidFill>
                <a:latin typeface="Cambria"/>
              </a:rPr>
              <a:t>we can input more than one value</a:t>
            </a:r>
          </a:p>
          <a:p>
            <a:pPr lvl="0">
              <a:buFont typeface="Wingdings" pitchFamily="2" charset="2"/>
              <a:buChar char="§"/>
            </a:pPr>
            <a:r>
              <a:rPr lang="en-US" b="1" dirty="0" smtClean="0">
                <a:solidFill>
                  <a:srgbClr val="4F81BD"/>
                </a:solidFill>
                <a:latin typeface="Cambria"/>
              </a:rPr>
              <a:t>space not allow after or before format </a:t>
            </a:r>
            <a:r>
              <a:rPr lang="en-US" b="1" dirty="0" err="1" smtClean="0">
                <a:solidFill>
                  <a:srgbClr val="4F81BD"/>
                </a:solidFill>
                <a:latin typeface="Cambria"/>
              </a:rPr>
              <a:t>specifier</a:t>
            </a:r>
            <a:r>
              <a:rPr lang="en-US" b="1" dirty="0" smtClean="0">
                <a:solidFill>
                  <a:srgbClr val="4F81BD"/>
                </a:solidFill>
                <a:latin typeface="Cambria"/>
              </a:rPr>
              <a:t> in </a:t>
            </a:r>
            <a:r>
              <a:rPr lang="en-US" b="1" dirty="0" err="1" smtClean="0">
                <a:solidFill>
                  <a:srgbClr val="4F81BD"/>
                </a:solidFill>
                <a:latin typeface="Cambria"/>
              </a:rPr>
              <a:t>scanf</a:t>
            </a:r>
            <a:r>
              <a:rPr lang="en-US" b="1" dirty="0" smtClean="0">
                <a:solidFill>
                  <a:srgbClr val="4F81BD"/>
                </a:solidFill>
                <a:latin typeface="Cambria"/>
              </a:rPr>
              <a:t>.</a:t>
            </a:r>
            <a:endParaRPr lang="en-US" b="1" baseline="0" dirty="0" smtClean="0">
              <a:solidFill>
                <a:srgbClr val="4F81BD"/>
              </a:solidFill>
              <a:latin typeface="Cambria"/>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dirty="0" smtClean="0">
                <a:solidFill>
                  <a:srgbClr val="365F91"/>
                </a:solidFill>
                <a:latin typeface="Cambria"/>
              </a:rPr>
              <a:t>Control Instruction</a:t>
            </a:r>
          </a:p>
        </p:txBody>
      </p:sp>
      <p:sp>
        <p:nvSpPr>
          <p:cNvPr id="3" name="Text Placeholder 2"/>
          <p:cNvSpPr>
            <a:spLocks noGrp="1"/>
          </p:cNvSpPr>
          <p:nvPr>
            <p:ph type="body" idx="1"/>
          </p:nvPr>
        </p:nvSpPr>
        <p:spPr/>
        <p:txBody>
          <a:bodyPr/>
          <a:lstStyle/>
          <a:p>
            <a:pPr marR="0" lvl="0" rtl="0">
              <a:buFont typeface="Wingdings" pitchFamily="2" charset="2"/>
              <a:buChar char="Ø"/>
            </a:pPr>
            <a:r>
              <a:rPr lang="en-US" b="1" baseline="0" dirty="0" smtClean="0">
                <a:solidFill>
                  <a:srgbClr val="4F81BD"/>
                </a:solidFill>
                <a:latin typeface="Cambria"/>
              </a:rPr>
              <a:t> </a:t>
            </a:r>
            <a:r>
              <a:rPr lang="en-US" b="1" baseline="0" dirty="0" smtClean="0">
                <a:solidFill>
                  <a:srgbClr val="FF0000"/>
                </a:solidFill>
                <a:latin typeface="Cambria"/>
              </a:rPr>
              <a:t>Decision Control Instruction</a:t>
            </a:r>
          </a:p>
          <a:p>
            <a:pPr marR="0" lvl="0" rtl="0">
              <a:buFont typeface="Wingdings" pitchFamily="2" charset="2"/>
              <a:buChar char="Ø"/>
            </a:pPr>
            <a:r>
              <a:rPr lang="en-US" b="1" baseline="0" dirty="0" smtClean="0">
                <a:solidFill>
                  <a:srgbClr val="4F81BD"/>
                </a:solidFill>
                <a:latin typeface="Cambria"/>
              </a:rPr>
              <a:t> </a:t>
            </a:r>
            <a:r>
              <a:rPr lang="en-US" b="1" baseline="0" dirty="0" smtClean="0">
                <a:solidFill>
                  <a:srgbClr val="00B050"/>
                </a:solidFill>
                <a:latin typeface="Cambria"/>
              </a:rPr>
              <a:t>Iterative Control Instruction</a:t>
            </a:r>
          </a:p>
          <a:p>
            <a:pPr marR="0" lvl="0" rtl="0">
              <a:buFont typeface="Wingdings" pitchFamily="2" charset="2"/>
              <a:buChar char="Ø"/>
            </a:pPr>
            <a:r>
              <a:rPr lang="en-US" b="1" baseline="0" dirty="0" smtClean="0">
                <a:solidFill>
                  <a:srgbClr val="4F81BD"/>
                </a:solidFill>
                <a:latin typeface="Cambria"/>
              </a:rPr>
              <a:t> </a:t>
            </a:r>
            <a:r>
              <a:rPr lang="en-US" b="1" baseline="0" dirty="0" smtClean="0">
                <a:solidFill>
                  <a:srgbClr val="7030A0"/>
                </a:solidFill>
                <a:latin typeface="Cambria"/>
              </a:rPr>
              <a:t>Switch Case Control Instruction</a:t>
            </a:r>
          </a:p>
          <a:p>
            <a:pPr marR="0" lvl="0" rtl="0">
              <a:buFont typeface="Wingdings" pitchFamily="2" charset="2"/>
              <a:buChar char="Ø"/>
            </a:pPr>
            <a:r>
              <a:rPr lang="en-US" b="1" baseline="0" dirty="0" smtClean="0">
                <a:solidFill>
                  <a:srgbClr val="4F81BD"/>
                </a:solidFill>
                <a:latin typeface="Cambria"/>
              </a:rPr>
              <a:t> </a:t>
            </a:r>
            <a:r>
              <a:rPr lang="en-US" b="1" baseline="0" dirty="0" err="1" smtClean="0">
                <a:solidFill>
                  <a:schemeClr val="accent6">
                    <a:lumMod val="50000"/>
                  </a:schemeClr>
                </a:solidFill>
                <a:latin typeface="Cambria"/>
              </a:rPr>
              <a:t>goto</a:t>
            </a:r>
            <a:r>
              <a:rPr lang="en-US" b="1" baseline="0" dirty="0" smtClean="0">
                <a:solidFill>
                  <a:schemeClr val="accent6">
                    <a:lumMod val="50000"/>
                  </a:schemeClr>
                </a:solidFill>
                <a:latin typeface="Cambria"/>
              </a:rPr>
              <a:t> control Instruction</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marR="0" rtl="0"/>
            <a:r>
              <a:rPr lang="en-US" b="1" baseline="0" dirty="0" smtClean="0">
                <a:solidFill>
                  <a:srgbClr val="365F91"/>
                </a:solidFill>
                <a:latin typeface="Cambria"/>
              </a:rPr>
              <a:t>Decision Control Instruction</a:t>
            </a:r>
          </a:p>
        </p:txBody>
      </p:sp>
      <p:sp>
        <p:nvSpPr>
          <p:cNvPr id="3" name="Text Placeholder 2"/>
          <p:cNvSpPr>
            <a:spLocks noGrp="1"/>
          </p:cNvSpPr>
          <p:nvPr>
            <p:ph type="body" idx="1"/>
          </p:nvPr>
        </p:nvSpPr>
        <p:spPr>
          <a:xfrm>
            <a:off x="457200" y="1600200"/>
            <a:ext cx="8458200" cy="4525963"/>
          </a:xfrm>
        </p:spPr>
        <p:txBody>
          <a:bodyPr/>
          <a:lstStyle/>
          <a:p>
            <a:pPr marL="514350" marR="0" lvl="0" indent="-514350" rtl="0">
              <a:buFont typeface="+mj-lt"/>
              <a:buAutoNum type="arabicPeriod"/>
            </a:pPr>
            <a:r>
              <a:rPr lang="en-US" b="1" baseline="0" dirty="0" smtClean="0">
                <a:solidFill>
                  <a:srgbClr val="4F81BD"/>
                </a:solidFill>
                <a:latin typeface="Cambria"/>
              </a:rPr>
              <a:t>if</a:t>
            </a:r>
          </a:p>
          <a:p>
            <a:pPr marL="514350" marR="0" lvl="0" indent="-514350" rtl="0">
              <a:buFont typeface="+mj-lt"/>
              <a:buAutoNum type="arabicPeriod"/>
            </a:pPr>
            <a:r>
              <a:rPr lang="en-US" b="1" baseline="0" dirty="0" smtClean="0">
                <a:solidFill>
                  <a:srgbClr val="4F81BD"/>
                </a:solidFill>
                <a:latin typeface="Cambria"/>
              </a:rPr>
              <a:t>if else</a:t>
            </a:r>
          </a:p>
          <a:p>
            <a:pPr marL="514350" marR="0" lvl="0" indent="-514350" rtl="0">
              <a:buFont typeface="+mj-lt"/>
              <a:buAutoNum type="arabicPeriod"/>
            </a:pPr>
            <a:r>
              <a:rPr lang="en-US" b="1" baseline="0" dirty="0" smtClean="0">
                <a:solidFill>
                  <a:srgbClr val="4F81BD"/>
                </a:solidFill>
                <a:latin typeface="Cambria"/>
              </a:rPr>
              <a:t>nested if...else statement </a:t>
            </a:r>
          </a:p>
          <a:p>
            <a:pPr marL="514350" marR="0" lvl="0" indent="-514350" rtl="0">
              <a:buFont typeface="+mj-lt"/>
              <a:buAutoNum type="arabicPeriod"/>
            </a:pPr>
            <a:r>
              <a:rPr lang="da-DK" b="1" baseline="0" dirty="0" smtClean="0">
                <a:solidFill>
                  <a:srgbClr val="4F81BD"/>
                </a:solidFill>
                <a:latin typeface="Cambria"/>
              </a:rPr>
              <a:t>else if ladder ( if...else if...else Statement )</a:t>
            </a:r>
          </a:p>
          <a:p>
            <a:pPr marL="514350" marR="0" lvl="0" indent="-514350" rtl="0">
              <a:buFont typeface="+mj-lt"/>
              <a:buAutoNum type="arabicPeriod"/>
            </a:pPr>
            <a:r>
              <a:rPr lang="en-US" b="1" baseline="0" dirty="0" smtClean="0">
                <a:solidFill>
                  <a:srgbClr val="4F81BD"/>
                </a:solidFill>
                <a:latin typeface="Cambria"/>
              </a:rPr>
              <a:t>Conditional Operator ( ? :)  </a:t>
            </a:r>
          </a:p>
          <a:p>
            <a:pPr marL="514350" marR="0" lvl="0" indent="-514350" rtl="0">
              <a:buNone/>
            </a:pPr>
            <a:r>
              <a:rPr lang="en-US" b="1" dirty="0" smtClean="0">
                <a:solidFill>
                  <a:srgbClr val="4F81BD"/>
                </a:solidFill>
                <a:latin typeface="Cambria"/>
              </a:rPr>
              <a:t>	</a:t>
            </a:r>
            <a:r>
              <a:rPr lang="en-US" sz="2800" b="1" baseline="0" dirty="0" smtClean="0">
                <a:solidFill>
                  <a:srgbClr val="4F81BD"/>
                </a:solidFill>
                <a:latin typeface="Cambria"/>
              </a:rPr>
              <a:t>// Ternary Operator(consist  3 </a:t>
            </a:r>
            <a:r>
              <a:rPr lang="en-US" sz="2800" b="1" dirty="0" smtClean="0">
                <a:solidFill>
                  <a:srgbClr val="4F81BD"/>
                </a:solidFill>
                <a:latin typeface="Cambria"/>
              </a:rPr>
              <a:t>arguments</a:t>
            </a:r>
            <a:r>
              <a:rPr lang="en-US" sz="2800" b="1" baseline="0" dirty="0" smtClean="0">
                <a:solidFill>
                  <a:srgbClr val="4F81BD"/>
                </a:solidFill>
                <a:latin typeface="Cambria"/>
              </a:rPr>
              <a:t>)</a:t>
            </a:r>
          </a:p>
          <a:p>
            <a:pPr marR="0" lvl="0" rtl="0">
              <a:buNone/>
            </a:pPr>
            <a:endParaRPr lang="en-US" b="1" dirty="0" smtClean="0">
              <a:solidFill>
                <a:srgbClr val="4F81BD"/>
              </a:solidFill>
              <a:latin typeface="Cambria"/>
            </a:endParaRPr>
          </a:p>
          <a:p>
            <a:pPr marR="0" lvl="0" rtl="0">
              <a:buFont typeface="Wingdings" pitchFamily="2" charset="2"/>
              <a:buChar char="Ø"/>
            </a:pPr>
            <a:endParaRPr lang="en-US" b="1" baseline="0" dirty="0" smtClean="0">
              <a:solidFill>
                <a:srgbClr val="4F81BD"/>
              </a:solidFill>
              <a:latin typeface="Cambria"/>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dirty="0" smtClean="0">
                <a:solidFill>
                  <a:srgbClr val="365F91"/>
                </a:solidFill>
                <a:latin typeface="Cambria"/>
              </a:rPr>
              <a:t>1)</a:t>
            </a:r>
            <a:r>
              <a:rPr lang="en-US" b="1" baseline="0" dirty="0" smtClean="0">
                <a:solidFill>
                  <a:srgbClr val="365F91"/>
                </a:solidFill>
                <a:latin typeface="Cambria"/>
              </a:rPr>
              <a:t> if Statement</a:t>
            </a:r>
          </a:p>
        </p:txBody>
      </p:sp>
      <p:sp>
        <p:nvSpPr>
          <p:cNvPr id="3" name="Text Placeholder 2"/>
          <p:cNvSpPr>
            <a:spLocks noGrp="1"/>
          </p:cNvSpPr>
          <p:nvPr>
            <p:ph type="body" idx="1"/>
          </p:nvPr>
        </p:nvSpPr>
        <p:spPr/>
        <p:txBody>
          <a:bodyPr>
            <a:normAutofit fontScale="77500" lnSpcReduction="20000"/>
          </a:bodyPr>
          <a:lstStyle/>
          <a:p>
            <a:pPr marR="0" lvl="0" rtl="0">
              <a:buNone/>
            </a:pPr>
            <a:r>
              <a:rPr lang="en-US" b="1" baseline="0" dirty="0" smtClean="0">
                <a:solidFill>
                  <a:srgbClr val="4F81BD"/>
                </a:solidFill>
                <a:latin typeface="Cambria"/>
              </a:rPr>
              <a:t>	Syntax for the simplest if statement</a:t>
            </a:r>
          </a:p>
          <a:p>
            <a:pPr marR="0" lvl="0" rtl="0"/>
            <a:endParaRPr lang="en-US" b="1" baseline="0" dirty="0" smtClean="0">
              <a:solidFill>
                <a:srgbClr val="4F81BD"/>
              </a:solidFill>
              <a:latin typeface="Cambria"/>
            </a:endParaRPr>
          </a:p>
          <a:p>
            <a:pPr marR="0" lvl="0" rtl="0">
              <a:buNone/>
            </a:pPr>
            <a:r>
              <a:rPr lang="en-US" b="1" baseline="0" dirty="0" smtClean="0">
                <a:solidFill>
                  <a:srgbClr val="4F81BD"/>
                </a:solidFill>
                <a:latin typeface="Cambria"/>
              </a:rPr>
              <a:t>	if(condition) /* no semi-colon , not a function */</a:t>
            </a:r>
          </a:p>
          <a:p>
            <a:pPr marR="0" lvl="0" rtl="0">
              <a:buNone/>
            </a:pPr>
            <a:r>
              <a:rPr lang="en-US" b="1" baseline="0" dirty="0" smtClean="0">
                <a:solidFill>
                  <a:srgbClr val="4F81BD"/>
                </a:solidFill>
                <a:latin typeface="Cambria"/>
              </a:rPr>
              <a:t>	{</a:t>
            </a:r>
          </a:p>
          <a:p>
            <a:pPr marR="0" lvl="0" rtl="0">
              <a:buNone/>
            </a:pPr>
            <a:r>
              <a:rPr lang="en-US" b="1" baseline="0" dirty="0" smtClean="0">
                <a:solidFill>
                  <a:srgbClr val="4F81BD"/>
                </a:solidFill>
                <a:latin typeface="Cambria"/>
              </a:rPr>
              <a:t>	Statement1;</a:t>
            </a:r>
          </a:p>
          <a:p>
            <a:pPr marR="0" lvl="0" rtl="0">
              <a:buNone/>
            </a:pPr>
            <a:r>
              <a:rPr lang="en-US" b="1" baseline="0" dirty="0" smtClean="0">
                <a:solidFill>
                  <a:srgbClr val="4F81BD"/>
                </a:solidFill>
                <a:latin typeface="Cambria"/>
              </a:rPr>
              <a:t>	Statement2;</a:t>
            </a:r>
          </a:p>
          <a:p>
            <a:pPr marR="0" lvl="0" rtl="0">
              <a:buNone/>
            </a:pPr>
            <a:r>
              <a:rPr lang="en-US" b="1" baseline="0" dirty="0" smtClean="0">
                <a:solidFill>
                  <a:srgbClr val="4F81BD"/>
                </a:solidFill>
                <a:latin typeface="Cambria"/>
              </a:rPr>
              <a:t>	}</a:t>
            </a:r>
          </a:p>
          <a:p>
            <a:pPr marR="0" lvl="0" rtl="0"/>
            <a:endParaRPr lang="en-US" b="1" baseline="0" dirty="0" smtClean="0">
              <a:solidFill>
                <a:srgbClr val="4F81BD"/>
              </a:solidFill>
              <a:latin typeface="Cambria"/>
            </a:endParaRPr>
          </a:p>
          <a:p>
            <a:pPr marR="0" lvl="0" algn="just" rtl="0">
              <a:buNone/>
            </a:pPr>
            <a:r>
              <a:rPr lang="en-US" b="1" baseline="0" dirty="0" smtClean="0">
                <a:solidFill>
                  <a:srgbClr val="4F81BD"/>
                </a:solidFill>
                <a:latin typeface="Cambria"/>
              </a:rPr>
              <a:t>	The statement or instruction is executed only when the condition is true. In case the condition is false the compiler skips the lines within the block (Curly braces).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pPr marR="0" rtl="0"/>
            <a:r>
              <a:rPr lang="en-US" sz="4000" b="1" baseline="0" dirty="0" smtClean="0">
                <a:solidFill>
                  <a:srgbClr val="365F91"/>
                </a:solidFill>
                <a:latin typeface="Cambria"/>
              </a:rPr>
              <a:t>Note:</a:t>
            </a:r>
          </a:p>
        </p:txBody>
      </p:sp>
      <p:sp>
        <p:nvSpPr>
          <p:cNvPr id="3" name="Text Placeholder 2"/>
          <p:cNvSpPr>
            <a:spLocks noGrp="1"/>
          </p:cNvSpPr>
          <p:nvPr>
            <p:ph type="body" idx="1"/>
          </p:nvPr>
        </p:nvSpPr>
        <p:spPr>
          <a:xfrm>
            <a:off x="457200" y="762001"/>
            <a:ext cx="8229600" cy="5791200"/>
          </a:xfrm>
        </p:spPr>
        <p:txBody>
          <a:bodyPr>
            <a:normAutofit lnSpcReduction="10000"/>
          </a:bodyPr>
          <a:lstStyle/>
          <a:p>
            <a:pPr marR="0" lvl="0" rtl="0"/>
            <a:r>
              <a:rPr lang="en-US" b="1" baseline="0" dirty="0" smtClean="0">
                <a:solidFill>
                  <a:srgbClr val="4F81BD"/>
                </a:solidFill>
                <a:latin typeface="Cambria"/>
              </a:rPr>
              <a:t>The conditional statements should not be terminated with semi-colon(;).</a:t>
            </a:r>
          </a:p>
          <a:p>
            <a:pPr marR="0" lvl="0" rtl="0"/>
            <a:r>
              <a:rPr lang="en-US" b="1" baseline="0" dirty="0" smtClean="0">
                <a:solidFill>
                  <a:srgbClr val="4F81BD"/>
                </a:solidFill>
                <a:latin typeface="Cambria"/>
              </a:rPr>
              <a:t>Curly braces indicate the scope of the if statement, default scope is one statement</a:t>
            </a:r>
            <a:r>
              <a:rPr lang="en-US" b="1" baseline="0" dirty="0" smtClean="0">
                <a:solidFill>
                  <a:srgbClr val="4F81BD"/>
                </a:solidFill>
                <a:latin typeface="Times New Roman"/>
              </a:rPr>
              <a:t>.</a:t>
            </a:r>
          </a:p>
          <a:p>
            <a:r>
              <a:rPr lang="en-US" b="1" baseline="0" dirty="0" smtClean="0">
                <a:solidFill>
                  <a:srgbClr val="4F81BD"/>
                </a:solidFill>
                <a:latin typeface="Cambria"/>
              </a:rPr>
              <a:t>Other than</a:t>
            </a:r>
            <a:r>
              <a:rPr lang="en-US" b="1" baseline="0" dirty="0" smtClean="0">
                <a:solidFill>
                  <a:srgbClr val="4F81BD"/>
                </a:solidFill>
                <a:latin typeface="Times New Roman"/>
              </a:rPr>
              <a:t> </a:t>
            </a:r>
            <a:r>
              <a:rPr lang="en-US" b="1" baseline="0" dirty="0" smtClean="0">
                <a:solidFill>
                  <a:srgbClr val="4F81BD"/>
                </a:solidFill>
                <a:latin typeface="Cambria"/>
              </a:rPr>
              <a:t>0(zero), all other values are considered as true.</a:t>
            </a:r>
          </a:p>
          <a:p>
            <a:pPr>
              <a:buNone/>
            </a:pPr>
            <a:r>
              <a:rPr lang="en-US" b="1" dirty="0" smtClean="0">
                <a:solidFill>
                  <a:srgbClr val="4F81BD"/>
                </a:solidFill>
                <a:latin typeface="Cambria"/>
              </a:rPr>
              <a:t>	</a:t>
            </a:r>
            <a:r>
              <a:rPr lang="en-US" sz="2600" b="1" dirty="0" smtClean="0">
                <a:solidFill>
                  <a:srgbClr val="4F81BD"/>
                </a:solidFill>
                <a:latin typeface="Cambria"/>
              </a:rPr>
              <a:t>EX:		</a:t>
            </a:r>
            <a:r>
              <a:rPr lang="en-US" sz="2600" b="1" baseline="0" dirty="0" smtClean="0">
                <a:solidFill>
                  <a:srgbClr val="4F81BD"/>
                </a:solidFill>
                <a:latin typeface="Cambria"/>
              </a:rPr>
              <a:t>if(27)</a:t>
            </a:r>
          </a:p>
          <a:p>
            <a:pPr>
              <a:buNone/>
            </a:pPr>
            <a:r>
              <a:rPr lang="en-US" sz="2600" b="1" dirty="0" smtClean="0">
                <a:solidFill>
                  <a:srgbClr val="4F81BD"/>
                </a:solidFill>
                <a:latin typeface="Cambria"/>
              </a:rPr>
              <a:t>			</a:t>
            </a:r>
            <a:r>
              <a:rPr lang="en-US" sz="2600" b="1" baseline="0" dirty="0" err="1" smtClean="0">
                <a:solidFill>
                  <a:srgbClr val="4F81BD"/>
                </a:solidFill>
                <a:latin typeface="Cambria"/>
              </a:rPr>
              <a:t>printf</a:t>
            </a:r>
            <a:r>
              <a:rPr lang="en-US" sz="2600" b="1" baseline="0" dirty="0" smtClean="0">
                <a:solidFill>
                  <a:srgbClr val="4F81BD"/>
                </a:solidFill>
                <a:latin typeface="Cambria"/>
              </a:rPr>
              <a:t>("hello");</a:t>
            </a:r>
          </a:p>
          <a:p>
            <a:pPr algn="just"/>
            <a:r>
              <a:rPr lang="en-US" b="1" dirty="0" smtClean="0">
                <a:solidFill>
                  <a:schemeClr val="accent1"/>
                </a:solidFill>
                <a:latin typeface="Cambria" pitchFamily="18" charset="0"/>
              </a:rPr>
              <a:t>We can write action statement in condition block of decision statement without semicolon .</a:t>
            </a:r>
          </a:p>
          <a:p>
            <a:pPr marR="0" lvl="0" rtl="0">
              <a:buNone/>
            </a:pPr>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dirty="0" smtClean="0">
                <a:solidFill>
                  <a:srgbClr val="365F91"/>
                </a:solidFill>
                <a:latin typeface="Cambria"/>
              </a:rPr>
              <a:t>2)</a:t>
            </a:r>
            <a:r>
              <a:rPr lang="en-US" b="1" baseline="0" dirty="0" smtClean="0">
                <a:solidFill>
                  <a:srgbClr val="365F91"/>
                </a:solidFill>
                <a:latin typeface="Cambria"/>
              </a:rPr>
              <a:t> if else Statement</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p:txBody>
          <a:bodyPr>
            <a:normAutofit fontScale="62500" lnSpcReduction="20000"/>
          </a:bodyPr>
          <a:lstStyle/>
          <a:p>
            <a:pPr marR="0" lvl="0" rtl="0">
              <a:buNone/>
            </a:pPr>
            <a:r>
              <a:rPr lang="en-US" b="1" baseline="0" dirty="0" smtClean="0">
                <a:solidFill>
                  <a:srgbClr val="4F81BD"/>
                </a:solidFill>
                <a:latin typeface="Cambria"/>
              </a:rPr>
              <a:t>Syntax for the simplest if statement</a:t>
            </a:r>
          </a:p>
          <a:p>
            <a:pPr marR="0" lvl="0" rtl="0">
              <a:buNone/>
            </a:pPr>
            <a:r>
              <a:rPr lang="en-US" b="1" baseline="0" dirty="0" smtClean="0">
                <a:solidFill>
                  <a:srgbClr val="4F81BD"/>
                </a:solidFill>
                <a:latin typeface="Cambria"/>
              </a:rPr>
              <a:t>	if(condition) /* no semi-colon , not a function */</a:t>
            </a:r>
          </a:p>
          <a:p>
            <a:pPr marR="0" lvl="0" rtl="0">
              <a:buNone/>
            </a:pPr>
            <a:r>
              <a:rPr lang="en-US" b="1" baseline="0" dirty="0" smtClean="0">
                <a:solidFill>
                  <a:srgbClr val="4F81BD"/>
                </a:solidFill>
                <a:latin typeface="Cambria"/>
              </a:rPr>
              <a:t>	{</a:t>
            </a:r>
          </a:p>
          <a:p>
            <a:pPr marR="0" lvl="0" rtl="0">
              <a:buNone/>
            </a:pPr>
            <a:r>
              <a:rPr lang="en-US" b="1" baseline="0" dirty="0" smtClean="0">
                <a:solidFill>
                  <a:srgbClr val="4F81BD"/>
                </a:solidFill>
                <a:latin typeface="Cambria"/>
              </a:rPr>
              <a:t>	Statement 1;</a:t>
            </a:r>
          </a:p>
          <a:p>
            <a:pPr marR="0" lvl="0" rtl="0">
              <a:buNone/>
            </a:pPr>
            <a:r>
              <a:rPr lang="en-US" b="1" baseline="0" dirty="0" smtClean="0">
                <a:solidFill>
                  <a:srgbClr val="4F81BD"/>
                </a:solidFill>
                <a:latin typeface="Cambria"/>
              </a:rPr>
              <a:t>	Statement 2;</a:t>
            </a:r>
          </a:p>
          <a:p>
            <a:pPr marR="0" lvl="0" rtl="0">
              <a:buNone/>
            </a:pPr>
            <a:r>
              <a:rPr lang="en-US" b="1" baseline="0" dirty="0" smtClean="0">
                <a:solidFill>
                  <a:srgbClr val="4F81BD"/>
                </a:solidFill>
                <a:latin typeface="Cambria"/>
              </a:rPr>
              <a:t>	}</a:t>
            </a:r>
          </a:p>
          <a:p>
            <a:pPr marR="0" lvl="0" rtl="0">
              <a:buNone/>
            </a:pPr>
            <a:r>
              <a:rPr lang="en-US" b="1" baseline="0" dirty="0" smtClean="0">
                <a:solidFill>
                  <a:srgbClr val="4F81BD"/>
                </a:solidFill>
                <a:latin typeface="Cambria"/>
              </a:rPr>
              <a:t>	else</a:t>
            </a:r>
          </a:p>
          <a:p>
            <a:pPr marR="0" lvl="0" rtl="0">
              <a:buNone/>
            </a:pPr>
            <a:r>
              <a:rPr lang="en-US" b="1" baseline="0" dirty="0" smtClean="0">
                <a:solidFill>
                  <a:srgbClr val="4F81BD"/>
                </a:solidFill>
                <a:latin typeface="Cambria"/>
              </a:rPr>
              <a:t>	{</a:t>
            </a:r>
          </a:p>
          <a:p>
            <a:pPr marR="0" lvl="0" rtl="0">
              <a:buNone/>
            </a:pPr>
            <a:r>
              <a:rPr lang="en-US" b="1" baseline="0" dirty="0" smtClean="0">
                <a:solidFill>
                  <a:srgbClr val="4F81BD"/>
                </a:solidFill>
                <a:latin typeface="Cambria"/>
              </a:rPr>
              <a:t>	statement 3;</a:t>
            </a:r>
          </a:p>
          <a:p>
            <a:pPr marR="0" lvl="0" rtl="0">
              <a:buNone/>
            </a:pPr>
            <a:r>
              <a:rPr lang="en-US" b="1" baseline="0" dirty="0" smtClean="0">
                <a:solidFill>
                  <a:srgbClr val="4F81BD"/>
                </a:solidFill>
                <a:latin typeface="Cambria"/>
              </a:rPr>
              <a:t>	}</a:t>
            </a:r>
          </a:p>
          <a:p>
            <a:pPr marR="0" lvl="0" rtl="0"/>
            <a:endParaRPr lang="en-US" b="1" baseline="0" dirty="0" smtClean="0">
              <a:solidFill>
                <a:srgbClr val="4F81BD"/>
              </a:solidFill>
              <a:latin typeface="Cambria"/>
            </a:endParaRPr>
          </a:p>
          <a:p>
            <a:pPr marR="0" lvl="0" algn="just" rtl="0">
              <a:buNone/>
            </a:pPr>
            <a:r>
              <a:rPr lang="en-US" b="1" baseline="0" dirty="0" smtClean="0">
                <a:solidFill>
                  <a:srgbClr val="4F81BD"/>
                </a:solidFill>
                <a:latin typeface="Cambria"/>
              </a:rPr>
              <a:t>	The if ..else statement takes care of true as well as false conditions. It has two blocks. One block is for if and it is executed when the condition is true. The other blocks is of else and it is executed when the condition is false.</a:t>
            </a:r>
          </a:p>
          <a:p>
            <a:pPr marR="0" lvl="0" rtl="0"/>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Note:  </a:t>
            </a:r>
          </a:p>
        </p:txBody>
      </p:sp>
      <p:sp>
        <p:nvSpPr>
          <p:cNvPr id="3" name="Text Placeholder 2"/>
          <p:cNvSpPr>
            <a:spLocks noGrp="1"/>
          </p:cNvSpPr>
          <p:nvPr>
            <p:ph type="body" idx="1"/>
          </p:nvPr>
        </p:nvSpPr>
        <p:spPr/>
        <p:txBody>
          <a:bodyPr/>
          <a:lstStyle/>
          <a:p>
            <a:pPr marR="0" lvl="0" rtl="0"/>
            <a:r>
              <a:rPr lang="en-US" b="1" baseline="0" smtClean="0">
                <a:solidFill>
                  <a:srgbClr val="4F81BD"/>
                </a:solidFill>
                <a:latin typeface="Cambria"/>
              </a:rPr>
              <a:t>The else statement cannot used without if,</a:t>
            </a:r>
          </a:p>
          <a:p>
            <a:pPr marR="0" lvl="0" rtl="0"/>
            <a:r>
              <a:rPr lang="en-US" b="1" baseline="0" smtClean="0">
                <a:solidFill>
                  <a:srgbClr val="4F81BD"/>
                </a:solidFill>
                <a:latin typeface="Cambria"/>
              </a:rPr>
              <a:t>No multiple else statement are allowed with one if.</a:t>
            </a:r>
            <a:endParaRPr lang="en-US" b="1" baseline="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fontScale="90000"/>
          </a:bodyPr>
          <a:lstStyle/>
          <a:p>
            <a:pPr marR="0" rtl="0"/>
            <a:r>
              <a:rPr lang="en-US" b="1" dirty="0" smtClean="0">
                <a:solidFill>
                  <a:srgbClr val="365F91"/>
                </a:solidFill>
                <a:latin typeface="Cambria"/>
              </a:rPr>
              <a:t>3</a:t>
            </a:r>
            <a:r>
              <a:rPr lang="en-US" b="1" baseline="0" dirty="0" smtClean="0">
                <a:solidFill>
                  <a:srgbClr val="365F91"/>
                </a:solidFill>
                <a:latin typeface="Cambria"/>
              </a:rPr>
              <a:t>) nested if...else statement</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457200" y="1066800"/>
            <a:ext cx="8229600" cy="5059363"/>
          </a:xfrm>
        </p:spPr>
        <p:txBody>
          <a:bodyPr>
            <a:normAutofit fontScale="62500" lnSpcReduction="20000"/>
          </a:bodyPr>
          <a:lstStyle/>
          <a:p>
            <a:pPr marR="0" lvl="0" rtl="0">
              <a:buNone/>
            </a:pPr>
            <a:r>
              <a:rPr lang="en-US" b="1" baseline="0" dirty="0" smtClean="0">
                <a:solidFill>
                  <a:srgbClr val="4F81BD"/>
                </a:solidFill>
                <a:latin typeface="Cambria"/>
              </a:rPr>
              <a:t>Syntax :</a:t>
            </a:r>
          </a:p>
          <a:p>
            <a:pPr marR="0" lvl="0" rtl="0">
              <a:buNone/>
            </a:pPr>
            <a:r>
              <a:rPr lang="en-US" b="1" baseline="0" dirty="0" smtClean="0">
                <a:solidFill>
                  <a:srgbClr val="4F81BD"/>
                </a:solidFill>
                <a:latin typeface="Times New Roman"/>
              </a:rPr>
              <a:t>	if( condition )</a:t>
            </a:r>
          </a:p>
          <a:p>
            <a:pPr marR="0" lvl="0" rtl="0">
              <a:buNone/>
            </a:pPr>
            <a:r>
              <a:rPr lang="en-US" b="1" baseline="0" dirty="0" smtClean="0">
                <a:solidFill>
                  <a:srgbClr val="4F81BD"/>
                </a:solidFill>
                <a:latin typeface="Times New Roman"/>
              </a:rPr>
              <a:t>	{</a:t>
            </a:r>
          </a:p>
          <a:p>
            <a:pPr marR="0" lvl="0" rtl="0">
              <a:buNone/>
            </a:pPr>
            <a:r>
              <a:rPr lang="en-US" b="1" baseline="0" dirty="0" smtClean="0">
                <a:solidFill>
                  <a:srgbClr val="4F81BD"/>
                </a:solidFill>
                <a:latin typeface="Times New Roman"/>
              </a:rPr>
              <a:t>	</a:t>
            </a:r>
            <a:r>
              <a:rPr lang="en-US" b="1" dirty="0">
                <a:solidFill>
                  <a:srgbClr val="4F81BD"/>
                </a:solidFill>
                <a:latin typeface="Times New Roman"/>
              </a:rPr>
              <a:t>	</a:t>
            </a:r>
            <a:r>
              <a:rPr lang="en-US" b="1" baseline="0" dirty="0" smtClean="0">
                <a:solidFill>
                  <a:srgbClr val="4F81BD"/>
                </a:solidFill>
                <a:latin typeface="Times New Roman"/>
              </a:rPr>
              <a:t>if(condition )</a:t>
            </a:r>
          </a:p>
          <a:p>
            <a:pPr marR="0" lvl="0" rtl="0">
              <a:buNone/>
            </a:pPr>
            <a:r>
              <a:rPr lang="en-US" b="1" dirty="0">
                <a:solidFill>
                  <a:srgbClr val="4F81BD"/>
                </a:solidFill>
                <a:latin typeface="Times New Roman"/>
              </a:rPr>
              <a:t>	</a:t>
            </a:r>
            <a:r>
              <a:rPr lang="en-US" b="1" dirty="0" smtClean="0">
                <a:solidFill>
                  <a:srgbClr val="4F81BD"/>
                </a:solidFill>
                <a:latin typeface="Times New Roman"/>
              </a:rPr>
              <a:t>	</a:t>
            </a:r>
            <a:r>
              <a:rPr lang="en-US" b="1" baseline="0" dirty="0" smtClean="0">
                <a:solidFill>
                  <a:srgbClr val="4F81BD"/>
                </a:solidFill>
                <a:latin typeface="Times New Roman"/>
              </a:rPr>
              <a:t>{</a:t>
            </a:r>
          </a:p>
          <a:p>
            <a:pPr marR="0" lvl="0" rtl="0">
              <a:buNone/>
            </a:pPr>
            <a:r>
              <a:rPr lang="en-US" b="1" dirty="0">
                <a:solidFill>
                  <a:srgbClr val="4F81BD"/>
                </a:solidFill>
                <a:latin typeface="Times New Roman"/>
              </a:rPr>
              <a:t>	</a:t>
            </a:r>
            <a:r>
              <a:rPr lang="en-US" b="1" dirty="0" smtClean="0">
                <a:solidFill>
                  <a:srgbClr val="4F81BD"/>
                </a:solidFill>
                <a:latin typeface="Times New Roman"/>
              </a:rPr>
              <a:t>	</a:t>
            </a:r>
            <a:r>
              <a:rPr lang="en-US" b="1" baseline="0" dirty="0" smtClean="0">
                <a:solidFill>
                  <a:srgbClr val="4F81BD"/>
                </a:solidFill>
                <a:latin typeface="Times New Roman"/>
              </a:rPr>
              <a:t>statement block1;</a:t>
            </a:r>
          </a:p>
          <a:p>
            <a:pPr marR="0" lvl="0" rtl="0">
              <a:buNone/>
            </a:pPr>
            <a:r>
              <a:rPr lang="en-US" b="1" dirty="0">
                <a:solidFill>
                  <a:srgbClr val="4F81BD"/>
                </a:solidFill>
                <a:latin typeface="Times New Roman"/>
              </a:rPr>
              <a:t>	</a:t>
            </a:r>
            <a:r>
              <a:rPr lang="en-US" b="1" dirty="0" smtClean="0">
                <a:solidFill>
                  <a:srgbClr val="4F81BD"/>
                </a:solidFill>
                <a:latin typeface="Times New Roman"/>
              </a:rPr>
              <a:t>	</a:t>
            </a:r>
            <a:r>
              <a:rPr lang="en-US" b="1" baseline="0" dirty="0" smtClean="0">
                <a:solidFill>
                  <a:srgbClr val="4F81BD"/>
                </a:solidFill>
                <a:latin typeface="Times New Roman"/>
              </a:rPr>
              <a:t>}</a:t>
            </a:r>
          </a:p>
          <a:p>
            <a:pPr marR="0" lvl="0" rtl="0">
              <a:buNone/>
            </a:pPr>
            <a:r>
              <a:rPr lang="en-US" b="1" dirty="0">
                <a:solidFill>
                  <a:srgbClr val="4F81BD"/>
                </a:solidFill>
                <a:latin typeface="Times New Roman"/>
              </a:rPr>
              <a:t>	</a:t>
            </a:r>
            <a:r>
              <a:rPr lang="en-US" b="1" dirty="0" smtClean="0">
                <a:solidFill>
                  <a:srgbClr val="4F81BD"/>
                </a:solidFill>
                <a:latin typeface="Times New Roman"/>
              </a:rPr>
              <a:t>	</a:t>
            </a:r>
            <a:r>
              <a:rPr lang="en-US" b="1" baseline="0" dirty="0" smtClean="0">
                <a:solidFill>
                  <a:srgbClr val="4F81BD"/>
                </a:solidFill>
                <a:latin typeface="Times New Roman"/>
              </a:rPr>
              <a:t>else </a:t>
            </a:r>
          </a:p>
          <a:p>
            <a:pPr marR="0" lvl="0" rtl="0">
              <a:buNone/>
            </a:pPr>
            <a:r>
              <a:rPr lang="en-US" b="1" dirty="0">
                <a:solidFill>
                  <a:srgbClr val="4F81BD"/>
                </a:solidFill>
                <a:latin typeface="Times New Roman"/>
              </a:rPr>
              <a:t>	</a:t>
            </a:r>
            <a:r>
              <a:rPr lang="en-US" b="1" dirty="0" smtClean="0">
                <a:solidFill>
                  <a:srgbClr val="4F81BD"/>
                </a:solidFill>
                <a:latin typeface="Times New Roman"/>
              </a:rPr>
              <a:t>	</a:t>
            </a:r>
            <a:r>
              <a:rPr lang="en-US" b="1" baseline="0" dirty="0" smtClean="0">
                <a:solidFill>
                  <a:srgbClr val="4F81BD"/>
                </a:solidFill>
                <a:latin typeface="Times New Roman"/>
              </a:rPr>
              <a:t>{</a:t>
            </a:r>
          </a:p>
          <a:p>
            <a:pPr marR="0" lvl="0" rtl="0">
              <a:buNone/>
            </a:pPr>
            <a:r>
              <a:rPr lang="en-US" b="1" dirty="0">
                <a:solidFill>
                  <a:srgbClr val="4F81BD"/>
                </a:solidFill>
                <a:latin typeface="Times New Roman"/>
              </a:rPr>
              <a:t>	</a:t>
            </a:r>
            <a:r>
              <a:rPr lang="en-US" b="1" dirty="0" smtClean="0">
                <a:solidFill>
                  <a:srgbClr val="4F81BD"/>
                </a:solidFill>
                <a:latin typeface="Times New Roman"/>
              </a:rPr>
              <a:t>	s</a:t>
            </a:r>
            <a:r>
              <a:rPr lang="en-US" b="1" baseline="0" dirty="0" smtClean="0">
                <a:solidFill>
                  <a:srgbClr val="4F81BD"/>
                </a:solidFill>
                <a:latin typeface="Times New Roman"/>
              </a:rPr>
              <a:t>tatement block2;</a:t>
            </a:r>
          </a:p>
          <a:p>
            <a:pPr marR="0" lvl="0" rtl="0">
              <a:buNone/>
            </a:pPr>
            <a:r>
              <a:rPr lang="en-US" b="1" dirty="0">
                <a:solidFill>
                  <a:srgbClr val="4F81BD"/>
                </a:solidFill>
                <a:latin typeface="Times New Roman"/>
              </a:rPr>
              <a:t>	</a:t>
            </a:r>
            <a:r>
              <a:rPr lang="en-US" b="1" dirty="0" smtClean="0">
                <a:solidFill>
                  <a:srgbClr val="4F81BD"/>
                </a:solidFill>
                <a:latin typeface="Times New Roman"/>
              </a:rPr>
              <a:t>	</a:t>
            </a:r>
            <a:r>
              <a:rPr lang="en-US" b="1" baseline="0" dirty="0" smtClean="0">
                <a:solidFill>
                  <a:srgbClr val="4F81BD"/>
                </a:solidFill>
                <a:latin typeface="Times New Roman"/>
              </a:rPr>
              <a:t>}</a:t>
            </a:r>
          </a:p>
          <a:p>
            <a:pPr marR="0" lvl="0" rtl="0">
              <a:buNone/>
            </a:pPr>
            <a:r>
              <a:rPr lang="en-US" b="1" baseline="0" dirty="0" smtClean="0">
                <a:solidFill>
                  <a:srgbClr val="4F81BD"/>
                </a:solidFill>
                <a:latin typeface="Times New Roman"/>
              </a:rPr>
              <a:t>	}</a:t>
            </a:r>
          </a:p>
          <a:p>
            <a:pPr marR="0" lvl="0" rtl="0">
              <a:buNone/>
            </a:pPr>
            <a:r>
              <a:rPr lang="en-US" b="1" baseline="0" dirty="0" smtClean="0">
                <a:solidFill>
                  <a:srgbClr val="4F81BD"/>
                </a:solidFill>
                <a:latin typeface="Times New Roman"/>
              </a:rPr>
              <a:t>	else</a:t>
            </a:r>
          </a:p>
          <a:p>
            <a:pPr marR="0" lvl="0" rtl="0">
              <a:buNone/>
            </a:pPr>
            <a:r>
              <a:rPr lang="en-US" b="1" baseline="0" dirty="0" smtClean="0">
                <a:solidFill>
                  <a:srgbClr val="4F81BD"/>
                </a:solidFill>
                <a:latin typeface="Times New Roman"/>
              </a:rPr>
              <a:t>	{</a:t>
            </a:r>
          </a:p>
          <a:p>
            <a:pPr marR="0" lvl="0" rtl="0">
              <a:buNone/>
            </a:pPr>
            <a:r>
              <a:rPr lang="en-US" b="1" baseline="0" dirty="0" smtClean="0">
                <a:solidFill>
                  <a:srgbClr val="4F81BD"/>
                </a:solidFill>
                <a:latin typeface="Times New Roman"/>
              </a:rPr>
              <a:t>	statement block3;</a:t>
            </a:r>
          </a:p>
          <a:p>
            <a:pPr marR="0" lvl="0" rtl="0">
              <a:buNone/>
            </a:pPr>
            <a:r>
              <a:rPr lang="en-US" b="1" baseline="0" dirty="0" smtClean="0">
                <a:solidFill>
                  <a:srgbClr val="4F81BD"/>
                </a:solidFill>
                <a:latin typeface="Times New Roman"/>
              </a:rPr>
              <a:t>	}</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914400"/>
          </a:xfrm>
        </p:spPr>
        <p:txBody>
          <a:bodyPr>
            <a:noAutofit/>
          </a:bodyPr>
          <a:lstStyle/>
          <a:p>
            <a:pPr marR="0" rtl="0"/>
            <a:r>
              <a:rPr lang="en-US" sz="2800" b="1" dirty="0" smtClean="0">
                <a:solidFill>
                  <a:srgbClr val="365F91"/>
                </a:solidFill>
                <a:latin typeface="Cambria"/>
              </a:rPr>
              <a:t>4)</a:t>
            </a:r>
            <a:r>
              <a:rPr lang="en-US" sz="2800" b="1" baseline="0" dirty="0" smtClean="0">
                <a:solidFill>
                  <a:srgbClr val="365F91"/>
                </a:solidFill>
                <a:latin typeface="Cambria"/>
              </a:rPr>
              <a:t> else if ladder ( if...else if....else Statement )</a:t>
            </a:r>
            <a:endParaRPr lang="en-US" sz="2800" b="1" baseline="0" dirty="0" smtClean="0">
              <a:solidFill>
                <a:srgbClr val="365F91"/>
              </a:solidFill>
              <a:latin typeface="Times New Roman"/>
            </a:endParaRPr>
          </a:p>
        </p:txBody>
      </p:sp>
      <p:sp>
        <p:nvSpPr>
          <p:cNvPr id="5" name="Rectangle 4"/>
          <p:cNvSpPr/>
          <p:nvPr/>
        </p:nvSpPr>
        <p:spPr>
          <a:xfrm>
            <a:off x="762000" y="1295400"/>
            <a:ext cx="7848600" cy="5078313"/>
          </a:xfrm>
          <a:prstGeom prst="rect">
            <a:avLst/>
          </a:prstGeom>
        </p:spPr>
        <p:txBody>
          <a:bodyPr wrap="square">
            <a:spAutoFit/>
          </a:bodyPr>
          <a:lstStyle/>
          <a:p>
            <a:r>
              <a:rPr lang="en-US" sz="2800" b="1" dirty="0" smtClean="0">
                <a:solidFill>
                  <a:schemeClr val="tx2">
                    <a:lumMod val="60000"/>
                    <a:lumOff val="40000"/>
                  </a:schemeClr>
                </a:solidFill>
              </a:rPr>
              <a:t>Syntax :</a:t>
            </a:r>
          </a:p>
          <a:p>
            <a:endParaRPr lang="en-US" sz="2800" b="1" baseline="0" dirty="0" smtClean="0">
              <a:solidFill>
                <a:schemeClr val="tx2">
                  <a:lumMod val="60000"/>
                  <a:lumOff val="40000"/>
                </a:schemeClr>
              </a:solidFill>
            </a:endParaRPr>
          </a:p>
          <a:p>
            <a:pPr lvl="0"/>
            <a:r>
              <a:rPr lang="en-US" sz="2000" b="1" baseline="0" dirty="0" smtClean="0">
                <a:solidFill>
                  <a:schemeClr val="tx2">
                    <a:lumMod val="60000"/>
                    <a:lumOff val="40000"/>
                  </a:schemeClr>
                </a:solidFill>
              </a:rPr>
              <a:t>if (condition) </a:t>
            </a:r>
          </a:p>
          <a:p>
            <a:pPr lvl="0"/>
            <a:r>
              <a:rPr lang="en-US" sz="2000" b="1" baseline="0" dirty="0" smtClean="0">
                <a:solidFill>
                  <a:schemeClr val="tx2">
                    <a:lumMod val="60000"/>
                    <a:lumOff val="40000"/>
                  </a:schemeClr>
                </a:solidFill>
              </a:rPr>
              <a:t>{</a:t>
            </a:r>
            <a:br>
              <a:rPr lang="en-US" sz="2000" b="1" baseline="0" dirty="0" smtClean="0">
                <a:solidFill>
                  <a:schemeClr val="tx2">
                    <a:lumMod val="60000"/>
                    <a:lumOff val="40000"/>
                  </a:schemeClr>
                </a:solidFill>
              </a:rPr>
            </a:br>
            <a:r>
              <a:rPr lang="en-US" sz="2000" b="1" baseline="0" dirty="0" smtClean="0">
                <a:solidFill>
                  <a:schemeClr val="tx2">
                    <a:lumMod val="60000"/>
                    <a:lumOff val="40000"/>
                  </a:schemeClr>
                </a:solidFill>
              </a:rPr>
              <a:t>    statement1;</a:t>
            </a:r>
            <a:br>
              <a:rPr lang="en-US" sz="2000" b="1" baseline="0" dirty="0" smtClean="0">
                <a:solidFill>
                  <a:schemeClr val="tx2">
                    <a:lumMod val="60000"/>
                    <a:lumOff val="40000"/>
                  </a:schemeClr>
                </a:solidFill>
              </a:rPr>
            </a:br>
            <a:r>
              <a:rPr lang="en-US" sz="2000" b="1" baseline="0" dirty="0" smtClean="0">
                <a:solidFill>
                  <a:schemeClr val="tx2">
                    <a:lumMod val="60000"/>
                    <a:lumOff val="40000"/>
                  </a:schemeClr>
                </a:solidFill>
              </a:rPr>
              <a:t>} </a:t>
            </a:r>
          </a:p>
          <a:p>
            <a:pPr lvl="0"/>
            <a:r>
              <a:rPr lang="en-US" sz="2000" b="1" baseline="0" dirty="0" smtClean="0">
                <a:solidFill>
                  <a:schemeClr val="tx2">
                    <a:lumMod val="60000"/>
                    <a:lumOff val="40000"/>
                  </a:schemeClr>
                </a:solidFill>
              </a:rPr>
              <a:t>else if (condition) </a:t>
            </a:r>
          </a:p>
          <a:p>
            <a:pPr lvl="0"/>
            <a:r>
              <a:rPr lang="en-US" sz="2000" b="1" baseline="0" dirty="0" smtClean="0">
                <a:solidFill>
                  <a:schemeClr val="tx2">
                    <a:lumMod val="60000"/>
                    <a:lumOff val="40000"/>
                  </a:schemeClr>
                </a:solidFill>
              </a:rPr>
              <a:t>{</a:t>
            </a:r>
            <a:br>
              <a:rPr lang="en-US" sz="2000" b="1" baseline="0" dirty="0" smtClean="0">
                <a:solidFill>
                  <a:schemeClr val="tx2">
                    <a:lumMod val="60000"/>
                    <a:lumOff val="40000"/>
                  </a:schemeClr>
                </a:solidFill>
              </a:rPr>
            </a:br>
            <a:r>
              <a:rPr lang="en-US" sz="2000" b="1" baseline="0" dirty="0" smtClean="0">
                <a:solidFill>
                  <a:schemeClr val="tx2">
                    <a:lumMod val="60000"/>
                    <a:lumOff val="40000"/>
                  </a:schemeClr>
                </a:solidFill>
              </a:rPr>
              <a:t>   statement2;</a:t>
            </a:r>
            <a:br>
              <a:rPr lang="en-US" sz="2000" b="1" baseline="0" dirty="0" smtClean="0">
                <a:solidFill>
                  <a:schemeClr val="tx2">
                    <a:lumMod val="60000"/>
                    <a:lumOff val="40000"/>
                  </a:schemeClr>
                </a:solidFill>
              </a:rPr>
            </a:br>
            <a:r>
              <a:rPr lang="en-US" sz="2000" b="1" baseline="0" dirty="0" smtClean="0">
                <a:solidFill>
                  <a:schemeClr val="tx2">
                    <a:lumMod val="60000"/>
                    <a:lumOff val="40000"/>
                  </a:schemeClr>
                </a:solidFill>
              </a:rPr>
              <a:t>} </a:t>
            </a:r>
          </a:p>
          <a:p>
            <a:pPr lvl="0"/>
            <a:r>
              <a:rPr lang="en-US" sz="2000" b="1" dirty="0">
                <a:solidFill>
                  <a:schemeClr val="tx2">
                    <a:lumMod val="60000"/>
                    <a:lumOff val="40000"/>
                  </a:schemeClr>
                </a:solidFill>
              </a:rPr>
              <a:t>e</a:t>
            </a:r>
            <a:r>
              <a:rPr lang="en-US" sz="2000" b="1" baseline="0" dirty="0" smtClean="0">
                <a:solidFill>
                  <a:schemeClr val="tx2">
                    <a:lumMod val="60000"/>
                    <a:lumOff val="40000"/>
                  </a:schemeClr>
                </a:solidFill>
              </a:rPr>
              <a:t>lse</a:t>
            </a:r>
          </a:p>
          <a:p>
            <a:pPr lvl="0"/>
            <a:r>
              <a:rPr lang="en-US" sz="2000" b="1" baseline="0" dirty="0" smtClean="0">
                <a:solidFill>
                  <a:schemeClr val="tx2">
                    <a:lumMod val="60000"/>
                    <a:lumOff val="40000"/>
                  </a:schemeClr>
                </a:solidFill>
                <a:latin typeface="Cambria"/>
              </a:rPr>
              <a:t>{</a:t>
            </a:r>
          </a:p>
          <a:p>
            <a:pPr lvl="0"/>
            <a:r>
              <a:rPr lang="en-US" sz="2000" b="1" baseline="0" dirty="0" smtClean="0">
                <a:solidFill>
                  <a:schemeClr val="tx2">
                    <a:lumMod val="60000"/>
                    <a:lumOff val="40000"/>
                  </a:schemeClr>
                </a:solidFill>
                <a:latin typeface="Cambria"/>
              </a:rPr>
              <a:t>statement3;</a:t>
            </a:r>
          </a:p>
          <a:p>
            <a:pPr lvl="0"/>
            <a:r>
              <a:rPr lang="en-US" sz="2000" b="1" dirty="0">
                <a:solidFill>
                  <a:schemeClr val="tx2">
                    <a:lumMod val="60000"/>
                    <a:lumOff val="40000"/>
                  </a:schemeClr>
                </a:solidFill>
                <a:latin typeface="Cambria"/>
              </a:rPr>
              <a:t>}</a:t>
            </a:r>
            <a:endParaRPr lang="en-US" sz="2000" b="1" dirty="0">
              <a:solidFill>
                <a:schemeClr val="tx2">
                  <a:lumMod val="60000"/>
                  <a:lumOff val="40000"/>
                </a:schemeClr>
              </a:solidFill>
            </a:endParaRPr>
          </a:p>
          <a:p>
            <a:pPr lvl="0"/>
            <a:endParaRPr lang="en-US" sz="2800" b="1" baseline="0" dirty="0" smtClean="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457200"/>
            <a:ext cx="8229600" cy="5668963"/>
          </a:xfrm>
        </p:spPr>
        <p:txBody>
          <a:bodyPr>
            <a:normAutofit/>
          </a:bodyPr>
          <a:lstStyle/>
          <a:p>
            <a:pPr marR="0" lvl="0" algn="just" rtl="0">
              <a:buNone/>
            </a:pPr>
            <a:r>
              <a:rPr lang="en-US" b="1" baseline="0" dirty="0" smtClean="0">
                <a:solidFill>
                  <a:srgbClr val="4F81BD"/>
                </a:solidFill>
                <a:latin typeface="Cambria"/>
              </a:rPr>
              <a:t>	If we are having different – different test conditions with different – different statements, then for these kind of programming we need else </a:t>
            </a:r>
            <a:r>
              <a:rPr lang="en-US" b="1" baseline="0" smtClean="0">
                <a:solidFill>
                  <a:srgbClr val="4F81BD"/>
                </a:solidFill>
                <a:latin typeface="Cambria"/>
              </a:rPr>
              <a:t>if ladder</a:t>
            </a:r>
            <a:r>
              <a:rPr lang="en-US" b="1" baseline="0" dirty="0" smtClean="0">
                <a:solidFill>
                  <a:srgbClr val="4F81BD"/>
                </a:solidFill>
                <a:latin typeface="Cambria"/>
              </a:rPr>
              <a:t>.</a:t>
            </a:r>
          </a:p>
          <a:p>
            <a:pPr marR="0" lvl="0" rtl="0">
              <a:buNone/>
            </a:pPr>
            <a:endParaRPr lang="en-US" b="1" baseline="0" dirty="0" smtClean="0">
              <a:solidFill>
                <a:srgbClr val="365F91"/>
              </a:solidFill>
              <a:latin typeface="Cambria"/>
            </a:endParaRPr>
          </a:p>
          <a:p>
            <a:pPr marR="0" lvl="0" rtl="0">
              <a:buNone/>
            </a:pPr>
            <a:r>
              <a:rPr lang="en-US" b="1" baseline="0" dirty="0" smtClean="0">
                <a:solidFill>
                  <a:srgbClr val="365F91"/>
                </a:solidFill>
                <a:latin typeface="Cambria"/>
              </a:rPr>
              <a:t>Note:</a:t>
            </a:r>
            <a:r>
              <a:rPr lang="en-US" b="1" baseline="0" dirty="0" smtClean="0">
                <a:solidFill>
                  <a:srgbClr val="4F81BD"/>
                </a:solidFill>
                <a:latin typeface="Cambria"/>
              </a:rPr>
              <a:t>  </a:t>
            </a:r>
          </a:p>
          <a:p>
            <a:pPr marR="0" lvl="0" rtl="0">
              <a:buNone/>
            </a:pPr>
            <a:r>
              <a:rPr lang="en-US" b="1" baseline="0" dirty="0" smtClean="0">
                <a:solidFill>
                  <a:srgbClr val="4F81BD"/>
                </a:solidFill>
                <a:latin typeface="Cambria"/>
              </a:rPr>
              <a:t>	Else if the leader is not interdependent to any other statements or any other test conditions.  But in nested if else statements depends to any other.</a:t>
            </a:r>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fontScale="90000"/>
          </a:bodyPr>
          <a:lstStyle/>
          <a:p>
            <a:pPr marR="0" rtl="0"/>
            <a:r>
              <a:rPr lang="en-US" b="1" baseline="0" dirty="0" smtClean="0">
                <a:solidFill>
                  <a:srgbClr val="365F91"/>
                </a:solidFill>
                <a:latin typeface="Cambria"/>
              </a:rPr>
              <a:t>Conditional Operator ( ? :)</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457200" y="990600"/>
            <a:ext cx="8229600" cy="5135563"/>
          </a:xfrm>
        </p:spPr>
        <p:txBody>
          <a:bodyPr>
            <a:normAutofit fontScale="77500" lnSpcReduction="20000"/>
          </a:bodyPr>
          <a:lstStyle/>
          <a:p>
            <a:pPr marR="0" lvl="0" rtl="0">
              <a:buNone/>
            </a:pPr>
            <a:r>
              <a:rPr lang="en-US" b="1" baseline="0" dirty="0" smtClean="0">
                <a:solidFill>
                  <a:srgbClr val="4F81BD"/>
                </a:solidFill>
                <a:latin typeface="Cambria"/>
              </a:rPr>
              <a:t>	</a:t>
            </a:r>
            <a:r>
              <a:rPr lang="en-US" b="1" baseline="0" dirty="0" smtClean="0">
                <a:solidFill>
                  <a:schemeClr val="tx2">
                    <a:lumMod val="75000"/>
                  </a:schemeClr>
                </a:solidFill>
                <a:latin typeface="Cambria"/>
              </a:rPr>
              <a:t>Syntax </a:t>
            </a:r>
          </a:p>
          <a:p>
            <a:pPr marR="0" lvl="0" rtl="0">
              <a:buNone/>
            </a:pPr>
            <a:r>
              <a:rPr lang="en-US" b="1" dirty="0">
                <a:solidFill>
                  <a:srgbClr val="4F81BD"/>
                </a:solidFill>
                <a:latin typeface="Cambria"/>
              </a:rPr>
              <a:t>	</a:t>
            </a:r>
            <a:r>
              <a:rPr lang="en-US" b="1" baseline="0" dirty="0" smtClean="0">
                <a:solidFill>
                  <a:srgbClr val="4F81BD"/>
                </a:solidFill>
                <a:latin typeface="Cambria"/>
              </a:rPr>
              <a:t>condition ? statement1 :  statement2;</a:t>
            </a:r>
          </a:p>
          <a:p>
            <a:pPr marR="0" lvl="0" rtl="0"/>
            <a:endParaRPr lang="en-US" b="1" baseline="0" dirty="0" smtClean="0">
              <a:solidFill>
                <a:srgbClr val="4F81BD"/>
              </a:solidFill>
              <a:latin typeface="Cambria"/>
            </a:endParaRPr>
          </a:p>
          <a:p>
            <a:pPr marR="0" lvl="0" rtl="0">
              <a:buNone/>
            </a:pPr>
            <a:r>
              <a:rPr lang="en-US" b="1" dirty="0">
                <a:solidFill>
                  <a:srgbClr val="4F81BD"/>
                </a:solidFill>
                <a:latin typeface="Cambria"/>
              </a:rPr>
              <a:t>	</a:t>
            </a:r>
            <a:r>
              <a:rPr lang="en-US" b="1" baseline="0" dirty="0" err="1" smtClean="0">
                <a:solidFill>
                  <a:srgbClr val="4F81BD"/>
                </a:solidFill>
                <a:latin typeface="Cambria"/>
              </a:rPr>
              <a:t>e.g</a:t>
            </a:r>
            <a:r>
              <a:rPr lang="en-US" b="1" baseline="0" dirty="0" smtClean="0">
                <a:solidFill>
                  <a:srgbClr val="4F81BD"/>
                </a:solidFill>
                <a:latin typeface="Cambria"/>
              </a:rPr>
              <a:t> : a&gt;b ? </a:t>
            </a:r>
            <a:r>
              <a:rPr lang="en-US" b="1" baseline="0" dirty="0" err="1" smtClean="0">
                <a:solidFill>
                  <a:srgbClr val="4F81BD"/>
                </a:solidFill>
                <a:latin typeface="Cambria"/>
              </a:rPr>
              <a:t>printf</a:t>
            </a:r>
            <a:r>
              <a:rPr lang="en-US" b="1" baseline="0" dirty="0" smtClean="0">
                <a:solidFill>
                  <a:srgbClr val="4F81BD"/>
                </a:solidFill>
                <a:latin typeface="Cambria"/>
              </a:rPr>
              <a:t>(“a is greater”)   :   </a:t>
            </a:r>
            <a:r>
              <a:rPr lang="en-US" b="1" baseline="0" dirty="0" err="1" smtClean="0">
                <a:solidFill>
                  <a:srgbClr val="4F81BD"/>
                </a:solidFill>
                <a:latin typeface="Cambria"/>
              </a:rPr>
              <a:t>printf</a:t>
            </a:r>
            <a:r>
              <a:rPr lang="en-US" b="1" baseline="0" dirty="0" smtClean="0">
                <a:solidFill>
                  <a:srgbClr val="4F81BD"/>
                </a:solidFill>
                <a:latin typeface="Cambria"/>
              </a:rPr>
              <a:t>(“ b is greater”);</a:t>
            </a:r>
          </a:p>
          <a:p>
            <a:pPr marR="0" lvl="0" rtl="0"/>
            <a:endParaRPr lang="en-US" b="1" baseline="0" dirty="0" smtClean="0">
              <a:solidFill>
                <a:srgbClr val="4F81BD"/>
              </a:solidFill>
              <a:latin typeface="Cambria"/>
            </a:endParaRPr>
          </a:p>
          <a:p>
            <a:pPr marR="0" lvl="0" rtl="0">
              <a:buNone/>
            </a:pPr>
            <a:r>
              <a:rPr lang="en-US" b="1" dirty="0">
                <a:solidFill>
                  <a:srgbClr val="4F81BD"/>
                </a:solidFill>
                <a:latin typeface="Cambria"/>
              </a:rPr>
              <a:t>	</a:t>
            </a:r>
            <a:r>
              <a:rPr lang="en-US" b="1" baseline="0" dirty="0" smtClean="0">
                <a:solidFill>
                  <a:srgbClr val="4F81BD"/>
                </a:solidFill>
                <a:latin typeface="Cambria"/>
              </a:rPr>
              <a:t>Two Statement are separated by a colon. If the condition is true statement1 is executed otherwise statement2 executed.</a:t>
            </a:r>
          </a:p>
          <a:p>
            <a:pPr marR="0" lvl="0" rtl="0">
              <a:buNone/>
            </a:pPr>
            <a:r>
              <a:rPr lang="en-US" b="1" baseline="0" dirty="0" smtClean="0">
                <a:solidFill>
                  <a:srgbClr val="4F81BD"/>
                </a:solidFill>
                <a:latin typeface="Cambria"/>
              </a:rPr>
              <a:t>	</a:t>
            </a:r>
          </a:p>
          <a:p>
            <a:pPr marR="0" lvl="0" rtl="0">
              <a:buNone/>
            </a:pPr>
            <a:r>
              <a:rPr lang="en-US" b="1" dirty="0">
                <a:solidFill>
                  <a:srgbClr val="4F81BD"/>
                </a:solidFill>
                <a:latin typeface="Cambria"/>
              </a:rPr>
              <a:t>	</a:t>
            </a:r>
            <a:r>
              <a:rPr lang="en-US" b="1" baseline="0" dirty="0" smtClean="0">
                <a:solidFill>
                  <a:srgbClr val="4F81BD"/>
                </a:solidFill>
                <a:latin typeface="Cambria"/>
              </a:rPr>
              <a:t>Another use  : selective assignment</a:t>
            </a:r>
          </a:p>
          <a:p>
            <a:pPr marR="0" lvl="0" rtl="0">
              <a:buNone/>
            </a:pPr>
            <a:r>
              <a:rPr lang="es-ES" b="1" baseline="0" dirty="0" smtClean="0">
                <a:solidFill>
                  <a:srgbClr val="4F81BD"/>
                </a:solidFill>
                <a:latin typeface="Cambria"/>
              </a:rPr>
              <a:t>	</a:t>
            </a:r>
            <a:r>
              <a:rPr lang="es-ES" b="1" baseline="0" dirty="0" err="1" smtClean="0">
                <a:solidFill>
                  <a:srgbClr val="4F81BD"/>
                </a:solidFill>
                <a:latin typeface="Cambria"/>
              </a:rPr>
              <a:t>e.g</a:t>
            </a:r>
            <a:r>
              <a:rPr lang="es-ES" b="1" baseline="0" dirty="0" smtClean="0">
                <a:solidFill>
                  <a:srgbClr val="4F81BD"/>
                </a:solidFill>
                <a:latin typeface="Cambria"/>
              </a:rPr>
              <a:t> : </a:t>
            </a:r>
            <a:r>
              <a:rPr lang="es-ES" b="1" baseline="0" dirty="0" err="1" smtClean="0">
                <a:solidFill>
                  <a:srgbClr val="4F81BD"/>
                </a:solidFill>
                <a:latin typeface="Cambria"/>
              </a:rPr>
              <a:t>max</a:t>
            </a:r>
            <a:r>
              <a:rPr lang="es-ES" b="1" baseline="0" dirty="0" smtClean="0">
                <a:solidFill>
                  <a:srgbClr val="4F81BD"/>
                </a:solidFill>
                <a:latin typeface="Cambria"/>
              </a:rPr>
              <a:t>= a&gt;b ? x  :  y ;</a:t>
            </a:r>
          </a:p>
          <a:p>
            <a:pPr marR="0" lvl="0" rtl="0"/>
            <a:endParaRPr lang="en-US" b="1" baseline="0" dirty="0" smtClean="0">
              <a:solidFill>
                <a:srgbClr val="4F81BD"/>
              </a:solidFill>
              <a:latin typeface="Cambria"/>
            </a:endParaRPr>
          </a:p>
          <a:p>
            <a:pPr marR="0" lvl="0" rtl="0">
              <a:buNone/>
            </a:pPr>
            <a:r>
              <a:rPr lang="en-US" b="1" dirty="0">
                <a:solidFill>
                  <a:srgbClr val="4F81BD"/>
                </a:solidFill>
                <a:latin typeface="Cambria"/>
              </a:rPr>
              <a:t>	</a:t>
            </a:r>
            <a:r>
              <a:rPr lang="en-US" b="1" baseline="0" dirty="0" smtClean="0">
                <a:solidFill>
                  <a:srgbClr val="4F81BD"/>
                </a:solidFill>
                <a:latin typeface="Cambria"/>
              </a:rPr>
              <a:t>Note : condition is always written before ? mark.</a:t>
            </a:r>
          </a:p>
          <a:p>
            <a:pPr marR="0" lvl="0" rtl="0"/>
            <a:endParaRPr lang="en-US" baseline="0" dirty="0" smtClean="0">
              <a:solidFill>
                <a:srgbClr val="4F81BD"/>
              </a:solidFill>
              <a:latin typeface="Calibri"/>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382000" cy="1295400"/>
          </a:xfrm>
        </p:spPr>
        <p:txBody>
          <a:bodyPr>
            <a:normAutofit/>
          </a:bodyPr>
          <a:lstStyle/>
          <a:p>
            <a:pPr marR="0" rtl="0"/>
            <a:r>
              <a:rPr lang="en-US" sz="3600" b="1" baseline="0" dirty="0" smtClean="0">
                <a:solidFill>
                  <a:srgbClr val="365F91"/>
                </a:solidFill>
                <a:latin typeface="Cambria"/>
              </a:rPr>
              <a:t>Iterative Control Instruction/Loop Control Statement</a:t>
            </a:r>
          </a:p>
        </p:txBody>
      </p:sp>
      <p:sp>
        <p:nvSpPr>
          <p:cNvPr id="3" name="Text Placeholder 2"/>
          <p:cNvSpPr>
            <a:spLocks noGrp="1"/>
          </p:cNvSpPr>
          <p:nvPr>
            <p:ph type="body" idx="1"/>
          </p:nvPr>
        </p:nvSpPr>
        <p:spPr/>
        <p:txBody>
          <a:bodyPr/>
          <a:lstStyle/>
          <a:p>
            <a:pPr marR="0" lvl="0" rtl="0">
              <a:buNone/>
            </a:pPr>
            <a:r>
              <a:rPr lang="en-US" b="1" baseline="0" dirty="0" smtClean="0">
                <a:solidFill>
                  <a:srgbClr val="4F81BD"/>
                </a:solidFill>
                <a:latin typeface="Cambria"/>
              </a:rPr>
              <a:t>	A loop is defined as a block of statements which are repeatedly executed for certain number of times.</a:t>
            </a:r>
          </a:p>
          <a:p>
            <a:pPr marR="0" lvl="0" rtl="0">
              <a:buNone/>
            </a:pPr>
            <a:r>
              <a:rPr lang="en-US" b="1" baseline="0" dirty="0" smtClean="0">
                <a:solidFill>
                  <a:srgbClr val="4F81BD"/>
                </a:solidFill>
                <a:latin typeface="Cambria"/>
              </a:rPr>
              <a:t>	C language support three types of loop control statements.</a:t>
            </a:r>
          </a:p>
          <a:p>
            <a:pPr lvl="1">
              <a:buFont typeface="Wingdings" pitchFamily="2" charset="2"/>
              <a:buChar char="ü"/>
            </a:pPr>
            <a:r>
              <a:rPr lang="en-US" b="1" baseline="0" dirty="0" smtClean="0">
                <a:solidFill>
                  <a:srgbClr val="4F81BD"/>
                </a:solidFill>
                <a:latin typeface="Cambria"/>
              </a:rPr>
              <a:t>for</a:t>
            </a:r>
          </a:p>
          <a:p>
            <a:pPr lvl="1">
              <a:buFont typeface="Wingdings" pitchFamily="2" charset="2"/>
              <a:buChar char="ü"/>
            </a:pPr>
            <a:r>
              <a:rPr lang="en-US" b="1" baseline="0" dirty="0" smtClean="0">
                <a:solidFill>
                  <a:srgbClr val="4F81BD"/>
                </a:solidFill>
                <a:latin typeface="Cambria"/>
              </a:rPr>
              <a:t>while</a:t>
            </a:r>
          </a:p>
          <a:p>
            <a:pPr lvl="1">
              <a:buFont typeface="Wingdings" pitchFamily="2" charset="2"/>
              <a:buChar char="ü"/>
            </a:pPr>
            <a:r>
              <a:rPr lang="en-US" b="1" baseline="0" dirty="0" smtClean="0">
                <a:solidFill>
                  <a:srgbClr val="4F81BD"/>
                </a:solidFill>
                <a:latin typeface="Cambria"/>
              </a:rPr>
              <a:t>do while</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pPr marR="0" rtl="0"/>
            <a:r>
              <a:rPr lang="en-US" sz="4000" b="1" baseline="0" dirty="0" smtClean="0">
                <a:solidFill>
                  <a:srgbClr val="365F91"/>
                </a:solidFill>
                <a:latin typeface="Cambria"/>
              </a:rPr>
              <a:t>The for LOOP</a:t>
            </a:r>
          </a:p>
        </p:txBody>
      </p:sp>
      <p:sp>
        <p:nvSpPr>
          <p:cNvPr id="3" name="Text Placeholder 2"/>
          <p:cNvSpPr>
            <a:spLocks noGrp="1"/>
          </p:cNvSpPr>
          <p:nvPr>
            <p:ph type="body" idx="1"/>
          </p:nvPr>
        </p:nvSpPr>
        <p:spPr>
          <a:xfrm>
            <a:off x="457200" y="990600"/>
            <a:ext cx="8305800" cy="5410200"/>
          </a:xfrm>
        </p:spPr>
        <p:txBody>
          <a:bodyPr>
            <a:normAutofit lnSpcReduction="10000"/>
          </a:bodyPr>
          <a:lstStyle/>
          <a:p>
            <a:pPr marR="0" lvl="0" algn="just" rtl="0">
              <a:buNone/>
            </a:pPr>
            <a:r>
              <a:rPr lang="en-US" b="1" baseline="0" dirty="0" smtClean="0">
                <a:solidFill>
                  <a:srgbClr val="4F81BD"/>
                </a:solidFill>
                <a:latin typeface="Cambria"/>
              </a:rPr>
              <a:t>	The for loop allows to execute a set of instruction until a certain condition is satisfied. Condition may be predefined or open ended.</a:t>
            </a:r>
          </a:p>
          <a:p>
            <a:pPr marR="0" lvl="0" rtl="0">
              <a:buNone/>
            </a:pPr>
            <a:r>
              <a:rPr lang="en-US" b="1" baseline="0" dirty="0" smtClean="0">
                <a:solidFill>
                  <a:srgbClr val="4F81BD"/>
                </a:solidFill>
                <a:latin typeface="Cambria"/>
              </a:rPr>
              <a:t>	Syntax :</a:t>
            </a:r>
          </a:p>
          <a:p>
            <a:pPr marR="0" lvl="0" rtl="0">
              <a:buNone/>
            </a:pPr>
            <a:r>
              <a:rPr lang="en-US" b="1" baseline="0" dirty="0" smtClean="0">
                <a:solidFill>
                  <a:srgbClr val="4F81BD"/>
                </a:solidFill>
                <a:latin typeface="Cambria"/>
              </a:rPr>
              <a:t>	for( initialize ; condition ; </a:t>
            </a:r>
            <a:r>
              <a:rPr lang="en-US" b="1" baseline="0" dirty="0" err="1" smtClean="0">
                <a:solidFill>
                  <a:srgbClr val="4F81BD"/>
                </a:solidFill>
                <a:latin typeface="Cambria"/>
              </a:rPr>
              <a:t>incre</a:t>
            </a:r>
            <a:r>
              <a:rPr lang="en-US" b="1" baseline="0" dirty="0" smtClean="0">
                <a:solidFill>
                  <a:srgbClr val="4F81BD"/>
                </a:solidFill>
                <a:latin typeface="Cambria"/>
              </a:rPr>
              <a:t> / </a:t>
            </a:r>
            <a:r>
              <a:rPr lang="en-US" b="1" baseline="0" dirty="0" err="1" smtClean="0">
                <a:solidFill>
                  <a:srgbClr val="4F81BD"/>
                </a:solidFill>
                <a:latin typeface="Cambria"/>
              </a:rPr>
              <a:t>decre</a:t>
            </a:r>
            <a:r>
              <a:rPr lang="en-US" b="1" baseline="0" dirty="0" smtClean="0">
                <a:solidFill>
                  <a:srgbClr val="4F81BD"/>
                </a:solidFill>
                <a:latin typeface="Cambria"/>
              </a:rPr>
              <a:t>) </a:t>
            </a:r>
          </a:p>
          <a:p>
            <a:pPr marR="0" lvl="0" rtl="0">
              <a:buNone/>
            </a:pPr>
            <a:r>
              <a:rPr lang="en-US" b="1" baseline="0" dirty="0" smtClean="0">
                <a:solidFill>
                  <a:srgbClr val="4F81BD"/>
                </a:solidFill>
                <a:latin typeface="Times New Roman"/>
              </a:rPr>
              <a:t>	{</a:t>
            </a:r>
          </a:p>
          <a:p>
            <a:pPr marR="0" lvl="0" rtl="0">
              <a:buNone/>
            </a:pPr>
            <a:r>
              <a:rPr lang="en-US" b="1" baseline="0" dirty="0" smtClean="0">
                <a:solidFill>
                  <a:srgbClr val="4F81BD"/>
                </a:solidFill>
                <a:latin typeface="Cambria"/>
              </a:rPr>
              <a:t>	Statement 1;</a:t>
            </a:r>
          </a:p>
          <a:p>
            <a:pPr marR="0" lvl="0" rtl="0">
              <a:buNone/>
            </a:pPr>
            <a:r>
              <a:rPr lang="en-US" b="1" baseline="0" dirty="0" smtClean="0">
                <a:solidFill>
                  <a:srgbClr val="4F81BD"/>
                </a:solidFill>
                <a:latin typeface="Cambria"/>
              </a:rPr>
              <a:t>	Statement 2;</a:t>
            </a:r>
          </a:p>
          <a:p>
            <a:pPr marR="0" lvl="0" rtl="0">
              <a:buNone/>
            </a:pPr>
            <a:r>
              <a:rPr lang="en-US" b="1" baseline="0" dirty="0" smtClean="0">
                <a:solidFill>
                  <a:srgbClr val="4F81BD"/>
                </a:solidFill>
                <a:latin typeface="Cambria"/>
              </a:rPr>
              <a:t>	}</a:t>
            </a: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baseline="0" dirty="0" smtClean="0">
                <a:solidFill>
                  <a:srgbClr val="365F91"/>
                </a:solidFill>
                <a:latin typeface="Cambria"/>
              </a:rPr>
              <a:t>Various Formats of ‘for’ loop</a:t>
            </a:r>
            <a:endParaRPr lang="en-US" dirty="0"/>
          </a:p>
        </p:txBody>
      </p:sp>
      <p:graphicFrame>
        <p:nvGraphicFramePr>
          <p:cNvPr id="4" name="Table 3"/>
          <p:cNvGraphicFramePr>
            <a:graphicFrameLocks noGrp="1"/>
          </p:cNvGraphicFramePr>
          <p:nvPr/>
        </p:nvGraphicFramePr>
        <p:xfrm>
          <a:off x="228600" y="1371601"/>
          <a:ext cx="8686800" cy="4952998"/>
        </p:xfrm>
        <a:graphic>
          <a:graphicData uri="http://schemas.openxmlformats.org/drawingml/2006/table">
            <a:tbl>
              <a:tblPr/>
              <a:tblGrid>
                <a:gridCol w="2914765"/>
                <a:gridCol w="2784776"/>
                <a:gridCol w="2987259"/>
              </a:tblGrid>
              <a:tr h="875453">
                <a:tc>
                  <a:txBody>
                    <a:bodyPr/>
                    <a:lstStyle/>
                    <a:p>
                      <a:pPr marL="0" marR="0" algn="ctr">
                        <a:lnSpc>
                          <a:spcPct val="115000"/>
                        </a:lnSpc>
                        <a:spcBef>
                          <a:spcPts val="1000"/>
                        </a:spcBef>
                        <a:spcAft>
                          <a:spcPts val="0"/>
                        </a:spcAft>
                      </a:pPr>
                      <a:r>
                        <a:rPr lang="en-US" sz="2400" b="1" dirty="0">
                          <a:solidFill>
                            <a:schemeClr val="tx2">
                              <a:lumMod val="75000"/>
                            </a:schemeClr>
                          </a:solidFill>
                          <a:latin typeface="Calibri"/>
                          <a:ea typeface="Times New Roman"/>
                          <a:cs typeface="Times New Roman"/>
                        </a:rPr>
                        <a:t>Syntax</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400" b="1" dirty="0">
                          <a:solidFill>
                            <a:schemeClr val="tx2">
                              <a:lumMod val="75000"/>
                            </a:schemeClr>
                          </a:solidFill>
                          <a:latin typeface="Calibri"/>
                          <a:ea typeface="Times New Roman"/>
                          <a:cs typeface="Times New Roman"/>
                        </a:rPr>
                        <a:t>Output</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1000"/>
                        </a:spcBef>
                        <a:spcAft>
                          <a:spcPts val="0"/>
                        </a:spcAft>
                      </a:pPr>
                      <a:r>
                        <a:rPr lang="en-US" sz="2400" b="1" dirty="0">
                          <a:solidFill>
                            <a:schemeClr val="tx2">
                              <a:lumMod val="75000"/>
                            </a:schemeClr>
                          </a:solidFill>
                          <a:latin typeface="Calibri"/>
                          <a:ea typeface="Times New Roman"/>
                          <a:cs typeface="Times New Roman"/>
                        </a:rPr>
                        <a:t>Remark</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75453">
                <a:tc>
                  <a:txBody>
                    <a:bodyPr/>
                    <a:lstStyle/>
                    <a:p>
                      <a:pPr marL="0" marR="0">
                        <a:lnSpc>
                          <a:spcPct val="115000"/>
                        </a:lnSpc>
                        <a:spcBef>
                          <a:spcPts val="1000"/>
                        </a:spcBef>
                        <a:spcAft>
                          <a:spcPts val="0"/>
                        </a:spcAft>
                      </a:pPr>
                      <a:r>
                        <a:rPr lang="en-US" sz="2400" b="1" dirty="0">
                          <a:solidFill>
                            <a:srgbClr val="4F81BD"/>
                          </a:solidFill>
                          <a:latin typeface="Calibri"/>
                          <a:ea typeface="Times New Roman"/>
                          <a:cs typeface="Times New Roman"/>
                        </a:rPr>
                        <a:t>for(     ;      ;      )</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400" b="1">
                          <a:solidFill>
                            <a:srgbClr val="4F81BD"/>
                          </a:solidFill>
                          <a:latin typeface="Calibri"/>
                          <a:ea typeface="Times New Roman"/>
                          <a:cs typeface="Times New Roman"/>
                        </a:rPr>
                        <a:t>Infinite loop</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400" b="1">
                          <a:solidFill>
                            <a:srgbClr val="4F81BD"/>
                          </a:solidFill>
                          <a:latin typeface="Calibri"/>
                          <a:ea typeface="Times New Roman"/>
                          <a:cs typeface="Times New Roman"/>
                        </a:rPr>
                        <a:t>No arguments</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24092">
                <a:tc>
                  <a:txBody>
                    <a:bodyPr/>
                    <a:lstStyle/>
                    <a:p>
                      <a:pPr marL="0" marR="0">
                        <a:lnSpc>
                          <a:spcPct val="115000"/>
                        </a:lnSpc>
                        <a:spcBef>
                          <a:spcPts val="1000"/>
                        </a:spcBef>
                        <a:spcAft>
                          <a:spcPts val="0"/>
                        </a:spcAft>
                      </a:pPr>
                      <a:r>
                        <a:rPr lang="en-US" sz="2400" b="1">
                          <a:solidFill>
                            <a:srgbClr val="4F81BD"/>
                          </a:solidFill>
                          <a:latin typeface="Calibri"/>
                          <a:ea typeface="Times New Roman"/>
                          <a:cs typeface="Times New Roman"/>
                        </a:rPr>
                        <a:t>for( a=0; a&lt;=20;)</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400" b="1">
                          <a:solidFill>
                            <a:srgbClr val="4F81BD"/>
                          </a:solidFill>
                          <a:latin typeface="Calibri"/>
                          <a:ea typeface="Times New Roman"/>
                          <a:cs typeface="Times New Roman"/>
                        </a:rPr>
                        <a:t>Infinite loop</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400" b="1">
                          <a:solidFill>
                            <a:srgbClr val="4F81BD"/>
                          </a:solidFill>
                          <a:latin typeface="Calibri"/>
                          <a:ea typeface="Times New Roman"/>
                          <a:cs typeface="Times New Roman"/>
                        </a:rPr>
                        <a:t>‘a’ is neither increased nor decreased</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78000">
                <a:tc>
                  <a:txBody>
                    <a:bodyPr/>
                    <a:lstStyle/>
                    <a:p>
                      <a:pPr marL="0" marR="0">
                        <a:lnSpc>
                          <a:spcPct val="115000"/>
                        </a:lnSpc>
                        <a:spcBef>
                          <a:spcPts val="1000"/>
                        </a:spcBef>
                        <a:spcAft>
                          <a:spcPts val="0"/>
                        </a:spcAft>
                      </a:pPr>
                      <a:r>
                        <a:rPr lang="en-US" sz="2400" b="1" dirty="0">
                          <a:solidFill>
                            <a:srgbClr val="4F81BD"/>
                          </a:solidFill>
                          <a:latin typeface="Calibri"/>
                          <a:ea typeface="Times New Roman"/>
                          <a:cs typeface="Times New Roman"/>
                        </a:rPr>
                        <a:t>for(a=0; a&lt;=10; a++)</a:t>
                      </a:r>
                    </a:p>
                    <a:p>
                      <a:pPr marL="0" marR="0">
                        <a:lnSpc>
                          <a:spcPct val="115000"/>
                        </a:lnSpc>
                        <a:spcBef>
                          <a:spcPts val="1000"/>
                        </a:spcBef>
                        <a:spcAft>
                          <a:spcPts val="0"/>
                        </a:spcAft>
                      </a:pPr>
                      <a:r>
                        <a:rPr lang="en-US" sz="2400" b="1" dirty="0" err="1">
                          <a:solidFill>
                            <a:srgbClr val="4F81BD"/>
                          </a:solidFill>
                          <a:latin typeface="Calibri"/>
                          <a:ea typeface="Times New Roman"/>
                          <a:cs typeface="Times New Roman"/>
                        </a:rPr>
                        <a:t>printf</a:t>
                      </a:r>
                      <a:r>
                        <a:rPr lang="en-US" sz="2400" b="1" dirty="0">
                          <a:solidFill>
                            <a:srgbClr val="4F81BD"/>
                          </a:solidFill>
                          <a:latin typeface="Calibri"/>
                          <a:ea typeface="Times New Roman"/>
                          <a:cs typeface="Times New Roman"/>
                        </a:rPr>
                        <a:t>(“%d”, a)</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400" b="1">
                          <a:solidFill>
                            <a:srgbClr val="4F81BD"/>
                          </a:solidFill>
                          <a:latin typeface="Calibri"/>
                          <a:ea typeface="Times New Roman"/>
                          <a:cs typeface="Times New Roman"/>
                        </a:rPr>
                        <a:t>Display value from 1 to 10</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1000"/>
                        </a:spcBef>
                        <a:spcAft>
                          <a:spcPts val="0"/>
                        </a:spcAft>
                      </a:pPr>
                      <a:r>
                        <a:rPr lang="en-US" sz="2400" b="1" dirty="0">
                          <a:solidFill>
                            <a:srgbClr val="4F81BD"/>
                          </a:solidFill>
                          <a:latin typeface="Calibri"/>
                          <a:ea typeface="Times New Roman"/>
                          <a:cs typeface="Times New Roman"/>
                        </a:rPr>
                        <a:t>‘a’ is increased from 0 to 10.</a:t>
                      </a:r>
                    </a:p>
                  </a:txBody>
                  <a:tcPr marL="63153" marR="6315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066800"/>
            <a:ext cx="8229600" cy="5059363"/>
          </a:xfrm>
        </p:spPr>
        <p:txBody>
          <a:bodyPr>
            <a:normAutofit/>
          </a:bodyPr>
          <a:lstStyle/>
          <a:p>
            <a:pPr algn="just">
              <a:buNone/>
            </a:pPr>
            <a:r>
              <a:rPr lang="en-US" sz="2800" b="1" dirty="0" smtClean="0">
                <a:solidFill>
                  <a:schemeClr val="tx2">
                    <a:lumMod val="60000"/>
                    <a:lumOff val="40000"/>
                  </a:schemeClr>
                </a:solidFill>
              </a:rPr>
              <a:t>Note:	</a:t>
            </a:r>
          </a:p>
          <a:p>
            <a:pPr algn="just">
              <a:buNone/>
            </a:pPr>
            <a:r>
              <a:rPr lang="en-US" sz="2800" b="1" dirty="0" smtClean="0">
                <a:solidFill>
                  <a:schemeClr val="tx2">
                    <a:lumMod val="60000"/>
                    <a:lumOff val="40000"/>
                  </a:schemeClr>
                </a:solidFill>
              </a:rPr>
              <a:t>	In</a:t>
            </a:r>
            <a:r>
              <a:rPr lang="en-US" sz="2800" b="1" dirty="0">
                <a:solidFill>
                  <a:schemeClr val="tx2">
                    <a:lumMod val="60000"/>
                    <a:lumOff val="40000"/>
                  </a:schemeClr>
                </a:solidFill>
              </a:rPr>
              <a:t> for loop we have exactly two semicolons, one after initialization and second after condition. In this loop we can have more than one initialization or increment/decrement, separated using comma operator. for loop can have only one condition.</a:t>
            </a:r>
          </a:p>
          <a:p>
            <a:pPr algn="just">
              <a:buNone/>
            </a:pPr>
            <a:r>
              <a:rPr lang="en-US" sz="2800" b="1" dirty="0" smtClean="0">
                <a:solidFill>
                  <a:schemeClr val="tx2">
                    <a:lumMod val="60000"/>
                    <a:lumOff val="40000"/>
                  </a:schemeClr>
                </a:solidFill>
              </a:rPr>
              <a:t>	Please </a:t>
            </a:r>
            <a:r>
              <a:rPr lang="en-US" sz="2800" b="1" dirty="0">
                <a:solidFill>
                  <a:schemeClr val="tx2">
                    <a:lumMod val="60000"/>
                    <a:lumOff val="40000"/>
                  </a:schemeClr>
                </a:solidFill>
              </a:rPr>
              <a:t>note that the variables which are declared, should be of same type</a:t>
            </a:r>
          </a:p>
          <a:p>
            <a:pPr>
              <a:buNone/>
            </a:pPr>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marR="0" rtl="0"/>
            <a:r>
              <a:rPr lang="en-US" b="1" baseline="0" dirty="0" smtClean="0">
                <a:solidFill>
                  <a:srgbClr val="365F91"/>
                </a:solidFill>
                <a:latin typeface="Cambria"/>
              </a:rPr>
              <a:t>Nested for loop</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228600" y="1295400"/>
            <a:ext cx="8610600" cy="5181600"/>
          </a:xfrm>
        </p:spPr>
        <p:txBody>
          <a:bodyPr>
            <a:normAutofit fontScale="92500" lnSpcReduction="10000"/>
          </a:bodyPr>
          <a:lstStyle/>
          <a:p>
            <a:pPr marR="0" lvl="0" algn="just" rtl="0">
              <a:buNone/>
            </a:pPr>
            <a:r>
              <a:rPr lang="en-US" b="1" baseline="0" dirty="0" smtClean="0">
                <a:solidFill>
                  <a:srgbClr val="4F81BD"/>
                </a:solidFill>
                <a:latin typeface="Cambria"/>
              </a:rPr>
              <a:t>	We can also have nested</a:t>
            </a:r>
            <a:r>
              <a:rPr lang="en-US" b="1" baseline="0" dirty="0" smtClean="0">
                <a:solidFill>
                  <a:srgbClr val="000000"/>
                </a:solidFill>
                <a:latin typeface="Arial"/>
              </a:rPr>
              <a:t> </a:t>
            </a:r>
            <a:r>
              <a:rPr lang="en-US" b="1" baseline="0" dirty="0" smtClean="0">
                <a:solidFill>
                  <a:srgbClr val="4F81BD"/>
                </a:solidFill>
                <a:latin typeface="Cambria"/>
              </a:rPr>
              <a:t>for</a:t>
            </a:r>
            <a:r>
              <a:rPr lang="en-US" b="1" baseline="0" dirty="0" smtClean="0">
                <a:solidFill>
                  <a:srgbClr val="000000"/>
                </a:solidFill>
                <a:latin typeface="Arial"/>
              </a:rPr>
              <a:t> </a:t>
            </a:r>
            <a:r>
              <a:rPr lang="en-US" b="1" baseline="0" dirty="0" smtClean="0">
                <a:solidFill>
                  <a:srgbClr val="4F81BD"/>
                </a:solidFill>
                <a:latin typeface="Cambria"/>
              </a:rPr>
              <a:t>loops, </a:t>
            </a:r>
            <a:r>
              <a:rPr lang="en-US" b="1" baseline="0" dirty="0" err="1" smtClean="0">
                <a:solidFill>
                  <a:srgbClr val="4F81BD"/>
                </a:solidFill>
                <a:latin typeface="Cambria"/>
              </a:rPr>
              <a:t>i.e</a:t>
            </a:r>
            <a:r>
              <a:rPr lang="en-US" b="1" baseline="0" dirty="0" smtClean="0">
                <a:solidFill>
                  <a:srgbClr val="4F81BD"/>
                </a:solidFill>
                <a:latin typeface="Cambria"/>
              </a:rPr>
              <a:t> one</a:t>
            </a:r>
            <a:r>
              <a:rPr lang="en-US" b="1" baseline="0" dirty="0" smtClean="0">
                <a:solidFill>
                  <a:srgbClr val="000000"/>
                </a:solidFill>
                <a:latin typeface="Arial"/>
              </a:rPr>
              <a:t> </a:t>
            </a:r>
            <a:r>
              <a:rPr lang="en-US" b="1" baseline="0" dirty="0" smtClean="0">
                <a:solidFill>
                  <a:srgbClr val="4F81BD"/>
                </a:solidFill>
                <a:latin typeface="Cambria"/>
              </a:rPr>
              <a:t>for</a:t>
            </a:r>
            <a:r>
              <a:rPr lang="en-US" b="1" baseline="0" dirty="0" smtClean="0">
                <a:solidFill>
                  <a:srgbClr val="000000"/>
                </a:solidFill>
                <a:latin typeface="Arial"/>
              </a:rPr>
              <a:t> </a:t>
            </a:r>
            <a:r>
              <a:rPr lang="en-US" b="1" baseline="0" dirty="0" smtClean="0">
                <a:solidFill>
                  <a:srgbClr val="4F81BD"/>
                </a:solidFill>
                <a:latin typeface="Cambria"/>
              </a:rPr>
              <a:t>loop inside another</a:t>
            </a:r>
            <a:r>
              <a:rPr lang="en-US" b="1" baseline="0" dirty="0" smtClean="0">
                <a:solidFill>
                  <a:srgbClr val="000000"/>
                </a:solidFill>
                <a:latin typeface="Arial"/>
              </a:rPr>
              <a:t> </a:t>
            </a:r>
            <a:r>
              <a:rPr lang="en-US" b="1" baseline="0" dirty="0" smtClean="0">
                <a:solidFill>
                  <a:srgbClr val="4F81BD"/>
                </a:solidFill>
                <a:latin typeface="Cambria"/>
              </a:rPr>
              <a:t>for</a:t>
            </a:r>
            <a:r>
              <a:rPr lang="en-US" b="1" baseline="0" dirty="0" smtClean="0">
                <a:solidFill>
                  <a:srgbClr val="000000"/>
                </a:solidFill>
                <a:latin typeface="Arial"/>
              </a:rPr>
              <a:t> </a:t>
            </a:r>
            <a:r>
              <a:rPr lang="en-US" b="1" baseline="0" dirty="0" smtClean="0">
                <a:solidFill>
                  <a:srgbClr val="4F81BD"/>
                </a:solidFill>
                <a:latin typeface="Cambria"/>
              </a:rPr>
              <a:t>loop. </a:t>
            </a:r>
          </a:p>
          <a:p>
            <a:pPr marR="0" lvl="0" algn="just" rtl="0">
              <a:buNone/>
            </a:pPr>
            <a:r>
              <a:rPr lang="en-US" b="1" dirty="0">
                <a:solidFill>
                  <a:srgbClr val="4F81BD"/>
                </a:solidFill>
                <a:latin typeface="Cambria"/>
              </a:rPr>
              <a:t>	</a:t>
            </a:r>
            <a:r>
              <a:rPr lang="en-US" b="1" baseline="0" dirty="0" smtClean="0">
                <a:solidFill>
                  <a:srgbClr val="4F81BD"/>
                </a:solidFill>
                <a:latin typeface="Cambria"/>
              </a:rPr>
              <a:t>Basic syntax is,</a:t>
            </a:r>
          </a:p>
          <a:p>
            <a:pPr marR="0" lvl="0" rtl="0">
              <a:buNone/>
            </a:pPr>
            <a:r>
              <a:rPr lang="en-US" b="1" baseline="0" dirty="0" smtClean="0">
                <a:solidFill>
                  <a:srgbClr val="4F81BD"/>
                </a:solidFill>
                <a:latin typeface="Cambria"/>
              </a:rPr>
              <a:t>	</a:t>
            </a:r>
          </a:p>
          <a:p>
            <a:pPr marR="0" lvl="0" rtl="0">
              <a:buNone/>
            </a:pPr>
            <a:r>
              <a:rPr lang="en-US" b="1" baseline="0" dirty="0" smtClean="0">
                <a:solidFill>
                  <a:srgbClr val="4F81BD"/>
                </a:solidFill>
                <a:latin typeface="Cambria"/>
              </a:rPr>
              <a:t>	</a:t>
            </a:r>
            <a:r>
              <a:rPr lang="en-US" sz="2600" b="1" baseline="0" dirty="0" smtClean="0">
                <a:solidFill>
                  <a:srgbClr val="4F81BD"/>
                </a:solidFill>
                <a:latin typeface="Cambria"/>
              </a:rPr>
              <a:t>for(initialization; condition; increment/decrement)</a:t>
            </a:r>
          </a:p>
          <a:p>
            <a:pPr marR="0" lvl="0" rtl="0">
              <a:buNone/>
            </a:pPr>
            <a:r>
              <a:rPr lang="en-US" sz="2600" b="1" baseline="0" dirty="0" smtClean="0">
                <a:solidFill>
                  <a:srgbClr val="4F81BD"/>
                </a:solidFill>
                <a:latin typeface="Cambria"/>
              </a:rPr>
              <a:t>	{</a:t>
            </a:r>
          </a:p>
          <a:p>
            <a:pPr marR="0" lvl="0" rtl="0">
              <a:buNone/>
            </a:pPr>
            <a:r>
              <a:rPr lang="en-US" sz="2600" b="1" dirty="0">
                <a:solidFill>
                  <a:srgbClr val="4F81BD"/>
                </a:solidFill>
                <a:latin typeface="Cambria"/>
              </a:rPr>
              <a:t>	</a:t>
            </a:r>
            <a:r>
              <a:rPr lang="en-US" sz="2600" b="1" dirty="0" smtClean="0">
                <a:solidFill>
                  <a:srgbClr val="4F81BD"/>
                </a:solidFill>
                <a:latin typeface="Cambria"/>
              </a:rPr>
              <a:t>	</a:t>
            </a:r>
            <a:r>
              <a:rPr lang="en-US" sz="2600" b="1" baseline="0" dirty="0" smtClean="0">
                <a:solidFill>
                  <a:srgbClr val="4F81BD"/>
                </a:solidFill>
                <a:latin typeface="Cambria"/>
              </a:rPr>
              <a:t>for(initialization; condition; increment/decrement)</a:t>
            </a:r>
          </a:p>
          <a:p>
            <a:pPr marR="0" lvl="0" rtl="0">
              <a:buNone/>
            </a:pPr>
            <a:r>
              <a:rPr lang="en-US" sz="2600" b="1" dirty="0">
                <a:solidFill>
                  <a:srgbClr val="4F81BD"/>
                </a:solidFill>
                <a:latin typeface="Cambria"/>
              </a:rPr>
              <a:t>	</a:t>
            </a:r>
            <a:r>
              <a:rPr lang="en-US" sz="2600" b="1" dirty="0" smtClean="0">
                <a:solidFill>
                  <a:srgbClr val="4F81BD"/>
                </a:solidFill>
                <a:latin typeface="Cambria"/>
              </a:rPr>
              <a:t>	</a:t>
            </a:r>
            <a:r>
              <a:rPr lang="en-US" sz="2600" b="1" baseline="0" dirty="0" smtClean="0">
                <a:solidFill>
                  <a:srgbClr val="4F81BD"/>
                </a:solidFill>
                <a:latin typeface="Cambria"/>
              </a:rPr>
              <a:t>{</a:t>
            </a:r>
          </a:p>
          <a:p>
            <a:pPr marR="0" lvl="0" rtl="0">
              <a:buNone/>
            </a:pPr>
            <a:r>
              <a:rPr lang="en-US" sz="2600" b="1" dirty="0">
                <a:solidFill>
                  <a:srgbClr val="4F81BD"/>
                </a:solidFill>
                <a:latin typeface="Cambria"/>
              </a:rPr>
              <a:t>	</a:t>
            </a:r>
            <a:r>
              <a:rPr lang="en-US" sz="2600" b="1" dirty="0" smtClean="0">
                <a:solidFill>
                  <a:srgbClr val="4F81BD"/>
                </a:solidFill>
                <a:latin typeface="Cambria"/>
              </a:rPr>
              <a:t>	</a:t>
            </a:r>
            <a:r>
              <a:rPr lang="en-US" sz="2600" b="1" baseline="0" dirty="0" smtClean="0">
                <a:solidFill>
                  <a:srgbClr val="4F81BD"/>
                </a:solidFill>
                <a:latin typeface="Cambria"/>
              </a:rPr>
              <a:t>statement ;</a:t>
            </a:r>
          </a:p>
          <a:p>
            <a:pPr marR="0" lvl="0" rtl="0">
              <a:buNone/>
            </a:pPr>
            <a:r>
              <a:rPr lang="en-US" sz="2600" b="1" dirty="0">
                <a:solidFill>
                  <a:srgbClr val="4F81BD"/>
                </a:solidFill>
                <a:latin typeface="Cambria"/>
              </a:rPr>
              <a:t>	</a:t>
            </a:r>
            <a:r>
              <a:rPr lang="en-US" sz="2600" b="1" dirty="0" smtClean="0">
                <a:solidFill>
                  <a:srgbClr val="4F81BD"/>
                </a:solidFill>
                <a:latin typeface="Cambria"/>
              </a:rPr>
              <a:t>	</a:t>
            </a:r>
            <a:r>
              <a:rPr lang="en-US" sz="2600" b="1" baseline="0" dirty="0" smtClean="0">
                <a:solidFill>
                  <a:srgbClr val="4F81BD"/>
                </a:solidFill>
                <a:latin typeface="Cambria"/>
              </a:rPr>
              <a:t>}</a:t>
            </a:r>
          </a:p>
          <a:p>
            <a:pPr marR="0" lvl="0" rtl="0">
              <a:buNone/>
            </a:pPr>
            <a:r>
              <a:rPr lang="en-US" sz="2600" b="1" baseline="0" dirty="0" smtClean="0">
                <a:solidFill>
                  <a:srgbClr val="4F81BD"/>
                </a:solidFill>
                <a:latin typeface="Cambria"/>
              </a:rPr>
              <a:t>	}</a:t>
            </a:r>
          </a:p>
          <a:p>
            <a:pPr marR="0" lvl="0" rtl="0"/>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pPr marR="0" rtl="0"/>
            <a:r>
              <a:rPr lang="en-US" b="1" baseline="0" dirty="0" smtClean="0">
                <a:solidFill>
                  <a:srgbClr val="365F91"/>
                </a:solidFill>
                <a:latin typeface="Cambria"/>
              </a:rPr>
              <a:t>while</a:t>
            </a:r>
            <a:r>
              <a:rPr lang="en-US" b="1" baseline="0" dirty="0" smtClean="0">
                <a:solidFill>
                  <a:srgbClr val="000000"/>
                </a:solidFill>
                <a:latin typeface="Arial"/>
              </a:rPr>
              <a:t> </a:t>
            </a:r>
            <a:r>
              <a:rPr lang="en-US" b="1" baseline="0" dirty="0" smtClean="0">
                <a:solidFill>
                  <a:srgbClr val="365F91"/>
                </a:solidFill>
                <a:latin typeface="Cambria"/>
              </a:rPr>
              <a:t>loop</a:t>
            </a:r>
          </a:p>
        </p:txBody>
      </p:sp>
      <p:sp>
        <p:nvSpPr>
          <p:cNvPr id="3" name="Text Placeholder 2"/>
          <p:cNvSpPr>
            <a:spLocks noGrp="1"/>
          </p:cNvSpPr>
          <p:nvPr>
            <p:ph type="body" idx="1"/>
          </p:nvPr>
        </p:nvSpPr>
        <p:spPr>
          <a:xfrm>
            <a:off x="457200" y="838200"/>
            <a:ext cx="8229600" cy="5715000"/>
          </a:xfrm>
        </p:spPr>
        <p:txBody>
          <a:bodyPr>
            <a:normAutofit fontScale="77500" lnSpcReduction="20000"/>
          </a:bodyPr>
          <a:lstStyle/>
          <a:p>
            <a:pPr marR="0" lvl="0" algn="just" rtl="0">
              <a:buNone/>
            </a:pPr>
            <a:r>
              <a:rPr lang="en-US" b="1" baseline="0" dirty="0" smtClean="0">
                <a:solidFill>
                  <a:srgbClr val="4F81BD"/>
                </a:solidFill>
                <a:latin typeface="Cambria"/>
              </a:rPr>
              <a:t>	while</a:t>
            </a:r>
            <a:r>
              <a:rPr lang="en-US" b="1" baseline="0" dirty="0" smtClean="0">
                <a:solidFill>
                  <a:srgbClr val="000000"/>
                </a:solidFill>
                <a:latin typeface="Arial"/>
              </a:rPr>
              <a:t> </a:t>
            </a:r>
            <a:r>
              <a:rPr lang="en-US" b="1" baseline="0" dirty="0" smtClean="0">
                <a:solidFill>
                  <a:srgbClr val="4F81BD"/>
                </a:solidFill>
                <a:latin typeface="Cambria"/>
              </a:rPr>
              <a:t>loop can be addressed as an</a:t>
            </a:r>
            <a:r>
              <a:rPr lang="en-US" b="1" baseline="0" dirty="0" smtClean="0">
                <a:solidFill>
                  <a:srgbClr val="000000"/>
                </a:solidFill>
                <a:latin typeface="Arial"/>
              </a:rPr>
              <a:t> </a:t>
            </a:r>
            <a:r>
              <a:rPr lang="en-US" b="1" baseline="0" dirty="0" smtClean="0">
                <a:solidFill>
                  <a:srgbClr val="4F81BD"/>
                </a:solidFill>
                <a:latin typeface="Cambria"/>
              </a:rPr>
              <a:t>entry control</a:t>
            </a:r>
            <a:r>
              <a:rPr lang="en-US" b="1" baseline="0" dirty="0" smtClean="0">
                <a:solidFill>
                  <a:srgbClr val="000000"/>
                </a:solidFill>
                <a:latin typeface="Arial"/>
              </a:rPr>
              <a:t> </a:t>
            </a:r>
            <a:r>
              <a:rPr lang="en-US" b="1" baseline="0" dirty="0" smtClean="0">
                <a:solidFill>
                  <a:srgbClr val="4F81BD"/>
                </a:solidFill>
                <a:latin typeface="Cambria"/>
              </a:rPr>
              <a:t>loop. It is completed in 3 steps.</a:t>
            </a:r>
          </a:p>
          <a:p>
            <a:pPr marR="0" lvl="0" rtl="0">
              <a:buNone/>
            </a:pPr>
            <a:r>
              <a:rPr lang="en-US" b="1" baseline="0" dirty="0" smtClean="0">
                <a:solidFill>
                  <a:srgbClr val="4F81BD"/>
                </a:solidFill>
                <a:latin typeface="Cambria"/>
              </a:rPr>
              <a:t>	</a:t>
            </a:r>
          </a:p>
          <a:p>
            <a:pPr lvl="1">
              <a:buFont typeface="Wingdings" pitchFamily="2" charset="2"/>
              <a:buChar char="Ø"/>
            </a:pPr>
            <a:r>
              <a:rPr lang="en-US" b="1" baseline="0" dirty="0" smtClean="0">
                <a:solidFill>
                  <a:srgbClr val="4F81BD"/>
                </a:solidFill>
                <a:latin typeface="Cambria"/>
              </a:rPr>
              <a:t>Variable initialization.( </a:t>
            </a:r>
            <a:r>
              <a:rPr lang="en-US" b="1" baseline="0" dirty="0" err="1" smtClean="0">
                <a:solidFill>
                  <a:srgbClr val="4F81BD"/>
                </a:solidFill>
                <a:latin typeface="Cambria"/>
              </a:rPr>
              <a:t>e.g</a:t>
            </a:r>
            <a:r>
              <a:rPr lang="en-US" b="1" baseline="0" dirty="0" smtClean="0">
                <a:solidFill>
                  <a:srgbClr val="4F81BD"/>
                </a:solidFill>
                <a:latin typeface="Cambria"/>
              </a:rPr>
              <a:t> </a:t>
            </a:r>
            <a:r>
              <a:rPr lang="en-US" b="1" baseline="0" dirty="0" err="1" smtClean="0">
                <a:solidFill>
                  <a:srgbClr val="4F81BD"/>
                </a:solidFill>
                <a:latin typeface="Cambria"/>
              </a:rPr>
              <a:t>int</a:t>
            </a:r>
            <a:r>
              <a:rPr lang="en-US" b="1" baseline="0" dirty="0" smtClean="0">
                <a:solidFill>
                  <a:srgbClr val="4F81BD"/>
                </a:solidFill>
                <a:latin typeface="Cambria"/>
              </a:rPr>
              <a:t> x=0; )</a:t>
            </a:r>
          </a:p>
          <a:p>
            <a:pPr lvl="1">
              <a:buFont typeface="Wingdings" pitchFamily="2" charset="2"/>
              <a:buChar char="Ø"/>
            </a:pPr>
            <a:r>
              <a:rPr lang="en-US" b="1" baseline="0" dirty="0" smtClean="0">
                <a:solidFill>
                  <a:srgbClr val="4F81BD"/>
                </a:solidFill>
                <a:latin typeface="Cambria"/>
              </a:rPr>
              <a:t>condition( </a:t>
            </a:r>
            <a:r>
              <a:rPr lang="en-US" b="1" baseline="0" dirty="0" err="1" smtClean="0">
                <a:solidFill>
                  <a:srgbClr val="4F81BD"/>
                </a:solidFill>
                <a:latin typeface="Cambria"/>
              </a:rPr>
              <a:t>e.g</a:t>
            </a:r>
            <a:r>
              <a:rPr lang="en-US" b="1" baseline="0" dirty="0" smtClean="0">
                <a:solidFill>
                  <a:srgbClr val="4F81BD"/>
                </a:solidFill>
                <a:latin typeface="Cambria"/>
              </a:rPr>
              <a:t> while( x&lt;=10) )</a:t>
            </a:r>
          </a:p>
          <a:p>
            <a:pPr lvl="1">
              <a:buFont typeface="Wingdings" pitchFamily="2" charset="2"/>
              <a:buChar char="Ø"/>
            </a:pPr>
            <a:r>
              <a:rPr lang="en-US" b="1" baseline="0" dirty="0" smtClean="0">
                <a:solidFill>
                  <a:srgbClr val="4F81BD"/>
                </a:solidFill>
                <a:latin typeface="Cambria"/>
              </a:rPr>
              <a:t>Variable increment or decrement ( x++ or x-- or x=x+2 )</a:t>
            </a:r>
          </a:p>
          <a:p>
            <a:pPr marR="0" lvl="0" rtl="0">
              <a:buNone/>
            </a:pPr>
            <a:r>
              <a:rPr lang="en-US" b="1" baseline="0" dirty="0" smtClean="0">
                <a:solidFill>
                  <a:srgbClr val="4F81BD"/>
                </a:solidFill>
                <a:latin typeface="Cambria"/>
              </a:rPr>
              <a:t>	</a:t>
            </a:r>
          </a:p>
          <a:p>
            <a:pPr marR="0" lvl="0" rtl="0">
              <a:buNone/>
            </a:pPr>
            <a:r>
              <a:rPr lang="en-US" b="1" baseline="0" dirty="0" smtClean="0">
                <a:solidFill>
                  <a:srgbClr val="4F81BD"/>
                </a:solidFill>
                <a:latin typeface="Cambria"/>
              </a:rPr>
              <a:t>Syntax :</a:t>
            </a:r>
          </a:p>
          <a:p>
            <a:pPr marR="0" lvl="0" rtl="0">
              <a:buNone/>
            </a:pPr>
            <a:r>
              <a:rPr lang="en-US" b="1" baseline="0" dirty="0" smtClean="0">
                <a:solidFill>
                  <a:srgbClr val="4F81BD"/>
                </a:solidFill>
                <a:latin typeface="Cambria"/>
              </a:rPr>
              <a:t>	variable initialization ;</a:t>
            </a:r>
          </a:p>
          <a:p>
            <a:pPr marR="0" lvl="0" rtl="0">
              <a:buNone/>
            </a:pPr>
            <a:r>
              <a:rPr lang="en-US" b="1" baseline="0" dirty="0" smtClean="0">
                <a:solidFill>
                  <a:srgbClr val="4F81BD"/>
                </a:solidFill>
                <a:latin typeface="Cambria"/>
              </a:rPr>
              <a:t>	while (condition)</a:t>
            </a:r>
          </a:p>
          <a:p>
            <a:pPr marR="0" lvl="0" rtl="0">
              <a:buNone/>
            </a:pPr>
            <a:r>
              <a:rPr lang="en-US" b="1" baseline="0" dirty="0" smtClean="0">
                <a:solidFill>
                  <a:srgbClr val="4F81BD"/>
                </a:solidFill>
                <a:latin typeface="Cambria"/>
              </a:rPr>
              <a:t>	{</a:t>
            </a:r>
          </a:p>
          <a:p>
            <a:pPr marR="0" lvl="0" rtl="0">
              <a:buNone/>
            </a:pPr>
            <a:r>
              <a:rPr lang="en-US" b="1" baseline="0" dirty="0" smtClean="0">
                <a:solidFill>
                  <a:srgbClr val="4F81BD"/>
                </a:solidFill>
                <a:latin typeface="Cambria"/>
              </a:rPr>
              <a:t>	 statements ;</a:t>
            </a:r>
          </a:p>
          <a:p>
            <a:pPr marR="0" lvl="0" rtl="0">
              <a:buNone/>
            </a:pPr>
            <a:r>
              <a:rPr lang="en-US" b="1" baseline="0" dirty="0" smtClean="0">
                <a:solidFill>
                  <a:srgbClr val="4F81BD"/>
                </a:solidFill>
                <a:latin typeface="Cambria"/>
              </a:rPr>
              <a:t>	 variable increment or decrement ; </a:t>
            </a:r>
          </a:p>
          <a:p>
            <a:pPr marR="0" lvl="0" rtl="0">
              <a:buNone/>
            </a:pPr>
            <a:r>
              <a:rPr lang="en-US" b="1" baseline="0" dirty="0" smtClean="0">
                <a:solidFill>
                  <a:srgbClr val="4F81BD"/>
                </a:solidFill>
                <a:latin typeface="Cambria"/>
              </a:rPr>
              <a:t>	}</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304800"/>
          </a:xfrm>
        </p:spPr>
        <p:txBody>
          <a:bodyPr>
            <a:normAutofit fontScale="90000"/>
          </a:bodyPr>
          <a:lstStyle/>
          <a:p>
            <a:pPr marR="0" rtl="0"/>
            <a:r>
              <a:rPr lang="en-US" b="1" baseline="0" dirty="0" smtClean="0">
                <a:solidFill>
                  <a:srgbClr val="365F91"/>
                </a:solidFill>
                <a:latin typeface="Cambria"/>
              </a:rPr>
              <a:t>do while loop</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457200" y="685800"/>
            <a:ext cx="8229600" cy="5867400"/>
          </a:xfrm>
        </p:spPr>
        <p:txBody>
          <a:bodyPr>
            <a:normAutofit fontScale="62500" lnSpcReduction="20000"/>
          </a:bodyPr>
          <a:lstStyle/>
          <a:p>
            <a:pPr marR="0" lvl="0" algn="just" rtl="0">
              <a:buNone/>
            </a:pPr>
            <a:r>
              <a:rPr lang="en-US" b="1" baseline="0" dirty="0" smtClean="0">
                <a:solidFill>
                  <a:srgbClr val="4F81BD"/>
                </a:solidFill>
                <a:latin typeface="Cambria"/>
              </a:rPr>
              <a:t>	In some situations it is necessary to execute body of the loop before testing the condition. Such situations can be handled with the help of</a:t>
            </a:r>
            <a:r>
              <a:rPr lang="en-US" b="1" baseline="0" dirty="0" smtClean="0">
                <a:solidFill>
                  <a:srgbClr val="000000"/>
                </a:solidFill>
                <a:latin typeface="Arial"/>
              </a:rPr>
              <a:t> </a:t>
            </a:r>
            <a:r>
              <a:rPr lang="en-US" b="1" baseline="0" dirty="0" smtClean="0">
                <a:solidFill>
                  <a:srgbClr val="4F81BD"/>
                </a:solidFill>
                <a:latin typeface="Cambria"/>
              </a:rPr>
              <a:t>do-while</a:t>
            </a:r>
            <a:r>
              <a:rPr lang="en-US" b="1" baseline="0" dirty="0" smtClean="0">
                <a:solidFill>
                  <a:srgbClr val="000000"/>
                </a:solidFill>
                <a:latin typeface="Arial"/>
              </a:rPr>
              <a:t> </a:t>
            </a:r>
            <a:r>
              <a:rPr lang="en-US" b="1" baseline="0" dirty="0" smtClean="0">
                <a:solidFill>
                  <a:srgbClr val="4F81BD"/>
                </a:solidFill>
                <a:latin typeface="Cambria"/>
              </a:rPr>
              <a:t>loop.</a:t>
            </a:r>
            <a:r>
              <a:rPr lang="en-US" b="1" baseline="0" dirty="0" smtClean="0">
                <a:solidFill>
                  <a:srgbClr val="000000"/>
                </a:solidFill>
                <a:latin typeface="Arial"/>
              </a:rPr>
              <a:t> </a:t>
            </a:r>
            <a:r>
              <a:rPr lang="en-US" b="1" baseline="0" dirty="0" smtClean="0">
                <a:solidFill>
                  <a:srgbClr val="4F81BD"/>
                </a:solidFill>
                <a:latin typeface="Cambria"/>
              </a:rPr>
              <a:t>do</a:t>
            </a:r>
            <a:r>
              <a:rPr lang="en-US" b="1" baseline="0" dirty="0" smtClean="0">
                <a:solidFill>
                  <a:srgbClr val="000000"/>
                </a:solidFill>
                <a:latin typeface="Arial"/>
              </a:rPr>
              <a:t> </a:t>
            </a:r>
            <a:r>
              <a:rPr lang="en-US" b="1" baseline="0" dirty="0" smtClean="0">
                <a:solidFill>
                  <a:srgbClr val="4F81BD"/>
                </a:solidFill>
                <a:latin typeface="Cambria"/>
              </a:rPr>
              <a:t>statement evaluates the body of the loop first and at the end, the condition is checked using</a:t>
            </a:r>
            <a:r>
              <a:rPr lang="en-US" b="1" baseline="0" dirty="0" smtClean="0">
                <a:solidFill>
                  <a:srgbClr val="000000"/>
                </a:solidFill>
                <a:latin typeface="Arial"/>
              </a:rPr>
              <a:t> </a:t>
            </a:r>
            <a:r>
              <a:rPr lang="en-US" b="1" baseline="0" dirty="0" smtClean="0">
                <a:solidFill>
                  <a:srgbClr val="4F81BD"/>
                </a:solidFill>
                <a:latin typeface="Cambria"/>
              </a:rPr>
              <a:t>while</a:t>
            </a:r>
            <a:r>
              <a:rPr lang="en-US" b="1" baseline="0" dirty="0" smtClean="0">
                <a:solidFill>
                  <a:srgbClr val="000000"/>
                </a:solidFill>
                <a:latin typeface="Arial"/>
              </a:rPr>
              <a:t> </a:t>
            </a:r>
            <a:r>
              <a:rPr lang="en-US" b="1" baseline="0" dirty="0" smtClean="0">
                <a:solidFill>
                  <a:srgbClr val="4F81BD"/>
                </a:solidFill>
                <a:latin typeface="Cambria"/>
              </a:rPr>
              <a:t>statement. </a:t>
            </a:r>
          </a:p>
          <a:p>
            <a:pPr marR="0" lvl="0" algn="just" rtl="0">
              <a:buNone/>
            </a:pPr>
            <a:endParaRPr lang="en-US" b="1" baseline="0" dirty="0" smtClean="0">
              <a:solidFill>
                <a:srgbClr val="4F81BD"/>
              </a:solidFill>
              <a:latin typeface="Cambria"/>
            </a:endParaRPr>
          </a:p>
          <a:p>
            <a:pPr marR="0" lvl="0" rtl="0">
              <a:buNone/>
            </a:pPr>
            <a:r>
              <a:rPr lang="en-US" b="1" baseline="0" dirty="0" smtClean="0">
                <a:solidFill>
                  <a:srgbClr val="4F81BD"/>
                </a:solidFill>
                <a:latin typeface="Cambria"/>
              </a:rPr>
              <a:t>	Syntax of</a:t>
            </a:r>
            <a:r>
              <a:rPr lang="en-US" b="1" baseline="0" dirty="0" smtClean="0">
                <a:solidFill>
                  <a:srgbClr val="000000"/>
                </a:solidFill>
                <a:latin typeface="Arial"/>
              </a:rPr>
              <a:t> </a:t>
            </a:r>
            <a:r>
              <a:rPr lang="en-US" b="1" baseline="0" dirty="0" smtClean="0">
                <a:solidFill>
                  <a:srgbClr val="4F81BD"/>
                </a:solidFill>
                <a:latin typeface="Cambria"/>
              </a:rPr>
              <a:t>do-while</a:t>
            </a:r>
            <a:r>
              <a:rPr lang="en-US" b="1" baseline="0" dirty="0" smtClean="0">
                <a:solidFill>
                  <a:srgbClr val="000000"/>
                </a:solidFill>
                <a:latin typeface="Arial"/>
              </a:rPr>
              <a:t> </a:t>
            </a:r>
            <a:r>
              <a:rPr lang="en-US" b="1" baseline="0" dirty="0" smtClean="0">
                <a:solidFill>
                  <a:srgbClr val="4F81BD"/>
                </a:solidFill>
                <a:latin typeface="Cambria"/>
              </a:rPr>
              <a:t>loop is,</a:t>
            </a:r>
          </a:p>
          <a:p>
            <a:pPr marR="0" lvl="0" rtl="0">
              <a:buNone/>
            </a:pPr>
            <a:endParaRPr lang="en-US" b="1" baseline="0" dirty="0" smtClean="0">
              <a:solidFill>
                <a:srgbClr val="4F81BD"/>
              </a:solidFill>
              <a:latin typeface="Cambria"/>
            </a:endParaRPr>
          </a:p>
          <a:p>
            <a:pPr marR="0" lvl="0" rtl="0">
              <a:buNone/>
            </a:pPr>
            <a:r>
              <a:rPr lang="en-US" b="1" baseline="0" dirty="0" smtClean="0">
                <a:solidFill>
                  <a:srgbClr val="4F81BD"/>
                </a:solidFill>
                <a:latin typeface="Cambria"/>
              </a:rPr>
              <a:t>	variable initialization;</a:t>
            </a:r>
          </a:p>
          <a:p>
            <a:pPr marR="0" lvl="0" rtl="0">
              <a:buNone/>
            </a:pPr>
            <a:r>
              <a:rPr lang="en-US" b="1" baseline="0" dirty="0" smtClean="0">
                <a:solidFill>
                  <a:srgbClr val="4F81BD"/>
                </a:solidFill>
                <a:latin typeface="Cambria"/>
              </a:rPr>
              <a:t>	do</a:t>
            </a:r>
          </a:p>
          <a:p>
            <a:pPr marR="0" lvl="0" rtl="0">
              <a:buNone/>
            </a:pPr>
            <a:r>
              <a:rPr lang="en-US" b="1" baseline="0" dirty="0" smtClean="0">
                <a:solidFill>
                  <a:srgbClr val="4F81BD"/>
                </a:solidFill>
                <a:latin typeface="Cambria"/>
              </a:rPr>
              <a:t>	{</a:t>
            </a:r>
          </a:p>
          <a:p>
            <a:pPr marR="0" lvl="0" rtl="0">
              <a:buNone/>
            </a:pPr>
            <a:r>
              <a:rPr lang="en-US" b="1" baseline="0" dirty="0" smtClean="0">
                <a:solidFill>
                  <a:srgbClr val="4F81BD"/>
                </a:solidFill>
                <a:latin typeface="Cambria"/>
              </a:rPr>
              <a:t>	 statements;</a:t>
            </a:r>
          </a:p>
          <a:p>
            <a:pPr marR="0" lvl="0" rtl="0">
              <a:buNone/>
            </a:pPr>
            <a:r>
              <a:rPr lang="en-US" b="1" baseline="0" dirty="0" smtClean="0">
                <a:solidFill>
                  <a:srgbClr val="4F81BD"/>
                </a:solidFill>
                <a:latin typeface="Cambria"/>
              </a:rPr>
              <a:t>	 variable increment/decrement</a:t>
            </a:r>
          </a:p>
          <a:p>
            <a:pPr marR="0" lvl="0" rtl="0">
              <a:buNone/>
            </a:pPr>
            <a:r>
              <a:rPr lang="en-US" b="1" baseline="0" dirty="0" smtClean="0">
                <a:solidFill>
                  <a:srgbClr val="4F81BD"/>
                </a:solidFill>
                <a:latin typeface="Times New Roman"/>
              </a:rPr>
              <a:t>	}</a:t>
            </a:r>
          </a:p>
          <a:p>
            <a:pPr marR="0" lvl="0" rtl="0">
              <a:buNone/>
            </a:pPr>
            <a:r>
              <a:rPr lang="en-US" b="1" baseline="0" dirty="0" smtClean="0">
                <a:solidFill>
                  <a:srgbClr val="4F81BD"/>
                </a:solidFill>
                <a:latin typeface="Cambria"/>
              </a:rPr>
              <a:t>	</a:t>
            </a:r>
            <a:r>
              <a:rPr lang="en-US" b="1" baseline="0" smtClean="0">
                <a:solidFill>
                  <a:srgbClr val="4F81BD"/>
                </a:solidFill>
                <a:latin typeface="Cambria"/>
              </a:rPr>
              <a:t>while(condition) ;</a:t>
            </a:r>
            <a:endParaRPr lang="en-US" b="1" baseline="0" dirty="0" smtClean="0">
              <a:solidFill>
                <a:srgbClr val="4F81BD"/>
              </a:solidFill>
              <a:latin typeface="Cambria"/>
            </a:endParaRPr>
          </a:p>
          <a:p>
            <a:pPr lvl="0">
              <a:buNone/>
            </a:pPr>
            <a:endParaRPr lang="en-US" b="1" dirty="0" smtClean="0"/>
          </a:p>
          <a:p>
            <a:pPr lvl="0">
              <a:buNone/>
            </a:pPr>
            <a:r>
              <a:rPr lang="en-US" b="1" baseline="0" dirty="0" smtClean="0">
                <a:solidFill>
                  <a:schemeClr val="tx2">
                    <a:lumMod val="60000"/>
                    <a:lumOff val="40000"/>
                  </a:schemeClr>
                </a:solidFill>
                <a:latin typeface="Cambria"/>
              </a:rPr>
              <a:t>	Note:</a:t>
            </a:r>
          </a:p>
          <a:p>
            <a:pPr lvl="0">
              <a:buNone/>
            </a:pPr>
            <a:r>
              <a:rPr lang="en-US" b="1" dirty="0" smtClean="0">
                <a:solidFill>
                  <a:schemeClr val="tx2">
                    <a:lumMod val="60000"/>
                    <a:lumOff val="40000"/>
                  </a:schemeClr>
                </a:solidFill>
                <a:latin typeface="Cambria"/>
              </a:rPr>
              <a:t>	</a:t>
            </a:r>
            <a:r>
              <a:rPr lang="en-US" b="1" baseline="0" dirty="0" smtClean="0">
                <a:solidFill>
                  <a:schemeClr val="tx2">
                    <a:lumMod val="60000"/>
                    <a:lumOff val="40000"/>
                  </a:schemeClr>
                </a:solidFill>
                <a:latin typeface="Cambria"/>
              </a:rPr>
              <a:t>When pass 0 in while loop </a:t>
            </a:r>
            <a:r>
              <a:rPr lang="en-US" b="1" dirty="0" smtClean="0">
                <a:solidFill>
                  <a:schemeClr val="tx2">
                    <a:lumMod val="60000"/>
                    <a:lumOff val="40000"/>
                  </a:schemeClr>
                </a:solidFill>
              </a:rPr>
              <a:t>considered as false.</a:t>
            </a:r>
            <a:r>
              <a:rPr lang="en-US" b="1" baseline="0" dirty="0" smtClean="0">
                <a:solidFill>
                  <a:schemeClr val="tx2">
                    <a:lumMod val="60000"/>
                    <a:lumOff val="40000"/>
                  </a:schemeClr>
                </a:solidFill>
                <a:latin typeface="Cambria"/>
              </a:rPr>
              <a:t> </a:t>
            </a:r>
            <a:r>
              <a:rPr lang="en-US" b="1" dirty="0" smtClean="0">
                <a:solidFill>
                  <a:schemeClr val="tx2">
                    <a:lumMod val="60000"/>
                    <a:lumOff val="40000"/>
                  </a:schemeClr>
                </a:solidFill>
              </a:rPr>
              <a:t>Other than 0(zero), all other values are considered as true(mean loop will be infinite).</a:t>
            </a:r>
            <a:endParaRPr lang="en-US" b="1" baseline="0" dirty="0" smtClean="0">
              <a:solidFill>
                <a:schemeClr val="tx2">
                  <a:lumMod val="60000"/>
                  <a:lumOff val="40000"/>
                </a:schemeClr>
              </a:solidFill>
              <a:latin typeface="Cambria"/>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82762"/>
          </a:xfrm>
        </p:spPr>
        <p:txBody>
          <a:bodyPr>
            <a:normAutofit fontScale="90000"/>
          </a:bodyPr>
          <a:lstStyle/>
          <a:p>
            <a:r>
              <a:rPr lang="en-US" b="1" dirty="0" smtClean="0">
                <a:solidFill>
                  <a:srgbClr val="0070C0"/>
                </a:solidFill>
              </a:rPr>
              <a:t>Difference between while and do-while loop?</a:t>
            </a:r>
            <a:r>
              <a:rPr lang="en-US" dirty="0" smtClean="0"/>
              <a:t/>
            </a:r>
            <a:br>
              <a:rPr lang="en-US" dirty="0" smtClean="0"/>
            </a:br>
            <a:endParaRPr lang="en-US" dirty="0"/>
          </a:p>
        </p:txBody>
      </p:sp>
      <p:sp>
        <p:nvSpPr>
          <p:cNvPr id="3" name="Text Placeholder 2"/>
          <p:cNvSpPr>
            <a:spLocks noGrp="1"/>
          </p:cNvSpPr>
          <p:nvPr>
            <p:ph type="body" idx="1"/>
          </p:nvPr>
        </p:nvSpPr>
        <p:spPr>
          <a:xfrm>
            <a:off x="457200" y="1676400"/>
            <a:ext cx="8229600" cy="4449763"/>
          </a:xfrm>
        </p:spPr>
        <p:txBody>
          <a:bodyPr/>
          <a:lstStyle/>
          <a:p>
            <a:pPr algn="just">
              <a:buFont typeface="Wingdings" pitchFamily="2" charset="2"/>
              <a:buChar char="Ø"/>
            </a:pPr>
            <a:r>
              <a:rPr lang="en-US" dirty="0" smtClean="0">
                <a:solidFill>
                  <a:schemeClr val="accent1">
                    <a:lumMod val="75000"/>
                  </a:schemeClr>
                </a:solidFill>
              </a:rPr>
              <a:t>do-while loop is similar to while loop, however there is one basic difference between them – do-while runs at least one even if the test condition is false at first place.</a:t>
            </a:r>
          </a:p>
          <a:p>
            <a:pPr algn="just">
              <a:buFont typeface="Wingdings" pitchFamily="2" charset="2"/>
              <a:buChar char="Ø"/>
            </a:pPr>
            <a:r>
              <a:rPr lang="en-US" dirty="0" smtClean="0">
                <a:solidFill>
                  <a:schemeClr val="accent1">
                    <a:lumMod val="75000"/>
                  </a:schemeClr>
                </a:solidFill>
              </a:rPr>
              <a:t>"while" and "for" loop doesn't end with a semicolon,  only the “do while” loop ends with a semicolon</a:t>
            </a:r>
          </a:p>
          <a:p>
            <a:pPr algn="just">
              <a:buNone/>
            </a:pPr>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marR="0" rtl="0"/>
            <a:r>
              <a:rPr lang="en-US" b="1" baseline="0" dirty="0" smtClean="0">
                <a:solidFill>
                  <a:srgbClr val="365F91"/>
                </a:solidFill>
                <a:latin typeface="Cambria"/>
              </a:rPr>
              <a:t>Jumping Out of Loops</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457200" y="1143000"/>
            <a:ext cx="8229600" cy="4983163"/>
          </a:xfrm>
        </p:spPr>
        <p:txBody>
          <a:bodyPr>
            <a:normAutofit/>
          </a:bodyPr>
          <a:lstStyle/>
          <a:p>
            <a:pPr marR="0" lvl="0" algn="just" rtl="0">
              <a:buNone/>
            </a:pPr>
            <a:r>
              <a:rPr lang="en-US" b="1" baseline="0" dirty="0" smtClean="0">
                <a:solidFill>
                  <a:srgbClr val="4F81BD"/>
                </a:solidFill>
                <a:latin typeface="Cambria"/>
              </a:rPr>
              <a:t>	Sometimes, while executing a loop, it becomes necessary to skip a part of the loop or to leave the loop as soon as certain condition becomes true, that is called jumping out of loop. C language allows jumping from one statement to another within a loop as well as jumping out of the loop.</a:t>
            </a:r>
          </a:p>
          <a:p>
            <a:pPr marR="0" lvl="0" rtl="0">
              <a:buNone/>
            </a:pPr>
            <a:r>
              <a:rPr lang="en-US" b="1" baseline="0" dirty="0" smtClean="0">
                <a:solidFill>
                  <a:srgbClr val="4F81BD"/>
                </a:solidFill>
                <a:latin typeface="Cambria"/>
              </a:rPr>
              <a:t>	</a:t>
            </a:r>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reak statement in loops in c language"/>
          <p:cNvPicPr/>
          <p:nvPr/>
        </p:nvPicPr>
        <p:blipFill>
          <a:blip r:embed="rId2" cstate="print"/>
          <a:srcRect/>
          <a:stretch>
            <a:fillRect/>
          </a:stretch>
        </p:blipFill>
        <p:spPr bwMode="auto">
          <a:xfrm>
            <a:off x="1219200" y="2286000"/>
            <a:ext cx="6629400" cy="4343400"/>
          </a:xfrm>
          <a:prstGeom prst="rect">
            <a:avLst/>
          </a:prstGeom>
          <a:noFill/>
          <a:ln w="9525">
            <a:noFill/>
            <a:miter lim="800000"/>
            <a:headEnd/>
            <a:tailEnd/>
          </a:ln>
        </p:spPr>
      </p:pic>
      <p:sp>
        <p:nvSpPr>
          <p:cNvPr id="5" name="Rectangle 4"/>
          <p:cNvSpPr/>
          <p:nvPr/>
        </p:nvSpPr>
        <p:spPr>
          <a:xfrm>
            <a:off x="228600" y="228600"/>
            <a:ext cx="8915400" cy="2062103"/>
          </a:xfrm>
          <a:prstGeom prst="rect">
            <a:avLst/>
          </a:prstGeom>
        </p:spPr>
        <p:txBody>
          <a:bodyPr wrap="square">
            <a:spAutoFit/>
          </a:bodyPr>
          <a:lstStyle/>
          <a:p>
            <a:pPr lvl="0"/>
            <a:r>
              <a:rPr lang="en-US" sz="3200" b="1" baseline="0" dirty="0" smtClean="0">
                <a:solidFill>
                  <a:srgbClr val="4F81BD"/>
                </a:solidFill>
                <a:latin typeface="+mj-lt"/>
              </a:rPr>
              <a:t>1) break statement</a:t>
            </a:r>
          </a:p>
          <a:p>
            <a:pPr lvl="0"/>
            <a:r>
              <a:rPr lang="en-US" sz="2400" b="1" i="1" baseline="0" dirty="0" smtClean="0">
                <a:solidFill>
                  <a:srgbClr val="4F81BD"/>
                </a:solidFill>
                <a:latin typeface="Cambria"/>
              </a:rPr>
              <a:t>	</a:t>
            </a:r>
          </a:p>
          <a:p>
            <a:pPr lvl="0"/>
            <a:r>
              <a:rPr lang="en-US" sz="2400" b="1" baseline="0" dirty="0" smtClean="0">
                <a:solidFill>
                  <a:srgbClr val="4F81BD"/>
                </a:solidFill>
                <a:latin typeface="Cambria"/>
              </a:rPr>
              <a:t>When</a:t>
            </a:r>
            <a:r>
              <a:rPr lang="en-US" sz="2400" b="1" baseline="0" dirty="0" smtClean="0">
                <a:solidFill>
                  <a:srgbClr val="000000"/>
                </a:solidFill>
                <a:latin typeface="Arial"/>
              </a:rPr>
              <a:t> </a:t>
            </a:r>
            <a:r>
              <a:rPr lang="en-US" sz="2400" b="1" baseline="0" dirty="0" smtClean="0">
                <a:solidFill>
                  <a:srgbClr val="4F81BD"/>
                </a:solidFill>
                <a:latin typeface="Cambria"/>
              </a:rPr>
              <a:t>break</a:t>
            </a:r>
            <a:r>
              <a:rPr lang="en-US" sz="2400" b="1" baseline="0" dirty="0" smtClean="0">
                <a:solidFill>
                  <a:srgbClr val="000000"/>
                </a:solidFill>
                <a:latin typeface="Arial"/>
              </a:rPr>
              <a:t> </a:t>
            </a:r>
            <a:r>
              <a:rPr lang="en-US" sz="2400" b="1" baseline="0" dirty="0" smtClean="0">
                <a:solidFill>
                  <a:srgbClr val="4F81BD"/>
                </a:solidFill>
                <a:latin typeface="Cambria"/>
              </a:rPr>
              <a:t>statement is encountered inside a loop, the loop is immediately exited and the program continues with the statement immediately following the loop.</a:t>
            </a:r>
            <a:endParaRPr lang="en-US" sz="2400"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228600"/>
            <a:ext cx="8610600" cy="6400800"/>
          </a:xfrm>
        </p:spPr>
        <p:txBody>
          <a:bodyPr>
            <a:normAutofit fontScale="85000" lnSpcReduction="20000"/>
          </a:bodyPr>
          <a:lstStyle/>
          <a:p>
            <a:pPr>
              <a:buNone/>
            </a:pPr>
            <a:r>
              <a:rPr lang="en-US" sz="2400" b="1" dirty="0" smtClean="0">
                <a:solidFill>
                  <a:schemeClr val="accent1">
                    <a:lumMod val="75000"/>
                  </a:schemeClr>
                </a:solidFill>
              </a:rPr>
              <a:t>// Program to calculate the sum of maximum of 10 numbers </a:t>
            </a:r>
          </a:p>
          <a:p>
            <a:pPr>
              <a:buNone/>
            </a:pPr>
            <a:r>
              <a:rPr lang="en-US" sz="2400" b="1" dirty="0" smtClean="0">
                <a:solidFill>
                  <a:schemeClr val="accent1">
                    <a:lumMod val="75000"/>
                  </a:schemeClr>
                </a:solidFill>
              </a:rPr>
              <a:t>// Calculates sum until user enters positive number </a:t>
            </a:r>
          </a:p>
          <a:p>
            <a:pPr>
              <a:buNone/>
            </a:pPr>
            <a:r>
              <a:rPr lang="en-US" sz="2400" b="1" dirty="0" smtClean="0">
                <a:solidFill>
                  <a:schemeClr val="accent1">
                    <a:lumMod val="75000"/>
                  </a:schemeClr>
                </a:solidFill>
              </a:rPr>
              <a:t># include &lt;</a:t>
            </a:r>
            <a:r>
              <a:rPr lang="en-US" sz="2400" b="1" dirty="0" err="1" smtClean="0">
                <a:solidFill>
                  <a:schemeClr val="accent1">
                    <a:lumMod val="75000"/>
                  </a:schemeClr>
                </a:solidFill>
              </a:rPr>
              <a:t>stdio.h</a:t>
            </a:r>
            <a:r>
              <a:rPr lang="en-US" sz="2400" b="1" dirty="0" smtClean="0">
                <a:solidFill>
                  <a:schemeClr val="accent1">
                    <a:lumMod val="75000"/>
                  </a:schemeClr>
                </a:solidFill>
              </a:rPr>
              <a:t>&gt; </a:t>
            </a:r>
          </a:p>
          <a:p>
            <a:pPr>
              <a:buNone/>
            </a:pPr>
            <a:r>
              <a:rPr lang="en-US" sz="2400" b="1" dirty="0" smtClean="0">
                <a:solidFill>
                  <a:schemeClr val="accent1">
                    <a:lumMod val="75000"/>
                  </a:schemeClr>
                </a:solidFill>
              </a:rPr>
              <a:t>void main() </a:t>
            </a:r>
          </a:p>
          <a:p>
            <a:pPr>
              <a:buNone/>
            </a:pPr>
            <a:r>
              <a:rPr lang="en-US" sz="2400" b="1" dirty="0" smtClean="0">
                <a:solidFill>
                  <a:schemeClr val="accent1">
                    <a:lumMod val="75000"/>
                  </a:schemeClr>
                </a:solidFill>
              </a:rPr>
              <a:t>{ </a:t>
            </a:r>
          </a:p>
          <a:p>
            <a:pPr>
              <a:buNone/>
            </a:pPr>
            <a:r>
              <a:rPr lang="en-US" sz="2400" b="1" dirty="0" err="1" smtClean="0">
                <a:solidFill>
                  <a:schemeClr val="accent1">
                    <a:lumMod val="75000"/>
                  </a:schemeClr>
                </a:solidFill>
              </a:rPr>
              <a:t>int</a:t>
            </a:r>
            <a:r>
              <a:rPr lang="en-US" sz="2400" b="1" dirty="0" smtClean="0">
                <a:solidFill>
                  <a:schemeClr val="accent1">
                    <a:lumMod val="75000"/>
                  </a:schemeClr>
                </a:solidFill>
              </a:rPr>
              <a:t> </a:t>
            </a:r>
            <a:r>
              <a:rPr lang="en-US" sz="2400" b="1" dirty="0" err="1" smtClean="0">
                <a:solidFill>
                  <a:schemeClr val="accent1">
                    <a:lumMod val="75000"/>
                  </a:schemeClr>
                </a:solidFill>
              </a:rPr>
              <a:t>i</a:t>
            </a:r>
            <a:r>
              <a:rPr lang="en-US" sz="2400" b="1" dirty="0" smtClean="0">
                <a:solidFill>
                  <a:schemeClr val="accent1">
                    <a:lumMod val="75000"/>
                  </a:schemeClr>
                </a:solidFill>
              </a:rPr>
              <a:t>; </a:t>
            </a:r>
          </a:p>
          <a:p>
            <a:pPr>
              <a:buNone/>
            </a:pPr>
            <a:r>
              <a:rPr lang="en-US" sz="2400" b="1" dirty="0" smtClean="0">
                <a:solidFill>
                  <a:schemeClr val="accent1">
                    <a:lumMod val="75000"/>
                  </a:schemeClr>
                </a:solidFill>
              </a:rPr>
              <a:t>double number, sum = 0; </a:t>
            </a:r>
          </a:p>
          <a:p>
            <a:pPr>
              <a:buNone/>
            </a:pPr>
            <a:r>
              <a:rPr lang="en-US" sz="2400" b="1" dirty="0" smtClean="0">
                <a:solidFill>
                  <a:schemeClr val="accent1">
                    <a:lumMod val="75000"/>
                  </a:schemeClr>
                </a:solidFill>
              </a:rPr>
              <a:t>for(</a:t>
            </a:r>
            <a:r>
              <a:rPr lang="en-US" sz="2400" b="1" dirty="0" err="1" smtClean="0">
                <a:solidFill>
                  <a:schemeClr val="accent1">
                    <a:lumMod val="75000"/>
                  </a:schemeClr>
                </a:solidFill>
              </a:rPr>
              <a:t>i</a:t>
            </a:r>
            <a:r>
              <a:rPr lang="en-US" sz="2400" b="1" dirty="0" smtClean="0">
                <a:solidFill>
                  <a:schemeClr val="accent1">
                    <a:lumMod val="75000"/>
                  </a:schemeClr>
                </a:solidFill>
              </a:rPr>
              <a:t>=1; </a:t>
            </a:r>
            <a:r>
              <a:rPr lang="en-US" sz="2400" b="1" dirty="0" err="1" smtClean="0">
                <a:solidFill>
                  <a:schemeClr val="accent1">
                    <a:lumMod val="75000"/>
                  </a:schemeClr>
                </a:solidFill>
              </a:rPr>
              <a:t>i</a:t>
            </a:r>
            <a:r>
              <a:rPr lang="en-US" sz="2400" b="1" dirty="0" smtClean="0">
                <a:solidFill>
                  <a:schemeClr val="accent1">
                    <a:lumMod val="75000"/>
                  </a:schemeClr>
                </a:solidFill>
              </a:rPr>
              <a:t> &lt;= 10; ++</a:t>
            </a:r>
            <a:r>
              <a:rPr lang="en-US" sz="2400" b="1" dirty="0" err="1" smtClean="0">
                <a:solidFill>
                  <a:schemeClr val="accent1">
                    <a:lumMod val="75000"/>
                  </a:schemeClr>
                </a:solidFill>
              </a:rPr>
              <a:t>i</a:t>
            </a:r>
            <a:r>
              <a:rPr lang="en-US" sz="2400" b="1" dirty="0" smtClean="0">
                <a:solidFill>
                  <a:schemeClr val="accent1">
                    <a:lumMod val="75000"/>
                  </a:schemeClr>
                </a:solidFill>
              </a:rPr>
              <a:t>) </a:t>
            </a:r>
          </a:p>
          <a:p>
            <a:pPr>
              <a:buNone/>
            </a:pPr>
            <a:r>
              <a:rPr lang="en-US" sz="2400" b="1" dirty="0" smtClean="0">
                <a:solidFill>
                  <a:schemeClr val="accent1">
                    <a:lumMod val="75000"/>
                  </a:schemeClr>
                </a:solidFill>
              </a:rPr>
              <a:t>{ </a:t>
            </a:r>
          </a:p>
          <a:p>
            <a:pPr>
              <a:buNone/>
            </a:pPr>
            <a:r>
              <a:rPr lang="en-US" sz="2400" b="1" dirty="0" err="1" smtClean="0">
                <a:solidFill>
                  <a:schemeClr val="accent1">
                    <a:lumMod val="75000"/>
                  </a:schemeClr>
                </a:solidFill>
              </a:rPr>
              <a:t>printf</a:t>
            </a:r>
            <a:r>
              <a:rPr lang="en-US" sz="2400" b="1" dirty="0" smtClean="0">
                <a:solidFill>
                  <a:schemeClr val="accent1">
                    <a:lumMod val="75000"/>
                  </a:schemeClr>
                </a:solidFill>
              </a:rPr>
              <a:t>("Enter a no. %d: ",</a:t>
            </a:r>
            <a:r>
              <a:rPr lang="en-US" sz="2400" b="1" dirty="0" err="1" smtClean="0">
                <a:solidFill>
                  <a:schemeClr val="accent1">
                    <a:lumMod val="75000"/>
                  </a:schemeClr>
                </a:solidFill>
              </a:rPr>
              <a:t>i</a:t>
            </a:r>
            <a:r>
              <a:rPr lang="en-US" sz="2400" b="1" dirty="0" smtClean="0">
                <a:solidFill>
                  <a:schemeClr val="accent1">
                    <a:lumMod val="75000"/>
                  </a:schemeClr>
                </a:solidFill>
              </a:rPr>
              <a:t>); </a:t>
            </a:r>
          </a:p>
          <a:p>
            <a:pPr>
              <a:buNone/>
            </a:pPr>
            <a:r>
              <a:rPr lang="en-US" sz="2400" b="1" dirty="0" err="1" smtClean="0">
                <a:solidFill>
                  <a:schemeClr val="accent1">
                    <a:lumMod val="75000"/>
                  </a:schemeClr>
                </a:solidFill>
              </a:rPr>
              <a:t>scanf</a:t>
            </a:r>
            <a:r>
              <a:rPr lang="en-US" sz="2400" b="1" dirty="0" smtClean="0">
                <a:solidFill>
                  <a:schemeClr val="accent1">
                    <a:lumMod val="75000"/>
                  </a:schemeClr>
                </a:solidFill>
              </a:rPr>
              <a:t>("%</a:t>
            </a:r>
            <a:r>
              <a:rPr lang="en-US" sz="2400" b="1" dirty="0" err="1" smtClean="0">
                <a:solidFill>
                  <a:schemeClr val="accent1">
                    <a:lumMod val="75000"/>
                  </a:schemeClr>
                </a:solidFill>
              </a:rPr>
              <a:t>lf",&amp;number</a:t>
            </a:r>
            <a:r>
              <a:rPr lang="en-US" sz="2400" b="1" dirty="0" smtClean="0">
                <a:solidFill>
                  <a:schemeClr val="accent1">
                    <a:lumMod val="75000"/>
                  </a:schemeClr>
                </a:solidFill>
              </a:rPr>
              <a:t>); // If user enters negative number, loop is terminated </a:t>
            </a:r>
          </a:p>
          <a:p>
            <a:pPr>
              <a:buNone/>
            </a:pPr>
            <a:r>
              <a:rPr lang="en-US" sz="2400" b="1" dirty="0" smtClean="0">
                <a:solidFill>
                  <a:schemeClr val="accent1">
                    <a:lumMod val="75000"/>
                  </a:schemeClr>
                </a:solidFill>
              </a:rPr>
              <a:t>if(number &lt; 0.0) </a:t>
            </a:r>
          </a:p>
          <a:p>
            <a:pPr>
              <a:buNone/>
            </a:pPr>
            <a:r>
              <a:rPr lang="en-US" sz="2400" b="1" dirty="0" smtClean="0">
                <a:solidFill>
                  <a:schemeClr val="accent1">
                    <a:lumMod val="75000"/>
                  </a:schemeClr>
                </a:solidFill>
              </a:rPr>
              <a:t>{</a:t>
            </a:r>
          </a:p>
          <a:p>
            <a:pPr>
              <a:buNone/>
            </a:pPr>
            <a:r>
              <a:rPr lang="en-US" sz="2400" b="1" dirty="0" smtClean="0">
                <a:solidFill>
                  <a:schemeClr val="accent1">
                    <a:lumMod val="75000"/>
                  </a:schemeClr>
                </a:solidFill>
              </a:rPr>
              <a:t> break; </a:t>
            </a:r>
          </a:p>
          <a:p>
            <a:pPr>
              <a:buNone/>
            </a:pPr>
            <a:r>
              <a:rPr lang="en-US" sz="2400" b="1" dirty="0" smtClean="0">
                <a:solidFill>
                  <a:schemeClr val="accent1">
                    <a:lumMod val="75000"/>
                  </a:schemeClr>
                </a:solidFill>
              </a:rPr>
              <a:t>} </a:t>
            </a:r>
          </a:p>
          <a:p>
            <a:pPr>
              <a:buNone/>
            </a:pPr>
            <a:r>
              <a:rPr lang="en-US" sz="2400" b="1" dirty="0" smtClean="0">
                <a:solidFill>
                  <a:schemeClr val="accent1">
                    <a:lumMod val="75000"/>
                  </a:schemeClr>
                </a:solidFill>
              </a:rPr>
              <a:t>sum = sum + number; </a:t>
            </a:r>
          </a:p>
          <a:p>
            <a:pPr>
              <a:buNone/>
            </a:pPr>
            <a:r>
              <a:rPr lang="en-US" sz="2400" b="1" dirty="0" smtClean="0">
                <a:solidFill>
                  <a:schemeClr val="accent1">
                    <a:lumMod val="75000"/>
                  </a:schemeClr>
                </a:solidFill>
              </a:rPr>
              <a:t>}</a:t>
            </a:r>
          </a:p>
          <a:p>
            <a:pPr>
              <a:buNone/>
            </a:pPr>
            <a:r>
              <a:rPr lang="en-US" sz="2400" b="1" dirty="0" smtClean="0">
                <a:solidFill>
                  <a:schemeClr val="accent1">
                    <a:lumMod val="75000"/>
                  </a:schemeClr>
                </a:solidFill>
              </a:rPr>
              <a:t> </a:t>
            </a:r>
            <a:r>
              <a:rPr lang="en-US" sz="2400" b="1" dirty="0" err="1" smtClean="0">
                <a:solidFill>
                  <a:schemeClr val="accent1">
                    <a:lumMod val="75000"/>
                  </a:schemeClr>
                </a:solidFill>
              </a:rPr>
              <a:t>printf</a:t>
            </a:r>
            <a:r>
              <a:rPr lang="en-US" sz="2400" b="1" dirty="0" smtClean="0">
                <a:solidFill>
                  <a:schemeClr val="accent1">
                    <a:lumMod val="75000"/>
                  </a:schemeClr>
                </a:solidFill>
              </a:rPr>
              <a:t>("Sum = %.2lf",sum); </a:t>
            </a:r>
          </a:p>
          <a:p>
            <a:pPr>
              <a:buNone/>
            </a:pPr>
            <a:r>
              <a:rPr lang="en-US" sz="2400" b="1" dirty="0" err="1" smtClean="0">
                <a:solidFill>
                  <a:schemeClr val="accent1">
                    <a:lumMod val="75000"/>
                  </a:schemeClr>
                </a:solidFill>
              </a:rPr>
              <a:t>getch</a:t>
            </a:r>
            <a:r>
              <a:rPr lang="en-US" sz="2400" b="1" dirty="0" smtClean="0">
                <a:solidFill>
                  <a:schemeClr val="accent1">
                    <a:lumMod val="75000"/>
                  </a:schemeClr>
                </a:solidFill>
              </a:rPr>
              <a:t>(); </a:t>
            </a:r>
          </a:p>
          <a:p>
            <a:pPr>
              <a:buNone/>
            </a:pPr>
            <a:r>
              <a:rPr lang="en-US" sz="2400" b="1" dirty="0" smtClean="0">
                <a:solidFill>
                  <a:schemeClr val="accent1">
                    <a:lumMod val="75000"/>
                  </a:schemeClr>
                </a:solidFill>
              </a:rPr>
              <a:t>}</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17638"/>
          </a:xfrm>
        </p:spPr>
        <p:txBody>
          <a:bodyPr>
            <a:noAutofit/>
          </a:bodyPr>
          <a:lstStyle/>
          <a:p>
            <a:r>
              <a:rPr lang="en-US" sz="3800" b="1" dirty="0" smtClean="0">
                <a:solidFill>
                  <a:schemeClr val="tx2">
                    <a:lumMod val="60000"/>
                    <a:lumOff val="40000"/>
                  </a:schemeClr>
                </a:solidFill>
              </a:rPr>
              <a:t>What will we do to break from outer loop.</a:t>
            </a:r>
            <a:endParaRPr lang="en-US" sz="3800" b="1" dirty="0">
              <a:solidFill>
                <a:schemeClr val="tx2">
                  <a:lumMod val="60000"/>
                  <a:lumOff val="40000"/>
                </a:schemeClr>
              </a:solidFill>
            </a:endParaRPr>
          </a:p>
        </p:txBody>
      </p:sp>
      <p:sp>
        <p:nvSpPr>
          <p:cNvPr id="3" name="Text Placeholder 2"/>
          <p:cNvSpPr>
            <a:spLocks noGrp="1"/>
          </p:cNvSpPr>
          <p:nvPr>
            <p:ph type="body" idx="1"/>
          </p:nvPr>
        </p:nvSpPr>
        <p:spPr/>
        <p:txBody>
          <a:bodyPr/>
          <a:lstStyle/>
          <a:p>
            <a:pPr algn="just">
              <a:buNone/>
            </a:pPr>
            <a:r>
              <a:rPr lang="en-US" dirty="0" smtClean="0">
                <a:solidFill>
                  <a:schemeClr val="tx2">
                    <a:lumMod val="60000"/>
                    <a:lumOff val="40000"/>
                  </a:schemeClr>
                </a:solidFill>
              </a:rPr>
              <a:t>Note: break; It break inner loop only.</a:t>
            </a:r>
          </a:p>
          <a:p>
            <a:pPr algn="just">
              <a:buNone/>
            </a:pPr>
            <a:r>
              <a:rPr lang="en-US" dirty="0" smtClean="0">
                <a:solidFill>
                  <a:schemeClr val="tx2">
                    <a:lumMod val="60000"/>
                    <a:lumOff val="40000"/>
                  </a:schemeClr>
                </a:solidFill>
              </a:rPr>
              <a:t>We can use </a:t>
            </a:r>
            <a:r>
              <a:rPr lang="en-US" dirty="0" err="1" smtClean="0">
                <a:solidFill>
                  <a:schemeClr val="tx2">
                    <a:lumMod val="60000"/>
                    <a:lumOff val="40000"/>
                  </a:schemeClr>
                </a:solidFill>
              </a:rPr>
              <a:t>goto</a:t>
            </a:r>
            <a:r>
              <a:rPr lang="en-US" dirty="0" smtClean="0">
                <a:solidFill>
                  <a:schemeClr val="tx2">
                    <a:lumMod val="60000"/>
                    <a:lumOff val="40000"/>
                  </a:schemeClr>
                </a:solidFill>
              </a:rPr>
              <a:t> statement to terminate from the scope Or from outer loop.</a:t>
            </a:r>
          </a:p>
          <a:p>
            <a:pPr algn="just">
              <a:buNone/>
            </a:pPr>
            <a:r>
              <a:rPr lang="en-US" dirty="0" smtClean="0">
                <a:solidFill>
                  <a:schemeClr val="tx2">
                    <a:lumMod val="60000"/>
                    <a:lumOff val="40000"/>
                  </a:schemeClr>
                </a:solidFill>
              </a:rPr>
              <a:t>Example 1 : Using break; in inner loop.</a:t>
            </a:r>
          </a:p>
          <a:p>
            <a:pPr algn="just">
              <a:buNone/>
            </a:pPr>
            <a:r>
              <a:rPr lang="en-US" dirty="0" smtClean="0">
                <a:solidFill>
                  <a:schemeClr val="tx2">
                    <a:lumMod val="60000"/>
                    <a:lumOff val="40000"/>
                  </a:schemeClr>
                </a:solidFill>
              </a:rPr>
              <a:t>Example2 : Using </a:t>
            </a:r>
            <a:r>
              <a:rPr lang="en-US" dirty="0" err="1" smtClean="0">
                <a:solidFill>
                  <a:schemeClr val="tx2">
                    <a:lumMod val="60000"/>
                    <a:lumOff val="40000"/>
                  </a:schemeClr>
                </a:solidFill>
              </a:rPr>
              <a:t>goto</a:t>
            </a:r>
            <a:r>
              <a:rPr lang="en-US" dirty="0" smtClean="0">
                <a:solidFill>
                  <a:schemeClr val="tx2">
                    <a:lumMod val="60000"/>
                    <a:lumOff val="40000"/>
                  </a:schemeClr>
                </a:solidFill>
              </a:rPr>
              <a:t> label in inner loop.</a:t>
            </a:r>
            <a:endParaRPr lang="en-US" dirty="0">
              <a:solidFill>
                <a:schemeClr val="tx2">
                  <a:lumMod val="60000"/>
                  <a:lumOff val="40000"/>
                </a:schemeClr>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52400"/>
            <a:ext cx="8382000" cy="6400800"/>
          </a:xfrm>
        </p:spPr>
        <p:txBody>
          <a:bodyPr>
            <a:noAutofit/>
          </a:bodyPr>
          <a:lstStyle/>
          <a:p>
            <a:pPr>
              <a:spcBef>
                <a:spcPts val="0"/>
              </a:spcBef>
              <a:buNone/>
            </a:pPr>
            <a:r>
              <a:rPr lang="en-US" sz="1800" b="1" dirty="0" smtClean="0"/>
              <a:t>Example 1: break use in inner loop.</a:t>
            </a:r>
          </a:p>
          <a:p>
            <a:pPr>
              <a:spcBef>
                <a:spcPts val="0"/>
              </a:spcBef>
              <a:buNone/>
            </a:pPr>
            <a:endParaRPr lang="en-US" sz="1800" b="1" dirty="0" smtClean="0"/>
          </a:p>
          <a:p>
            <a:pPr>
              <a:spcBef>
                <a:spcPts val="0"/>
              </a:spcBef>
              <a:buNone/>
            </a:pPr>
            <a:r>
              <a:rPr lang="en-US" sz="1800" b="1" dirty="0" smtClean="0"/>
              <a:t>#</a:t>
            </a:r>
            <a:r>
              <a:rPr lang="en-US" sz="1800" b="1" dirty="0" smtClean="0"/>
              <a:t>include&lt;</a:t>
            </a:r>
            <a:r>
              <a:rPr lang="en-US" sz="1800" b="1" dirty="0" err="1" smtClean="0"/>
              <a:t>stdio.h</a:t>
            </a:r>
            <a:r>
              <a:rPr lang="en-US" sz="1800" b="1" dirty="0" smtClean="0"/>
              <a:t>&gt;</a:t>
            </a:r>
          </a:p>
          <a:p>
            <a:pPr>
              <a:spcBef>
                <a:spcPts val="0"/>
              </a:spcBef>
              <a:buNone/>
            </a:pPr>
            <a:r>
              <a:rPr lang="en-US" sz="1800" b="1" dirty="0" smtClean="0"/>
              <a:t>#include&lt;</a:t>
            </a:r>
            <a:r>
              <a:rPr lang="en-US" sz="1800" b="1" dirty="0" err="1" smtClean="0"/>
              <a:t>conio.h</a:t>
            </a:r>
            <a:r>
              <a:rPr lang="en-US" sz="1800" b="1" dirty="0" smtClean="0"/>
              <a:t>&gt;</a:t>
            </a:r>
          </a:p>
          <a:p>
            <a:pPr>
              <a:spcBef>
                <a:spcPts val="0"/>
              </a:spcBef>
              <a:buNone/>
            </a:pPr>
            <a:r>
              <a:rPr lang="en-US" sz="1800" b="1" dirty="0" smtClean="0"/>
              <a:t> </a:t>
            </a:r>
          </a:p>
          <a:p>
            <a:pPr>
              <a:spcBef>
                <a:spcPts val="0"/>
              </a:spcBef>
              <a:buNone/>
            </a:pPr>
            <a:r>
              <a:rPr lang="en-US" sz="1800" b="1" dirty="0" smtClean="0"/>
              <a:t>void main()</a:t>
            </a:r>
          </a:p>
          <a:p>
            <a:pPr>
              <a:spcBef>
                <a:spcPts val="0"/>
              </a:spcBef>
              <a:buNone/>
            </a:pPr>
            <a:r>
              <a:rPr lang="en-US" sz="1800" b="1" dirty="0" smtClean="0"/>
              <a:t>{</a:t>
            </a:r>
          </a:p>
          <a:p>
            <a:pPr>
              <a:spcBef>
                <a:spcPts val="0"/>
              </a:spcBef>
              <a:buNone/>
            </a:pPr>
            <a:r>
              <a:rPr lang="en-US" sz="1800" b="1" dirty="0" smtClean="0"/>
              <a:t>  </a:t>
            </a:r>
            <a:r>
              <a:rPr lang="en-US" sz="1800" b="1" dirty="0" err="1" smtClean="0"/>
              <a:t>int</a:t>
            </a:r>
            <a:r>
              <a:rPr lang="en-US" sz="1800" b="1" dirty="0" smtClean="0"/>
              <a:t> </a:t>
            </a:r>
            <a:r>
              <a:rPr lang="en-US" sz="1800" b="1" dirty="0" err="1" smtClean="0"/>
              <a:t>i,j</a:t>
            </a:r>
            <a:r>
              <a:rPr lang="en-US" sz="1800" b="1" dirty="0" smtClean="0"/>
              <a:t>;</a:t>
            </a:r>
          </a:p>
          <a:p>
            <a:pPr>
              <a:spcBef>
                <a:spcPts val="0"/>
              </a:spcBef>
              <a:buNone/>
            </a:pPr>
            <a:r>
              <a:rPr lang="en-US" sz="1800" b="1" dirty="0" smtClean="0"/>
              <a:t> </a:t>
            </a:r>
            <a:r>
              <a:rPr lang="en-US" sz="1800" b="1" dirty="0" err="1" smtClean="0"/>
              <a:t>clrscr</a:t>
            </a:r>
            <a:r>
              <a:rPr lang="en-US" sz="1800" b="1" dirty="0" smtClean="0"/>
              <a:t>();</a:t>
            </a:r>
            <a:endParaRPr lang="en-US" sz="1800" b="1" dirty="0" smtClean="0"/>
          </a:p>
          <a:p>
            <a:pPr>
              <a:spcBef>
                <a:spcPts val="0"/>
              </a:spcBef>
              <a:buNone/>
            </a:pPr>
            <a:r>
              <a:rPr lang="en-US" sz="1800" b="1" dirty="0" smtClean="0"/>
              <a:t>	       for(</a:t>
            </a:r>
            <a:r>
              <a:rPr lang="en-US" sz="1800" b="1" dirty="0" err="1" smtClean="0"/>
              <a:t>i</a:t>
            </a:r>
            <a:r>
              <a:rPr lang="en-US" sz="1800" b="1" dirty="0" smtClean="0"/>
              <a:t>=1;i&lt;5;i++)</a:t>
            </a:r>
          </a:p>
          <a:p>
            <a:pPr>
              <a:spcBef>
                <a:spcPts val="0"/>
              </a:spcBef>
              <a:buNone/>
            </a:pPr>
            <a:r>
              <a:rPr lang="en-US" sz="1800" b="1" dirty="0" smtClean="0"/>
              <a:t>	       {</a:t>
            </a:r>
          </a:p>
          <a:p>
            <a:pPr>
              <a:spcBef>
                <a:spcPts val="0"/>
              </a:spcBef>
              <a:buNone/>
            </a:pPr>
            <a:r>
              <a:rPr lang="en-US" sz="1800" b="1" dirty="0" smtClean="0"/>
              <a:t>				     for(j=1;j&lt;5;j++)</a:t>
            </a:r>
          </a:p>
          <a:p>
            <a:pPr>
              <a:spcBef>
                <a:spcPts val="0"/>
              </a:spcBef>
              <a:buNone/>
            </a:pPr>
            <a:r>
              <a:rPr lang="en-US" sz="1800" b="1" dirty="0" smtClean="0"/>
              <a:t>			     {</a:t>
            </a:r>
          </a:p>
          <a:p>
            <a:pPr>
              <a:spcBef>
                <a:spcPts val="0"/>
              </a:spcBef>
              <a:buNone/>
            </a:pPr>
            <a:r>
              <a:rPr lang="en-US" sz="1800" b="1" dirty="0" smtClean="0"/>
              <a:t>				if(</a:t>
            </a:r>
            <a:r>
              <a:rPr lang="en-US" sz="1800" b="1" dirty="0" err="1" smtClean="0"/>
              <a:t>i</a:t>
            </a:r>
            <a:r>
              <a:rPr lang="en-US" sz="1800" b="1" dirty="0" smtClean="0"/>
              <a:t>==2)</a:t>
            </a:r>
          </a:p>
          <a:p>
            <a:pPr>
              <a:spcBef>
                <a:spcPts val="0"/>
              </a:spcBef>
              <a:buNone/>
            </a:pPr>
            <a:r>
              <a:rPr lang="en-US" sz="1800" b="1" dirty="0" smtClean="0"/>
              <a:t>			 </a:t>
            </a:r>
            <a:r>
              <a:rPr lang="en-US" sz="1800" b="1" dirty="0" smtClean="0"/>
              <a:t>	break</a:t>
            </a:r>
            <a:r>
              <a:rPr lang="en-US" sz="1800" b="1" dirty="0" smtClean="0"/>
              <a:t>;</a:t>
            </a:r>
          </a:p>
          <a:p>
            <a:pPr>
              <a:spcBef>
                <a:spcPts val="0"/>
              </a:spcBef>
              <a:buNone/>
            </a:pPr>
            <a:r>
              <a:rPr lang="en-US" sz="1800" b="1" dirty="0" smtClean="0"/>
              <a:t>			     </a:t>
            </a:r>
            <a:r>
              <a:rPr lang="en-US" sz="1800" b="1" dirty="0" err="1" smtClean="0"/>
              <a:t>printf</a:t>
            </a:r>
            <a:r>
              <a:rPr lang="en-US" sz="1800" b="1" dirty="0" smtClean="0"/>
              <a:t>("</a:t>
            </a:r>
            <a:r>
              <a:rPr lang="en-US" sz="1800" b="1" dirty="0" err="1" smtClean="0"/>
              <a:t>i</a:t>
            </a:r>
            <a:r>
              <a:rPr lang="en-US" sz="1800" b="1" dirty="0" smtClean="0"/>
              <a:t> is %</a:t>
            </a:r>
            <a:r>
              <a:rPr lang="en-US" sz="1800" b="1" dirty="0" err="1" smtClean="0"/>
              <a:t>dand</a:t>
            </a:r>
            <a:r>
              <a:rPr lang="en-US" sz="1800" b="1" dirty="0" smtClean="0"/>
              <a:t> j is %d\</a:t>
            </a:r>
            <a:r>
              <a:rPr lang="en-US" sz="1800" b="1" dirty="0" err="1" smtClean="0"/>
              <a:t>n",i,j</a:t>
            </a:r>
            <a:r>
              <a:rPr lang="en-US" sz="1800" b="1" dirty="0" smtClean="0"/>
              <a:t>);</a:t>
            </a:r>
          </a:p>
          <a:p>
            <a:pPr>
              <a:spcBef>
                <a:spcPts val="0"/>
              </a:spcBef>
              <a:buNone/>
            </a:pPr>
            <a:r>
              <a:rPr lang="en-US" sz="1800" b="1" dirty="0" smtClean="0"/>
              <a:t>			     }</a:t>
            </a:r>
          </a:p>
          <a:p>
            <a:pPr>
              <a:spcBef>
                <a:spcPts val="0"/>
              </a:spcBef>
              <a:buNone/>
            </a:pPr>
            <a:r>
              <a:rPr lang="en-US" sz="1800" b="1" dirty="0" smtClean="0"/>
              <a:t>	       }</a:t>
            </a:r>
          </a:p>
          <a:p>
            <a:pPr>
              <a:spcBef>
                <a:spcPts val="0"/>
              </a:spcBef>
              <a:buNone/>
            </a:pPr>
            <a:r>
              <a:rPr lang="en-US" sz="1800" b="1" dirty="0" smtClean="0"/>
              <a:t>	       </a:t>
            </a:r>
            <a:r>
              <a:rPr lang="en-US" sz="1800" b="1" dirty="0" err="1" smtClean="0"/>
              <a:t>getch</a:t>
            </a:r>
            <a:r>
              <a:rPr lang="en-US" sz="1800" b="1" dirty="0" smtClean="0"/>
              <a:t>();</a:t>
            </a:r>
          </a:p>
          <a:p>
            <a:pPr>
              <a:spcBef>
                <a:spcPts val="0"/>
              </a:spcBef>
              <a:buNone/>
            </a:pPr>
            <a:r>
              <a:rPr lang="en-US" sz="1800" b="1" dirty="0" smtClean="0"/>
              <a:t>}</a:t>
            </a:r>
            <a:endParaRPr lang="en-US" sz="1800" b="1"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152400"/>
            <a:ext cx="8458200" cy="6400800"/>
          </a:xfrm>
        </p:spPr>
        <p:txBody>
          <a:bodyPr>
            <a:noAutofit/>
          </a:bodyPr>
          <a:lstStyle/>
          <a:p>
            <a:pPr>
              <a:spcBef>
                <a:spcPts val="0"/>
              </a:spcBef>
              <a:buNone/>
            </a:pPr>
            <a:r>
              <a:rPr lang="en-US" sz="1800" b="1" dirty="0" smtClean="0"/>
              <a:t>Example 2: </a:t>
            </a:r>
            <a:r>
              <a:rPr lang="en-US" sz="1800" b="1" dirty="0" err="1" smtClean="0"/>
              <a:t>goto</a:t>
            </a:r>
            <a:r>
              <a:rPr lang="en-US" sz="1800" b="1" dirty="0" smtClean="0"/>
              <a:t> statement use to </a:t>
            </a:r>
            <a:r>
              <a:rPr lang="en-US" sz="1800" b="1" dirty="0" err="1" smtClean="0"/>
              <a:t>terminataion</a:t>
            </a:r>
            <a:r>
              <a:rPr lang="en-US" sz="1800" b="1" dirty="0" smtClean="0"/>
              <a:t> from outer loop.</a:t>
            </a:r>
          </a:p>
          <a:p>
            <a:pPr>
              <a:spcBef>
                <a:spcPts val="0"/>
              </a:spcBef>
              <a:buNone/>
            </a:pPr>
            <a:r>
              <a:rPr lang="en-US" sz="1800" b="1" dirty="0" smtClean="0"/>
              <a:t>#</a:t>
            </a:r>
            <a:r>
              <a:rPr lang="en-US" sz="1800" b="1" dirty="0" smtClean="0"/>
              <a:t>include&lt;</a:t>
            </a:r>
            <a:r>
              <a:rPr lang="en-US" sz="1800" b="1" dirty="0" err="1" smtClean="0"/>
              <a:t>stdio.h</a:t>
            </a:r>
            <a:r>
              <a:rPr lang="en-US" sz="1800" b="1" dirty="0" smtClean="0"/>
              <a:t>&gt;</a:t>
            </a:r>
          </a:p>
          <a:p>
            <a:pPr>
              <a:spcBef>
                <a:spcPts val="0"/>
              </a:spcBef>
              <a:buNone/>
            </a:pPr>
            <a:r>
              <a:rPr lang="en-US" sz="1800" b="1" dirty="0" smtClean="0"/>
              <a:t>#include&lt;</a:t>
            </a:r>
            <a:r>
              <a:rPr lang="en-US" sz="1800" b="1" dirty="0" err="1" smtClean="0"/>
              <a:t>conio.h</a:t>
            </a:r>
            <a:r>
              <a:rPr lang="en-US" sz="1800" b="1" dirty="0" smtClean="0"/>
              <a:t>&gt;</a:t>
            </a:r>
          </a:p>
          <a:p>
            <a:pPr>
              <a:spcBef>
                <a:spcPts val="0"/>
              </a:spcBef>
              <a:buNone/>
            </a:pPr>
            <a:r>
              <a:rPr lang="en-US" sz="1800" b="1" dirty="0" smtClean="0"/>
              <a:t> </a:t>
            </a:r>
          </a:p>
          <a:p>
            <a:pPr>
              <a:spcBef>
                <a:spcPts val="0"/>
              </a:spcBef>
              <a:buNone/>
            </a:pPr>
            <a:r>
              <a:rPr lang="en-US" sz="1800" b="1" dirty="0" smtClean="0"/>
              <a:t>void main()</a:t>
            </a:r>
          </a:p>
          <a:p>
            <a:pPr>
              <a:spcBef>
                <a:spcPts val="0"/>
              </a:spcBef>
              <a:buNone/>
            </a:pPr>
            <a:r>
              <a:rPr lang="en-US" sz="1800" b="1" dirty="0" smtClean="0"/>
              <a:t>{</a:t>
            </a:r>
          </a:p>
          <a:p>
            <a:pPr>
              <a:spcBef>
                <a:spcPts val="0"/>
              </a:spcBef>
              <a:buNone/>
            </a:pPr>
            <a:r>
              <a:rPr lang="en-US" sz="1800" b="1" dirty="0" smtClean="0"/>
              <a:t>  </a:t>
            </a:r>
            <a:r>
              <a:rPr lang="en-US" sz="1800" b="1" dirty="0" err="1" smtClean="0"/>
              <a:t>int</a:t>
            </a:r>
            <a:r>
              <a:rPr lang="en-US" sz="1800" b="1" dirty="0" smtClean="0"/>
              <a:t> </a:t>
            </a:r>
            <a:r>
              <a:rPr lang="en-US" sz="1800" b="1" dirty="0" err="1" smtClean="0"/>
              <a:t>i,j</a:t>
            </a:r>
            <a:r>
              <a:rPr lang="en-US" sz="1800" b="1" dirty="0" smtClean="0"/>
              <a:t>;</a:t>
            </a:r>
          </a:p>
          <a:p>
            <a:pPr>
              <a:spcBef>
                <a:spcPts val="0"/>
              </a:spcBef>
              <a:buNone/>
            </a:pPr>
            <a:r>
              <a:rPr lang="en-US" sz="1800" b="1" dirty="0" smtClean="0"/>
              <a:t> </a:t>
            </a:r>
            <a:r>
              <a:rPr lang="en-US" sz="1800" b="1" dirty="0" err="1" smtClean="0"/>
              <a:t>clrscr</a:t>
            </a:r>
            <a:r>
              <a:rPr lang="en-US" sz="1800" b="1" dirty="0" smtClean="0"/>
              <a:t>();</a:t>
            </a:r>
          </a:p>
          <a:p>
            <a:pPr>
              <a:spcBef>
                <a:spcPts val="0"/>
              </a:spcBef>
              <a:buNone/>
            </a:pPr>
            <a:r>
              <a:rPr lang="en-US" sz="1800" b="1" dirty="0" smtClean="0"/>
              <a:t>  </a:t>
            </a:r>
            <a:r>
              <a:rPr lang="en-US" sz="1800" b="1" dirty="0" err="1" smtClean="0"/>
              <a:t>Outer_loop</a:t>
            </a:r>
            <a:r>
              <a:rPr lang="en-US" sz="1800" b="1" dirty="0" smtClean="0"/>
              <a:t> :</a:t>
            </a:r>
          </a:p>
          <a:p>
            <a:pPr>
              <a:spcBef>
                <a:spcPts val="0"/>
              </a:spcBef>
              <a:buNone/>
            </a:pPr>
            <a:r>
              <a:rPr lang="en-US" sz="1800" b="1" dirty="0" smtClean="0"/>
              <a:t>	       for(</a:t>
            </a:r>
            <a:r>
              <a:rPr lang="en-US" sz="1800" b="1" dirty="0" err="1" smtClean="0"/>
              <a:t>i</a:t>
            </a:r>
            <a:r>
              <a:rPr lang="en-US" sz="1800" b="1" dirty="0" smtClean="0"/>
              <a:t>=1;i&lt;5;i++)</a:t>
            </a:r>
          </a:p>
          <a:p>
            <a:pPr>
              <a:spcBef>
                <a:spcPts val="0"/>
              </a:spcBef>
              <a:buNone/>
            </a:pPr>
            <a:r>
              <a:rPr lang="en-US" sz="1800" b="1" dirty="0" smtClean="0"/>
              <a:t>	       {</a:t>
            </a:r>
          </a:p>
          <a:p>
            <a:pPr>
              <a:spcBef>
                <a:spcPts val="0"/>
              </a:spcBef>
              <a:buNone/>
            </a:pPr>
            <a:r>
              <a:rPr lang="en-US" sz="1800" b="1" dirty="0" smtClean="0"/>
              <a:t>		 </a:t>
            </a:r>
            <a:r>
              <a:rPr lang="en-US" sz="1800" b="1" dirty="0" err="1" smtClean="0"/>
              <a:t>Inner_loop</a:t>
            </a:r>
            <a:r>
              <a:rPr lang="en-US" sz="1800" b="1" dirty="0" smtClean="0"/>
              <a:t>:</a:t>
            </a:r>
          </a:p>
          <a:p>
            <a:pPr>
              <a:spcBef>
                <a:spcPts val="0"/>
              </a:spcBef>
              <a:buNone/>
            </a:pPr>
            <a:r>
              <a:rPr lang="en-US" sz="1800" b="1" dirty="0" smtClean="0"/>
              <a:t>			     for(j=1;j&lt;5;j++)</a:t>
            </a:r>
          </a:p>
          <a:p>
            <a:pPr>
              <a:spcBef>
                <a:spcPts val="0"/>
              </a:spcBef>
              <a:buNone/>
            </a:pPr>
            <a:r>
              <a:rPr lang="en-US" sz="1800" b="1" dirty="0" smtClean="0"/>
              <a:t>			     {</a:t>
            </a:r>
          </a:p>
          <a:p>
            <a:pPr>
              <a:spcBef>
                <a:spcPts val="0"/>
              </a:spcBef>
              <a:buNone/>
            </a:pPr>
            <a:r>
              <a:rPr lang="en-US" sz="1800" b="1" dirty="0" smtClean="0"/>
              <a:t>				if(</a:t>
            </a:r>
            <a:r>
              <a:rPr lang="en-US" sz="1800" b="1" dirty="0" err="1" smtClean="0"/>
              <a:t>i</a:t>
            </a:r>
            <a:r>
              <a:rPr lang="en-US" sz="1800" b="1" dirty="0" smtClean="0"/>
              <a:t>==2)</a:t>
            </a:r>
          </a:p>
          <a:p>
            <a:pPr>
              <a:spcBef>
                <a:spcPts val="0"/>
              </a:spcBef>
              <a:buNone/>
            </a:pPr>
            <a:r>
              <a:rPr lang="en-US" sz="1800" b="1" dirty="0" smtClean="0"/>
              <a:t>			     //   break </a:t>
            </a:r>
            <a:r>
              <a:rPr lang="en-US" sz="1800" b="1" dirty="0" err="1" smtClean="0"/>
              <a:t>Outer_loop</a:t>
            </a:r>
            <a:r>
              <a:rPr lang="en-US" sz="1800" b="1" dirty="0" smtClean="0"/>
              <a:t>;  //this is line 14</a:t>
            </a:r>
          </a:p>
          <a:p>
            <a:pPr>
              <a:spcBef>
                <a:spcPts val="0"/>
              </a:spcBef>
              <a:buNone/>
            </a:pPr>
            <a:r>
              <a:rPr lang="en-US" sz="1800" b="1" dirty="0" smtClean="0"/>
              <a:t>			     break;</a:t>
            </a:r>
          </a:p>
          <a:p>
            <a:pPr>
              <a:spcBef>
                <a:spcPts val="0"/>
              </a:spcBef>
              <a:buNone/>
            </a:pPr>
            <a:r>
              <a:rPr lang="en-US" sz="1800" b="1" dirty="0" smtClean="0"/>
              <a:t>			     </a:t>
            </a:r>
            <a:r>
              <a:rPr lang="en-US" sz="1800" b="1" dirty="0" err="1" smtClean="0"/>
              <a:t>printf</a:t>
            </a:r>
            <a:r>
              <a:rPr lang="en-US" sz="1800" b="1" dirty="0" smtClean="0"/>
              <a:t>("</a:t>
            </a:r>
            <a:r>
              <a:rPr lang="en-US" sz="1800" b="1" dirty="0" err="1" smtClean="0"/>
              <a:t>i</a:t>
            </a:r>
            <a:r>
              <a:rPr lang="en-US" sz="1800" b="1" dirty="0" smtClean="0"/>
              <a:t> is %</a:t>
            </a:r>
            <a:r>
              <a:rPr lang="en-US" sz="1800" b="1" dirty="0" err="1" smtClean="0"/>
              <a:t>dand</a:t>
            </a:r>
            <a:r>
              <a:rPr lang="en-US" sz="1800" b="1" dirty="0" smtClean="0"/>
              <a:t> j is %d\</a:t>
            </a:r>
            <a:r>
              <a:rPr lang="en-US" sz="1800" b="1" dirty="0" err="1" smtClean="0"/>
              <a:t>n",i,j</a:t>
            </a:r>
            <a:r>
              <a:rPr lang="en-US" sz="1800" b="1" dirty="0" smtClean="0"/>
              <a:t>);</a:t>
            </a:r>
          </a:p>
          <a:p>
            <a:pPr>
              <a:spcBef>
                <a:spcPts val="0"/>
              </a:spcBef>
              <a:buNone/>
            </a:pPr>
            <a:r>
              <a:rPr lang="en-US" sz="1800" b="1" dirty="0" smtClean="0"/>
              <a:t>			     }</a:t>
            </a:r>
          </a:p>
          <a:p>
            <a:pPr>
              <a:spcBef>
                <a:spcPts val="0"/>
              </a:spcBef>
              <a:buNone/>
            </a:pPr>
            <a:r>
              <a:rPr lang="en-US" sz="1800" b="1" dirty="0" smtClean="0"/>
              <a:t>	       }</a:t>
            </a:r>
          </a:p>
          <a:p>
            <a:pPr>
              <a:spcBef>
                <a:spcPts val="0"/>
              </a:spcBef>
              <a:buNone/>
            </a:pPr>
            <a:r>
              <a:rPr lang="en-US" sz="1800" b="1" dirty="0" smtClean="0"/>
              <a:t>	       </a:t>
            </a:r>
            <a:r>
              <a:rPr lang="en-US" sz="1800" b="1" dirty="0" err="1" smtClean="0"/>
              <a:t>getch</a:t>
            </a:r>
            <a:r>
              <a:rPr lang="en-US" sz="1800" b="1" dirty="0" smtClean="0"/>
              <a:t>();</a:t>
            </a:r>
          </a:p>
          <a:p>
            <a:pPr>
              <a:spcBef>
                <a:spcPts val="0"/>
              </a:spcBef>
              <a:buNone/>
            </a:pPr>
            <a:r>
              <a:rPr lang="en-US" sz="1800" b="1" dirty="0" smtClean="0"/>
              <a:t>}</a:t>
            </a:r>
            <a:endParaRPr lang="en-US" sz="1800" b="1"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5562600"/>
            <a:ext cx="8229600" cy="1295400"/>
          </a:xfrm>
        </p:spPr>
        <p:txBody>
          <a:bodyPr>
            <a:normAutofit/>
          </a:bodyPr>
          <a:lstStyle/>
          <a:p>
            <a:pPr marR="0" lvl="0" rtl="0">
              <a:buFont typeface="Wingdings" pitchFamily="2" charset="2"/>
              <a:buChar char="Ø"/>
            </a:pPr>
            <a:r>
              <a:rPr lang="en-US" sz="2100" b="1" baseline="0" dirty="0" smtClean="0">
                <a:solidFill>
                  <a:srgbClr val="4F81BD"/>
                </a:solidFill>
                <a:latin typeface="Times New Roman"/>
              </a:rPr>
              <a:t>It skips inner loop when the condition is </a:t>
            </a:r>
            <a:r>
              <a:rPr lang="en-US" sz="2100" b="1" baseline="0" dirty="0" err="1" smtClean="0">
                <a:solidFill>
                  <a:srgbClr val="4F81BD"/>
                </a:solidFill>
                <a:latin typeface="Times New Roman"/>
              </a:rPr>
              <a:t>meet.</a:t>
            </a:r>
            <a:r>
              <a:rPr lang="en-US" sz="2100" b="1" dirty="0" err="1" smtClean="0">
                <a:solidFill>
                  <a:srgbClr val="4F81BD"/>
                </a:solidFill>
                <a:latin typeface="Times New Roman"/>
              </a:rPr>
              <a:t>It</a:t>
            </a:r>
            <a:r>
              <a:rPr lang="en-US" sz="2100" b="1" dirty="0" smtClean="0">
                <a:solidFill>
                  <a:srgbClr val="4F81BD"/>
                </a:solidFill>
                <a:latin typeface="Times New Roman"/>
              </a:rPr>
              <a:t> doesn’t skip outer loop.</a:t>
            </a:r>
          </a:p>
          <a:p>
            <a:pPr marR="0" lvl="0" rtl="0">
              <a:buFont typeface="Wingdings" pitchFamily="2" charset="2"/>
              <a:buChar char="Ø"/>
            </a:pPr>
            <a:r>
              <a:rPr lang="en-US" sz="2100" b="1" baseline="0" dirty="0" smtClean="0">
                <a:solidFill>
                  <a:srgbClr val="4F81BD"/>
                </a:solidFill>
                <a:latin typeface="Times New Roman"/>
              </a:rPr>
              <a:t>To skip</a:t>
            </a:r>
            <a:r>
              <a:rPr lang="en-US" sz="2100" b="1" dirty="0" smtClean="0">
                <a:solidFill>
                  <a:srgbClr val="4F81BD"/>
                </a:solidFill>
                <a:latin typeface="Times New Roman"/>
              </a:rPr>
              <a:t> from outer loop we can use </a:t>
            </a:r>
            <a:r>
              <a:rPr lang="en-US" sz="2100" b="1" dirty="0" err="1" smtClean="0">
                <a:solidFill>
                  <a:srgbClr val="4F81BD"/>
                </a:solidFill>
                <a:latin typeface="Times New Roman"/>
              </a:rPr>
              <a:t>goto</a:t>
            </a:r>
            <a:r>
              <a:rPr lang="en-US" sz="2100" b="1" dirty="0" smtClean="0">
                <a:solidFill>
                  <a:srgbClr val="4F81BD"/>
                </a:solidFill>
                <a:latin typeface="Times New Roman"/>
              </a:rPr>
              <a:t> statement.</a:t>
            </a:r>
            <a:endParaRPr lang="en-US" sz="2100" b="1" baseline="0" dirty="0" smtClean="0">
              <a:solidFill>
                <a:srgbClr val="4F81BD"/>
              </a:solidFill>
              <a:latin typeface="Times New Roman"/>
            </a:endParaRPr>
          </a:p>
        </p:txBody>
      </p:sp>
      <p:pic>
        <p:nvPicPr>
          <p:cNvPr id="4" name="Picture 3" descr="continue statement in loops in c language"/>
          <p:cNvPicPr/>
          <p:nvPr/>
        </p:nvPicPr>
        <p:blipFill>
          <a:blip r:embed="rId2" cstate="print"/>
          <a:srcRect/>
          <a:stretch>
            <a:fillRect/>
          </a:stretch>
        </p:blipFill>
        <p:spPr bwMode="auto">
          <a:xfrm>
            <a:off x="838200" y="1828800"/>
            <a:ext cx="7696200" cy="3810000"/>
          </a:xfrm>
          <a:prstGeom prst="rect">
            <a:avLst/>
          </a:prstGeom>
          <a:noFill/>
          <a:ln w="9525">
            <a:noFill/>
            <a:miter lim="800000"/>
            <a:headEnd/>
            <a:tailEnd/>
          </a:ln>
        </p:spPr>
      </p:pic>
      <p:sp>
        <p:nvSpPr>
          <p:cNvPr id="5" name="Text Placeholder 2"/>
          <p:cNvSpPr txBox="1">
            <a:spLocks/>
          </p:cNvSpPr>
          <p:nvPr/>
        </p:nvSpPr>
        <p:spPr>
          <a:xfrm>
            <a:off x="0" y="304799"/>
            <a:ext cx="9144000" cy="1752601"/>
          </a:xfrm>
          <a:prstGeom prst="rect">
            <a:avLst/>
          </a:prstGeom>
        </p:spPr>
        <p:txBody>
          <a:bodyPr vert="horz" lIns="91440" tIns="45720" rIns="91440" bIns="45720" rtlCol="0">
            <a:normAutofit fontScale="70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1" i="0" u="none" strike="noStrike" kern="1200" cap="none" spc="0" normalizeH="0" baseline="0" noProof="0" dirty="0" smtClean="0">
                <a:ln>
                  <a:noFill/>
                </a:ln>
                <a:solidFill>
                  <a:srgbClr val="4F81BD"/>
                </a:solidFill>
                <a:effectLst/>
                <a:uLnTx/>
                <a:uFillTx/>
                <a:latin typeface="Cambria"/>
                <a:ea typeface="+mn-ea"/>
                <a:cs typeface="+mn-cs"/>
              </a:rPr>
              <a:t>2) continue statement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1" i="0" u="none" strike="noStrike" kern="1200" cap="none" spc="0" normalizeH="0" baseline="0" noProof="0" dirty="0" smtClean="0">
                <a:ln>
                  <a:noFill/>
                </a:ln>
                <a:solidFill>
                  <a:schemeClr val="tx2">
                    <a:lumMod val="60000"/>
                    <a:lumOff val="40000"/>
                  </a:schemeClr>
                </a:solidFill>
                <a:effectLst/>
                <a:uLnTx/>
                <a:uFillTx/>
                <a:latin typeface="+mn-lt"/>
                <a:ea typeface="+mn-ea"/>
                <a:cs typeface="+mn-cs"/>
              </a:rPr>
              <a:t>	It causes the control to go directly to the test-condition and then continue the loop process. On encountering continue, cursor leave the current cycle of loop, and starts with the next cycle</a:t>
            </a:r>
            <a:r>
              <a:rPr kumimoji="0" lang="en-US" sz="3200" b="0" i="0" u="none" strike="noStrike" kern="1200" cap="none" spc="0" normalizeH="0" baseline="0" noProof="0" dirty="0" smtClean="0">
                <a:ln>
                  <a:noFill/>
                </a:ln>
                <a:solidFill>
                  <a:schemeClr val="tx2">
                    <a:lumMod val="60000"/>
                    <a:lumOff val="40000"/>
                  </a:schemeClr>
                </a:solidFill>
                <a:effectLst/>
                <a:uLnTx/>
                <a:uFillTx/>
                <a:latin typeface="+mn-lt"/>
                <a:ea typeface="+mn-ea"/>
                <a:cs typeface="+mn-cs"/>
              </a:rPr>
              <a:t>.</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None/>
              <a:tabLst/>
              <a:defRPr/>
            </a:pPr>
            <a:r>
              <a:rPr lang="en-US" sz="3200" b="1" dirty="0" smtClean="0">
                <a:solidFill>
                  <a:schemeClr val="tx2">
                    <a:lumMod val="60000"/>
                    <a:lumOff val="40000"/>
                  </a:schemeClr>
                </a:solidFill>
              </a:rPr>
              <a:t>Other word : It will skip the instruction when condition meet.</a:t>
            </a:r>
            <a:endParaRPr kumimoji="0" lang="en-US" sz="3200" b="1" i="0" u="none" strike="noStrike" kern="1200" cap="none" spc="0" normalizeH="0" baseline="0" noProof="0" dirty="0" smtClean="0">
              <a:ln>
                <a:noFill/>
              </a:ln>
              <a:solidFill>
                <a:schemeClr val="tx2">
                  <a:lumMod val="60000"/>
                  <a:lumOff val="40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1" i="0" u="none" strike="noStrike" kern="1200" cap="none" spc="0" normalizeH="0" baseline="0" noProof="0" dirty="0" smtClean="0">
              <a:ln>
                <a:noFill/>
              </a:ln>
              <a:solidFill>
                <a:srgbClr val="4F81BD"/>
              </a:solidFill>
              <a:effectLst/>
              <a:uLnTx/>
              <a:uFillTx/>
              <a:latin typeface="Times New Roman"/>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1" i="0" u="none" strike="noStrike" kern="1200" cap="none" spc="0" normalizeH="0" baseline="0" noProof="0" dirty="0" smtClean="0">
              <a:ln>
                <a:noFill/>
              </a:ln>
              <a:solidFill>
                <a:srgbClr val="4F81BD"/>
              </a:solidFill>
              <a:effectLst/>
              <a:uLnTx/>
              <a:uFillTx/>
              <a:latin typeface="Times New Roman"/>
              <a:ea typeface="+mn-ea"/>
              <a:cs typeface="+mn-cs"/>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228600"/>
            <a:ext cx="8610600" cy="6400800"/>
          </a:xfrm>
        </p:spPr>
        <p:txBody>
          <a:bodyPr>
            <a:normAutofit fontScale="85000" lnSpcReduction="20000"/>
          </a:bodyPr>
          <a:lstStyle/>
          <a:p>
            <a:pPr>
              <a:buNone/>
            </a:pPr>
            <a:r>
              <a:rPr lang="en-US" sz="2400" b="1" dirty="0" smtClean="0">
                <a:solidFill>
                  <a:schemeClr val="accent1">
                    <a:lumMod val="75000"/>
                  </a:schemeClr>
                </a:solidFill>
              </a:rPr>
              <a:t>// Program to calculate sum of maximum of 10 numbers </a:t>
            </a:r>
          </a:p>
          <a:p>
            <a:pPr>
              <a:buNone/>
            </a:pPr>
            <a:r>
              <a:rPr lang="en-US" sz="2400" b="1" dirty="0" smtClean="0">
                <a:solidFill>
                  <a:schemeClr val="accent1">
                    <a:lumMod val="75000"/>
                  </a:schemeClr>
                </a:solidFill>
              </a:rPr>
              <a:t>// Negative numbers are skipped from calculation </a:t>
            </a:r>
          </a:p>
          <a:p>
            <a:pPr>
              <a:buNone/>
            </a:pPr>
            <a:r>
              <a:rPr lang="en-US" sz="2400" b="1" dirty="0" smtClean="0">
                <a:solidFill>
                  <a:schemeClr val="accent1">
                    <a:lumMod val="75000"/>
                  </a:schemeClr>
                </a:solidFill>
              </a:rPr>
              <a:t># include &lt;</a:t>
            </a:r>
            <a:r>
              <a:rPr lang="en-US" sz="2400" b="1" dirty="0" err="1" smtClean="0">
                <a:solidFill>
                  <a:schemeClr val="accent1">
                    <a:lumMod val="75000"/>
                  </a:schemeClr>
                </a:solidFill>
              </a:rPr>
              <a:t>stdio.h</a:t>
            </a:r>
            <a:r>
              <a:rPr lang="en-US" sz="2400" b="1" dirty="0" smtClean="0">
                <a:solidFill>
                  <a:schemeClr val="accent1">
                    <a:lumMod val="75000"/>
                  </a:schemeClr>
                </a:solidFill>
              </a:rPr>
              <a:t>&gt; </a:t>
            </a:r>
          </a:p>
          <a:p>
            <a:pPr>
              <a:buNone/>
            </a:pPr>
            <a:r>
              <a:rPr lang="en-US" sz="2400" b="1" dirty="0" smtClean="0">
                <a:solidFill>
                  <a:schemeClr val="accent1">
                    <a:lumMod val="75000"/>
                  </a:schemeClr>
                </a:solidFill>
              </a:rPr>
              <a:t>void main() </a:t>
            </a:r>
          </a:p>
          <a:p>
            <a:pPr>
              <a:buNone/>
            </a:pPr>
            <a:r>
              <a:rPr lang="en-US" sz="2400" b="1" dirty="0" smtClean="0">
                <a:solidFill>
                  <a:schemeClr val="accent1">
                    <a:lumMod val="75000"/>
                  </a:schemeClr>
                </a:solidFill>
              </a:rPr>
              <a:t>{ </a:t>
            </a:r>
          </a:p>
          <a:p>
            <a:pPr>
              <a:buNone/>
            </a:pPr>
            <a:r>
              <a:rPr lang="en-US" sz="2400" b="1" dirty="0" err="1" smtClean="0">
                <a:solidFill>
                  <a:schemeClr val="accent1">
                    <a:lumMod val="75000"/>
                  </a:schemeClr>
                </a:solidFill>
              </a:rPr>
              <a:t>int</a:t>
            </a:r>
            <a:r>
              <a:rPr lang="en-US" sz="2400" b="1" dirty="0" smtClean="0">
                <a:solidFill>
                  <a:schemeClr val="accent1">
                    <a:lumMod val="75000"/>
                  </a:schemeClr>
                </a:solidFill>
              </a:rPr>
              <a:t> </a:t>
            </a:r>
            <a:r>
              <a:rPr lang="en-US" sz="2400" b="1" dirty="0" err="1" smtClean="0">
                <a:solidFill>
                  <a:schemeClr val="accent1">
                    <a:lumMod val="75000"/>
                  </a:schemeClr>
                </a:solidFill>
              </a:rPr>
              <a:t>i</a:t>
            </a:r>
            <a:r>
              <a:rPr lang="en-US" sz="2400" b="1" dirty="0" smtClean="0">
                <a:solidFill>
                  <a:schemeClr val="accent1">
                    <a:lumMod val="75000"/>
                  </a:schemeClr>
                </a:solidFill>
              </a:rPr>
              <a:t>; </a:t>
            </a:r>
          </a:p>
          <a:p>
            <a:pPr>
              <a:buNone/>
            </a:pPr>
            <a:r>
              <a:rPr lang="en-US" sz="2400" b="1" dirty="0" smtClean="0">
                <a:solidFill>
                  <a:schemeClr val="accent1">
                    <a:lumMod val="75000"/>
                  </a:schemeClr>
                </a:solidFill>
              </a:rPr>
              <a:t>double number, sum = 0.0; </a:t>
            </a:r>
          </a:p>
          <a:p>
            <a:pPr>
              <a:buNone/>
            </a:pPr>
            <a:r>
              <a:rPr lang="en-US" sz="2400" b="1" dirty="0" smtClean="0">
                <a:solidFill>
                  <a:schemeClr val="accent1">
                    <a:lumMod val="75000"/>
                  </a:schemeClr>
                </a:solidFill>
              </a:rPr>
              <a:t>for(</a:t>
            </a:r>
            <a:r>
              <a:rPr lang="en-US" sz="2400" b="1" dirty="0" err="1" smtClean="0">
                <a:solidFill>
                  <a:schemeClr val="accent1">
                    <a:lumMod val="75000"/>
                  </a:schemeClr>
                </a:solidFill>
              </a:rPr>
              <a:t>i</a:t>
            </a:r>
            <a:r>
              <a:rPr lang="en-US" sz="2400" b="1" dirty="0" smtClean="0">
                <a:solidFill>
                  <a:schemeClr val="accent1">
                    <a:lumMod val="75000"/>
                  </a:schemeClr>
                </a:solidFill>
              </a:rPr>
              <a:t>=1; </a:t>
            </a:r>
            <a:r>
              <a:rPr lang="en-US" sz="2400" b="1" dirty="0" err="1" smtClean="0">
                <a:solidFill>
                  <a:schemeClr val="accent1">
                    <a:lumMod val="75000"/>
                  </a:schemeClr>
                </a:solidFill>
              </a:rPr>
              <a:t>i</a:t>
            </a:r>
            <a:r>
              <a:rPr lang="en-US" sz="2400" b="1" dirty="0" smtClean="0">
                <a:solidFill>
                  <a:schemeClr val="accent1">
                    <a:lumMod val="75000"/>
                  </a:schemeClr>
                </a:solidFill>
              </a:rPr>
              <a:t> &lt;= 10; ++</a:t>
            </a:r>
            <a:r>
              <a:rPr lang="en-US" sz="2400" b="1" dirty="0" err="1" smtClean="0">
                <a:solidFill>
                  <a:schemeClr val="accent1">
                    <a:lumMod val="75000"/>
                  </a:schemeClr>
                </a:solidFill>
              </a:rPr>
              <a:t>i</a:t>
            </a:r>
            <a:r>
              <a:rPr lang="en-US" sz="2400" b="1" dirty="0" smtClean="0">
                <a:solidFill>
                  <a:schemeClr val="accent1">
                    <a:lumMod val="75000"/>
                  </a:schemeClr>
                </a:solidFill>
              </a:rPr>
              <a:t>) </a:t>
            </a:r>
          </a:p>
          <a:p>
            <a:pPr>
              <a:buNone/>
            </a:pPr>
            <a:r>
              <a:rPr lang="en-US" sz="2400" b="1" dirty="0" smtClean="0">
                <a:solidFill>
                  <a:schemeClr val="accent1">
                    <a:lumMod val="75000"/>
                  </a:schemeClr>
                </a:solidFill>
              </a:rPr>
              <a:t>{ </a:t>
            </a:r>
          </a:p>
          <a:p>
            <a:pPr>
              <a:buNone/>
            </a:pPr>
            <a:r>
              <a:rPr lang="en-US" sz="2400" b="1" dirty="0" err="1" smtClean="0">
                <a:solidFill>
                  <a:schemeClr val="accent1">
                    <a:lumMod val="75000"/>
                  </a:schemeClr>
                </a:solidFill>
              </a:rPr>
              <a:t>printf</a:t>
            </a:r>
            <a:r>
              <a:rPr lang="en-US" sz="2400" b="1" dirty="0" smtClean="0">
                <a:solidFill>
                  <a:schemeClr val="accent1">
                    <a:lumMod val="75000"/>
                  </a:schemeClr>
                </a:solidFill>
              </a:rPr>
              <a:t>("Enter a </a:t>
            </a:r>
            <a:r>
              <a:rPr lang="en-US" sz="2400" b="1" dirty="0" err="1" smtClean="0">
                <a:solidFill>
                  <a:schemeClr val="accent1">
                    <a:lumMod val="75000"/>
                  </a:schemeClr>
                </a:solidFill>
              </a:rPr>
              <a:t>n%d</a:t>
            </a:r>
            <a:r>
              <a:rPr lang="en-US" sz="2400" b="1" dirty="0" smtClean="0">
                <a:solidFill>
                  <a:schemeClr val="accent1">
                    <a:lumMod val="75000"/>
                  </a:schemeClr>
                </a:solidFill>
              </a:rPr>
              <a:t>: ",</a:t>
            </a:r>
            <a:r>
              <a:rPr lang="en-US" sz="2400" b="1" dirty="0" err="1" smtClean="0">
                <a:solidFill>
                  <a:schemeClr val="accent1">
                    <a:lumMod val="75000"/>
                  </a:schemeClr>
                </a:solidFill>
              </a:rPr>
              <a:t>i</a:t>
            </a:r>
            <a:r>
              <a:rPr lang="en-US" sz="2400" b="1" dirty="0" smtClean="0">
                <a:solidFill>
                  <a:schemeClr val="accent1">
                    <a:lumMod val="75000"/>
                  </a:schemeClr>
                </a:solidFill>
              </a:rPr>
              <a:t>); </a:t>
            </a:r>
          </a:p>
          <a:p>
            <a:pPr>
              <a:buNone/>
            </a:pPr>
            <a:r>
              <a:rPr lang="en-US" sz="2400" b="1" dirty="0" err="1" smtClean="0">
                <a:solidFill>
                  <a:schemeClr val="accent1">
                    <a:lumMod val="75000"/>
                  </a:schemeClr>
                </a:solidFill>
              </a:rPr>
              <a:t>scanf</a:t>
            </a:r>
            <a:r>
              <a:rPr lang="en-US" sz="2400" b="1" dirty="0" smtClean="0">
                <a:solidFill>
                  <a:schemeClr val="accent1">
                    <a:lumMod val="75000"/>
                  </a:schemeClr>
                </a:solidFill>
              </a:rPr>
              <a:t>("%</a:t>
            </a:r>
            <a:r>
              <a:rPr lang="en-US" sz="2400" b="1" dirty="0" err="1" smtClean="0">
                <a:solidFill>
                  <a:schemeClr val="accent1">
                    <a:lumMod val="75000"/>
                  </a:schemeClr>
                </a:solidFill>
              </a:rPr>
              <a:t>lf",&amp;number</a:t>
            </a:r>
            <a:r>
              <a:rPr lang="en-US" sz="2400" b="1" dirty="0" smtClean="0">
                <a:solidFill>
                  <a:schemeClr val="accent1">
                    <a:lumMod val="75000"/>
                  </a:schemeClr>
                </a:solidFill>
              </a:rPr>
              <a:t>); // If user enters negative number, loop is terminated </a:t>
            </a:r>
          </a:p>
          <a:p>
            <a:pPr>
              <a:buNone/>
            </a:pPr>
            <a:r>
              <a:rPr lang="en-US" sz="2400" b="1" dirty="0" smtClean="0">
                <a:solidFill>
                  <a:schemeClr val="accent1">
                    <a:lumMod val="75000"/>
                  </a:schemeClr>
                </a:solidFill>
              </a:rPr>
              <a:t>if(number &lt; 0.0) </a:t>
            </a:r>
          </a:p>
          <a:p>
            <a:pPr>
              <a:buNone/>
            </a:pPr>
            <a:r>
              <a:rPr lang="en-US" sz="2400" b="1" dirty="0" smtClean="0">
                <a:solidFill>
                  <a:schemeClr val="accent1">
                    <a:lumMod val="75000"/>
                  </a:schemeClr>
                </a:solidFill>
              </a:rPr>
              <a:t>{</a:t>
            </a:r>
          </a:p>
          <a:p>
            <a:pPr>
              <a:buNone/>
            </a:pPr>
            <a:r>
              <a:rPr lang="en-US" sz="2400" b="1" dirty="0" smtClean="0">
                <a:solidFill>
                  <a:schemeClr val="accent1">
                    <a:lumMod val="75000"/>
                  </a:schemeClr>
                </a:solidFill>
              </a:rPr>
              <a:t> continue; </a:t>
            </a:r>
          </a:p>
          <a:p>
            <a:pPr>
              <a:buNone/>
            </a:pPr>
            <a:r>
              <a:rPr lang="en-US" sz="2400" b="1" dirty="0" smtClean="0">
                <a:solidFill>
                  <a:schemeClr val="accent1">
                    <a:lumMod val="75000"/>
                  </a:schemeClr>
                </a:solidFill>
              </a:rPr>
              <a:t>} </a:t>
            </a:r>
          </a:p>
          <a:p>
            <a:pPr>
              <a:buNone/>
            </a:pPr>
            <a:r>
              <a:rPr lang="en-US" sz="2400" b="1" dirty="0" smtClean="0">
                <a:solidFill>
                  <a:schemeClr val="accent1">
                    <a:lumMod val="75000"/>
                  </a:schemeClr>
                </a:solidFill>
              </a:rPr>
              <a:t>sum = sum + number; </a:t>
            </a:r>
          </a:p>
          <a:p>
            <a:pPr>
              <a:buNone/>
            </a:pPr>
            <a:r>
              <a:rPr lang="en-US" sz="2400" b="1" dirty="0" smtClean="0">
                <a:solidFill>
                  <a:schemeClr val="accent1">
                    <a:lumMod val="75000"/>
                  </a:schemeClr>
                </a:solidFill>
              </a:rPr>
              <a:t>} </a:t>
            </a:r>
          </a:p>
          <a:p>
            <a:pPr>
              <a:buNone/>
            </a:pPr>
            <a:r>
              <a:rPr lang="en-US" sz="2400" b="1" dirty="0" err="1" smtClean="0">
                <a:solidFill>
                  <a:schemeClr val="accent1">
                    <a:lumMod val="75000"/>
                  </a:schemeClr>
                </a:solidFill>
              </a:rPr>
              <a:t>printf</a:t>
            </a:r>
            <a:r>
              <a:rPr lang="en-US" sz="2400" b="1" dirty="0" smtClean="0">
                <a:solidFill>
                  <a:schemeClr val="accent1">
                    <a:lumMod val="75000"/>
                  </a:schemeClr>
                </a:solidFill>
              </a:rPr>
              <a:t>("Sum = %.2lf",sum); </a:t>
            </a:r>
          </a:p>
          <a:p>
            <a:pPr>
              <a:buNone/>
            </a:pPr>
            <a:r>
              <a:rPr lang="en-US" sz="2400" b="1" dirty="0" err="1" smtClean="0">
                <a:solidFill>
                  <a:schemeClr val="accent1">
                    <a:lumMod val="75000"/>
                  </a:schemeClr>
                </a:solidFill>
              </a:rPr>
              <a:t>getch</a:t>
            </a:r>
            <a:r>
              <a:rPr lang="en-US" sz="2400" b="1" dirty="0" smtClean="0">
                <a:solidFill>
                  <a:schemeClr val="accent1">
                    <a:lumMod val="75000"/>
                  </a:schemeClr>
                </a:solidFill>
              </a:rPr>
              <a:t>();</a:t>
            </a:r>
          </a:p>
          <a:p>
            <a:pPr>
              <a:buNone/>
            </a:pPr>
            <a:r>
              <a:rPr lang="en-US" sz="2400" b="1" dirty="0" smtClean="0">
                <a:solidFill>
                  <a:schemeClr val="accent1">
                    <a:lumMod val="75000"/>
                  </a:schemeClr>
                </a:solidFill>
              </a:rPr>
              <a:t>}</a:t>
            </a:r>
            <a:endParaRPr lang="en-US" sz="2400" b="1"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rmAutofit fontScale="90000"/>
          </a:bodyPr>
          <a:lstStyle/>
          <a:p>
            <a:r>
              <a:rPr lang="en-US" sz="4000" b="1" dirty="0" smtClean="0">
                <a:solidFill>
                  <a:schemeClr val="tx2">
                    <a:lumMod val="60000"/>
                    <a:lumOff val="40000"/>
                  </a:schemeClr>
                </a:solidFill>
              </a:rPr>
              <a:t>Difference between break and continue.</a:t>
            </a:r>
            <a:r>
              <a:rPr lang="en-US" dirty="0" smtClean="0"/>
              <a:t/>
            </a:r>
            <a:br>
              <a:rPr lang="en-US" dirty="0" smtClean="0"/>
            </a:br>
            <a:endParaRPr lang="en-US" dirty="0"/>
          </a:p>
        </p:txBody>
      </p:sp>
      <p:graphicFrame>
        <p:nvGraphicFramePr>
          <p:cNvPr id="4" name="Table 3"/>
          <p:cNvGraphicFramePr>
            <a:graphicFrameLocks noGrp="1"/>
          </p:cNvGraphicFramePr>
          <p:nvPr/>
        </p:nvGraphicFramePr>
        <p:xfrm>
          <a:off x="304800" y="1371600"/>
          <a:ext cx="8610600" cy="4571999"/>
        </p:xfrm>
        <a:graphic>
          <a:graphicData uri="http://schemas.openxmlformats.org/drawingml/2006/table">
            <a:tbl>
              <a:tblPr/>
              <a:tblGrid>
                <a:gridCol w="4305300"/>
                <a:gridCol w="4305300"/>
              </a:tblGrid>
              <a:tr h="1244336">
                <a:tc>
                  <a:txBody>
                    <a:bodyPr/>
                    <a:lstStyle/>
                    <a:p>
                      <a:pPr marL="0" marR="0" algn="ctr">
                        <a:lnSpc>
                          <a:spcPct val="115000"/>
                        </a:lnSpc>
                        <a:spcBef>
                          <a:spcPts val="0"/>
                        </a:spcBef>
                        <a:spcAft>
                          <a:spcPts val="0"/>
                        </a:spcAft>
                      </a:pPr>
                      <a:r>
                        <a:rPr lang="en-US" sz="3200" b="1" dirty="0">
                          <a:solidFill>
                            <a:schemeClr val="tx2">
                              <a:lumMod val="60000"/>
                              <a:lumOff val="40000"/>
                            </a:schemeClr>
                          </a:solidFill>
                          <a:latin typeface="Calibri"/>
                          <a:ea typeface="Calibri"/>
                          <a:cs typeface="Times New Roman"/>
                        </a:rPr>
                        <a:t>Break</a:t>
                      </a:r>
                      <a:endParaRPr lang="en-US" sz="3200" dirty="0">
                        <a:solidFill>
                          <a:schemeClr val="tx2">
                            <a:lumMod val="60000"/>
                            <a:lumOff val="40000"/>
                          </a:schemeClr>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3200" b="1" dirty="0">
                          <a:solidFill>
                            <a:schemeClr val="tx2">
                              <a:lumMod val="60000"/>
                              <a:lumOff val="40000"/>
                            </a:schemeClr>
                          </a:solidFill>
                          <a:latin typeface="Calibri"/>
                          <a:ea typeface="Calibri"/>
                          <a:cs typeface="Times New Roman"/>
                        </a:rPr>
                        <a:t>Continue</a:t>
                      </a:r>
                      <a:endParaRPr lang="en-US" sz="3200" dirty="0">
                        <a:solidFill>
                          <a:schemeClr val="tx2">
                            <a:lumMod val="60000"/>
                            <a:lumOff val="40000"/>
                          </a:schemeClr>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9577">
                <a:tc>
                  <a:txBody>
                    <a:bodyPr/>
                    <a:lstStyle/>
                    <a:p>
                      <a:pPr marL="0" marR="0">
                        <a:lnSpc>
                          <a:spcPct val="115000"/>
                        </a:lnSpc>
                        <a:spcBef>
                          <a:spcPts val="0"/>
                        </a:spcBef>
                        <a:spcAft>
                          <a:spcPts val="0"/>
                        </a:spcAft>
                      </a:pPr>
                      <a:r>
                        <a:rPr lang="en-US" sz="2800" dirty="0">
                          <a:solidFill>
                            <a:schemeClr val="tx2">
                              <a:lumMod val="60000"/>
                              <a:lumOff val="40000"/>
                            </a:schemeClr>
                          </a:solidFill>
                          <a:latin typeface="Calibri"/>
                          <a:ea typeface="Calibri"/>
                          <a:cs typeface="Times New Roman"/>
                        </a:rPr>
                        <a:t>Exits from current block or loop.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800">
                          <a:solidFill>
                            <a:schemeClr val="tx2">
                              <a:lumMod val="60000"/>
                              <a:lumOff val="40000"/>
                            </a:schemeClr>
                          </a:solidFill>
                          <a:latin typeface="Calibri"/>
                          <a:ea typeface="Calibri"/>
                          <a:cs typeface="Times New Roman"/>
                        </a:rPr>
                        <a:t>Loop takes next iteration.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89043">
                <a:tc>
                  <a:txBody>
                    <a:bodyPr/>
                    <a:lstStyle/>
                    <a:p>
                      <a:pPr marL="0" marR="0">
                        <a:lnSpc>
                          <a:spcPct val="115000"/>
                        </a:lnSpc>
                        <a:spcBef>
                          <a:spcPts val="0"/>
                        </a:spcBef>
                        <a:spcAft>
                          <a:spcPts val="0"/>
                        </a:spcAft>
                      </a:pPr>
                      <a:r>
                        <a:rPr lang="en-US" sz="2800">
                          <a:solidFill>
                            <a:schemeClr val="tx2">
                              <a:lumMod val="60000"/>
                              <a:lumOff val="40000"/>
                            </a:schemeClr>
                          </a:solidFill>
                          <a:latin typeface="Calibri"/>
                          <a:ea typeface="Calibri"/>
                          <a:cs typeface="Times New Roman"/>
                        </a:rPr>
                        <a:t>Control passes to next statement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800">
                          <a:solidFill>
                            <a:schemeClr val="tx2">
                              <a:lumMod val="60000"/>
                              <a:lumOff val="40000"/>
                            </a:schemeClr>
                          </a:solidFill>
                          <a:latin typeface="Calibri"/>
                          <a:ea typeface="Calibri"/>
                          <a:cs typeface="Times New Roman"/>
                        </a:rPr>
                        <a:t>Control passes at the beginning of loop.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89043">
                <a:tc>
                  <a:txBody>
                    <a:bodyPr/>
                    <a:lstStyle/>
                    <a:p>
                      <a:pPr marL="0" marR="0">
                        <a:lnSpc>
                          <a:spcPct val="115000"/>
                        </a:lnSpc>
                        <a:spcBef>
                          <a:spcPts val="0"/>
                        </a:spcBef>
                        <a:spcAft>
                          <a:spcPts val="0"/>
                        </a:spcAft>
                      </a:pPr>
                      <a:r>
                        <a:rPr lang="en-US" sz="2800">
                          <a:solidFill>
                            <a:schemeClr val="tx2">
                              <a:lumMod val="60000"/>
                              <a:lumOff val="40000"/>
                            </a:schemeClr>
                          </a:solidFill>
                          <a:latin typeface="Calibri"/>
                          <a:ea typeface="Calibri"/>
                          <a:cs typeface="Times New Roman"/>
                        </a:rPr>
                        <a:t>Terminates the program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800" dirty="0">
                          <a:solidFill>
                            <a:schemeClr val="tx2">
                              <a:lumMod val="60000"/>
                              <a:lumOff val="40000"/>
                            </a:schemeClr>
                          </a:solidFill>
                          <a:latin typeface="Calibri"/>
                          <a:ea typeface="Calibri"/>
                          <a:cs typeface="Times New Roman"/>
                        </a:rPr>
                        <a:t>Never terminates the program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pPr marR="0" rtl="0"/>
            <a:r>
              <a:rPr lang="en-US" b="1" baseline="0" dirty="0" smtClean="0">
                <a:solidFill>
                  <a:srgbClr val="365F91"/>
                </a:solidFill>
                <a:latin typeface="Cambria"/>
              </a:rPr>
              <a:t>Switch statement</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457200" y="1066800"/>
            <a:ext cx="8229600" cy="5257800"/>
          </a:xfrm>
        </p:spPr>
        <p:txBody>
          <a:bodyPr>
            <a:normAutofit lnSpcReduction="10000"/>
          </a:bodyPr>
          <a:lstStyle/>
          <a:p>
            <a:pPr marR="0" lvl="0" algn="just" rtl="0">
              <a:buNone/>
            </a:pPr>
            <a:r>
              <a:rPr lang="en-US" b="1" baseline="0" dirty="0" smtClean="0">
                <a:solidFill>
                  <a:srgbClr val="4F81BD"/>
                </a:solidFill>
                <a:latin typeface="Cambria"/>
              </a:rPr>
              <a:t>	Switch statement is used to solve multiple option type problems for menu like program, where one value is associated with each option. The</a:t>
            </a:r>
            <a:r>
              <a:rPr lang="en-US" b="1" baseline="0" dirty="0" smtClean="0">
                <a:solidFill>
                  <a:srgbClr val="000000"/>
                </a:solidFill>
                <a:latin typeface="Arial"/>
              </a:rPr>
              <a:t> </a:t>
            </a:r>
            <a:r>
              <a:rPr lang="en-US" b="1" baseline="0" dirty="0" smtClean="0">
                <a:solidFill>
                  <a:srgbClr val="4F81BD"/>
                </a:solidFill>
                <a:latin typeface="Cambria"/>
              </a:rPr>
              <a:t>expression</a:t>
            </a:r>
            <a:r>
              <a:rPr lang="en-US" b="1" baseline="0" dirty="0" smtClean="0">
                <a:solidFill>
                  <a:srgbClr val="000000"/>
                </a:solidFill>
                <a:latin typeface="Arial"/>
              </a:rPr>
              <a:t> </a:t>
            </a:r>
            <a:r>
              <a:rPr lang="en-US" b="1" baseline="0" dirty="0" smtClean="0">
                <a:solidFill>
                  <a:srgbClr val="4F81BD"/>
                </a:solidFill>
                <a:latin typeface="Cambria"/>
              </a:rPr>
              <a:t>in switch case evaluates to return an integral-value/character-value, which is then compared to the values in different cases, where it matches that block of code is executed, if there is no match, then default block is executed.</a:t>
            </a:r>
          </a:p>
          <a:p>
            <a:pPr marR="0" lvl="0" algn="just" rtl="0">
              <a:buNone/>
            </a:pPr>
            <a:endParaRPr lang="en-US" b="1" baseline="0" dirty="0" smtClean="0">
              <a:solidFill>
                <a:srgbClr val="4F81BD"/>
              </a:solidFill>
              <a:latin typeface="Cambria"/>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pPr marR="0" rtl="0"/>
            <a:r>
              <a:rPr lang="en-US" sz="3600" b="1" baseline="0" dirty="0" smtClean="0">
                <a:solidFill>
                  <a:schemeClr val="tx2">
                    <a:lumMod val="60000"/>
                    <a:lumOff val="40000"/>
                  </a:schemeClr>
                </a:solidFill>
                <a:latin typeface="Times New Roman"/>
              </a:rPr>
              <a:t>The general form of switch statement is,</a:t>
            </a:r>
          </a:p>
        </p:txBody>
      </p:sp>
      <p:sp>
        <p:nvSpPr>
          <p:cNvPr id="3" name="Text Placeholder 2"/>
          <p:cNvSpPr>
            <a:spLocks noGrp="1"/>
          </p:cNvSpPr>
          <p:nvPr>
            <p:ph type="body" idx="1"/>
          </p:nvPr>
        </p:nvSpPr>
        <p:spPr>
          <a:xfrm>
            <a:off x="457200" y="838200"/>
            <a:ext cx="8229600" cy="5867400"/>
          </a:xfrm>
        </p:spPr>
        <p:txBody>
          <a:bodyPr>
            <a:normAutofit fontScale="47500" lnSpcReduction="20000"/>
          </a:bodyPr>
          <a:lstStyle/>
          <a:p>
            <a:pPr marR="0" lvl="0" rtl="0">
              <a:buNone/>
            </a:pPr>
            <a:r>
              <a:rPr lang="en-US" b="1" baseline="0" dirty="0" smtClean="0">
                <a:solidFill>
                  <a:srgbClr val="4F81BD"/>
                </a:solidFill>
                <a:latin typeface="Cambria"/>
              </a:rPr>
              <a:t>	</a:t>
            </a:r>
            <a:r>
              <a:rPr lang="en-US" sz="4200" b="1" baseline="0" dirty="0" smtClean="0">
                <a:solidFill>
                  <a:srgbClr val="4F81BD"/>
                </a:solidFill>
                <a:latin typeface="Cambria"/>
              </a:rPr>
              <a:t>switch(expression)</a:t>
            </a:r>
          </a:p>
          <a:p>
            <a:pPr marR="0" lvl="0" rtl="0">
              <a:buNone/>
            </a:pPr>
            <a:r>
              <a:rPr lang="en-US" sz="4200" b="1" baseline="0" dirty="0" smtClean="0">
                <a:solidFill>
                  <a:srgbClr val="4F81BD"/>
                </a:solidFill>
                <a:latin typeface="Cambria"/>
              </a:rPr>
              <a:t>	{</a:t>
            </a:r>
          </a:p>
          <a:p>
            <a:pPr marR="0" lvl="0" rtl="0">
              <a:buNone/>
            </a:pPr>
            <a:r>
              <a:rPr lang="en-US" sz="4200" b="1" baseline="0" dirty="0" smtClean="0">
                <a:solidFill>
                  <a:srgbClr val="4F81BD"/>
                </a:solidFill>
                <a:latin typeface="Cambria"/>
              </a:rPr>
              <a:t>	 case value-1:</a:t>
            </a:r>
          </a:p>
          <a:p>
            <a:pPr marR="0" lvl="0" rtl="0">
              <a:buNone/>
            </a:pPr>
            <a:r>
              <a:rPr lang="en-US" sz="4200" b="1" baseline="0" dirty="0" smtClean="0">
                <a:solidFill>
                  <a:srgbClr val="4F81BD"/>
                </a:solidFill>
                <a:latin typeface="Cambria"/>
              </a:rPr>
              <a:t>	    	block-1;</a:t>
            </a:r>
          </a:p>
          <a:p>
            <a:pPr marR="0" lvl="0" rtl="0">
              <a:buNone/>
            </a:pPr>
            <a:r>
              <a:rPr lang="en-US" sz="4200" b="1" baseline="0" dirty="0" smtClean="0">
                <a:solidFill>
                  <a:srgbClr val="4F81BD"/>
                </a:solidFill>
                <a:latin typeface="Cambria"/>
              </a:rPr>
              <a:t>	    	break;</a:t>
            </a:r>
          </a:p>
          <a:p>
            <a:pPr marR="0" lvl="0" rtl="0">
              <a:buNone/>
            </a:pPr>
            <a:r>
              <a:rPr lang="en-US" sz="4200" b="1" baseline="0" dirty="0" smtClean="0">
                <a:solidFill>
                  <a:srgbClr val="4F81BD"/>
                </a:solidFill>
                <a:latin typeface="Cambria"/>
              </a:rPr>
              <a:t>	 case value-2:</a:t>
            </a:r>
          </a:p>
          <a:p>
            <a:pPr marR="0" lvl="0" rtl="0">
              <a:buNone/>
            </a:pPr>
            <a:r>
              <a:rPr lang="en-US" sz="4200" b="1" baseline="0" dirty="0" smtClean="0">
                <a:solidFill>
                  <a:srgbClr val="4F81BD"/>
                </a:solidFill>
                <a:latin typeface="Cambria"/>
              </a:rPr>
              <a:t>	    	block-2;</a:t>
            </a:r>
          </a:p>
          <a:p>
            <a:pPr marR="0" lvl="0" rtl="0">
              <a:buNone/>
            </a:pPr>
            <a:r>
              <a:rPr lang="en-US" sz="4200" b="1" baseline="0" dirty="0" smtClean="0">
                <a:solidFill>
                  <a:srgbClr val="4F81BD"/>
                </a:solidFill>
                <a:latin typeface="Cambria"/>
              </a:rPr>
              <a:t>	    	break;</a:t>
            </a:r>
          </a:p>
          <a:p>
            <a:pPr marR="0" lvl="0" rtl="0">
              <a:buNone/>
            </a:pPr>
            <a:r>
              <a:rPr lang="en-US" sz="4200" b="1" baseline="0" dirty="0" smtClean="0">
                <a:solidFill>
                  <a:srgbClr val="4F81BD"/>
                </a:solidFill>
                <a:latin typeface="Cambria"/>
              </a:rPr>
              <a:t>	 case value-3:</a:t>
            </a:r>
          </a:p>
          <a:p>
            <a:pPr marR="0" lvl="0" rtl="0">
              <a:buNone/>
            </a:pPr>
            <a:r>
              <a:rPr lang="en-US" sz="4200" b="1" baseline="0" dirty="0" smtClean="0">
                <a:solidFill>
                  <a:srgbClr val="4F81BD"/>
                </a:solidFill>
                <a:latin typeface="Cambria"/>
              </a:rPr>
              <a:t>	    	block-3;</a:t>
            </a:r>
          </a:p>
          <a:p>
            <a:pPr marR="0" lvl="0" rtl="0">
              <a:buNone/>
            </a:pPr>
            <a:r>
              <a:rPr lang="en-US" sz="4200" b="1" baseline="0" dirty="0" smtClean="0">
                <a:solidFill>
                  <a:srgbClr val="4F81BD"/>
                </a:solidFill>
                <a:latin typeface="Cambria"/>
              </a:rPr>
              <a:t>	    	break;</a:t>
            </a:r>
          </a:p>
          <a:p>
            <a:pPr marR="0" lvl="0" rtl="0">
              <a:buNone/>
            </a:pPr>
            <a:r>
              <a:rPr lang="en-US" sz="4200" b="1" baseline="0" dirty="0" smtClean="0">
                <a:solidFill>
                  <a:srgbClr val="4F81BD"/>
                </a:solidFill>
                <a:latin typeface="Cambria"/>
              </a:rPr>
              <a:t>	 case value-4:</a:t>
            </a:r>
          </a:p>
          <a:p>
            <a:pPr marR="0" lvl="0" rtl="0">
              <a:buNone/>
            </a:pPr>
            <a:r>
              <a:rPr lang="en-US" sz="4200" b="1" baseline="0" dirty="0" smtClean="0">
                <a:solidFill>
                  <a:srgbClr val="4F81BD"/>
                </a:solidFill>
                <a:latin typeface="Cambria"/>
              </a:rPr>
              <a:t>	    	block-4;</a:t>
            </a:r>
          </a:p>
          <a:p>
            <a:pPr marR="0" lvl="0" rtl="0">
              <a:buNone/>
            </a:pPr>
            <a:r>
              <a:rPr lang="en-US" sz="4200" b="1" baseline="0" dirty="0" smtClean="0">
                <a:solidFill>
                  <a:srgbClr val="4F81BD"/>
                </a:solidFill>
                <a:latin typeface="Cambria"/>
              </a:rPr>
              <a:t>	   	break;</a:t>
            </a:r>
          </a:p>
          <a:p>
            <a:pPr marR="0" lvl="0" rtl="0">
              <a:buNone/>
            </a:pPr>
            <a:r>
              <a:rPr lang="en-US" sz="4200" b="1" baseline="0" dirty="0" smtClean="0">
                <a:solidFill>
                  <a:srgbClr val="4F81BD"/>
                </a:solidFill>
                <a:latin typeface="Cambria"/>
              </a:rPr>
              <a:t>	 default:</a:t>
            </a:r>
          </a:p>
          <a:p>
            <a:pPr marR="0" lvl="0" rtl="0">
              <a:buNone/>
            </a:pPr>
            <a:r>
              <a:rPr lang="en-US" sz="4200" b="1" baseline="0" dirty="0" smtClean="0">
                <a:solidFill>
                  <a:srgbClr val="4F81BD"/>
                </a:solidFill>
                <a:latin typeface="Cambria"/>
              </a:rPr>
              <a:t>	   	default-block;</a:t>
            </a:r>
          </a:p>
          <a:p>
            <a:pPr marR="0" lvl="0" rtl="0">
              <a:buNone/>
            </a:pPr>
            <a:r>
              <a:rPr lang="en-US" sz="4200" b="1" baseline="0" dirty="0" smtClean="0">
                <a:solidFill>
                  <a:srgbClr val="4F81BD"/>
                </a:solidFill>
                <a:latin typeface="Cambria"/>
              </a:rPr>
              <a:t>	    	break;</a:t>
            </a:r>
          </a:p>
          <a:p>
            <a:pPr marR="0" lvl="0" rtl="0">
              <a:buNone/>
            </a:pPr>
            <a:r>
              <a:rPr lang="en-US" sz="4200" b="1" baseline="0" dirty="0" smtClean="0">
                <a:solidFill>
                  <a:srgbClr val="4F81BD"/>
                </a:solidFill>
                <a:latin typeface="Cambria"/>
              </a:rPr>
              <a:t>	} </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pPr marR="0" rtl="0"/>
            <a:r>
              <a:rPr lang="en-US" b="1" baseline="0" dirty="0" smtClean="0">
                <a:solidFill>
                  <a:srgbClr val="365F91"/>
                </a:solidFill>
                <a:latin typeface="Cambria"/>
              </a:rPr>
              <a:t>Points to Remember</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304800" y="914400"/>
            <a:ext cx="8458200" cy="5562600"/>
          </a:xfrm>
        </p:spPr>
        <p:txBody>
          <a:bodyPr>
            <a:normAutofit fontScale="92500" lnSpcReduction="10000"/>
          </a:bodyPr>
          <a:lstStyle/>
          <a:p>
            <a:pPr marL="514350" marR="0" lvl="0" indent="-514350" algn="just" rtl="0">
              <a:buFont typeface="+mj-lt"/>
              <a:buAutoNum type="arabicPeriod"/>
            </a:pPr>
            <a:r>
              <a:rPr lang="en-US" b="1" baseline="0" dirty="0" smtClean="0">
                <a:solidFill>
                  <a:srgbClr val="4F81BD"/>
                </a:solidFill>
                <a:latin typeface="Cambria"/>
              </a:rPr>
              <a:t>We don't use those expressions to evaluate switch case, which may return floating point values or strings.</a:t>
            </a:r>
          </a:p>
          <a:p>
            <a:pPr marL="514350" marR="0" lvl="0" indent="-514350" algn="just" rtl="0">
              <a:buFont typeface="+mj-lt"/>
              <a:buAutoNum type="arabicPeriod"/>
            </a:pPr>
            <a:r>
              <a:rPr lang="en-US" b="1" baseline="0" dirty="0" smtClean="0">
                <a:solidFill>
                  <a:srgbClr val="4F81BD"/>
                </a:solidFill>
                <a:latin typeface="Cambria"/>
              </a:rPr>
              <a:t>It isn't necessary to use</a:t>
            </a:r>
            <a:r>
              <a:rPr lang="en-US" b="1" baseline="0" dirty="0" smtClean="0">
                <a:solidFill>
                  <a:srgbClr val="000000"/>
                </a:solidFill>
                <a:latin typeface="Arial"/>
              </a:rPr>
              <a:t> </a:t>
            </a:r>
            <a:r>
              <a:rPr lang="en-US" b="1" baseline="0" dirty="0" smtClean="0">
                <a:solidFill>
                  <a:srgbClr val="4F81BD"/>
                </a:solidFill>
                <a:latin typeface="Cambria"/>
              </a:rPr>
              <a:t>break</a:t>
            </a:r>
            <a:r>
              <a:rPr lang="en-US" b="1" baseline="0" dirty="0" smtClean="0">
                <a:solidFill>
                  <a:srgbClr val="000000"/>
                </a:solidFill>
                <a:latin typeface="Arial"/>
              </a:rPr>
              <a:t> </a:t>
            </a:r>
            <a:r>
              <a:rPr lang="en-US" b="1" baseline="0" dirty="0" smtClean="0">
                <a:solidFill>
                  <a:srgbClr val="4F81BD"/>
                </a:solidFill>
                <a:latin typeface="Cambria"/>
              </a:rPr>
              <a:t>after each block, but if you do not use it, all the consecutive block of codes will get executed after the matching block</a:t>
            </a:r>
          </a:p>
          <a:p>
            <a:pPr marL="514350" lvl="0" indent="-514350" algn="just">
              <a:buFont typeface="+mj-lt"/>
              <a:buAutoNum type="arabicPeriod"/>
            </a:pPr>
            <a:r>
              <a:rPr lang="en-US" b="1" dirty="0" smtClean="0">
                <a:solidFill>
                  <a:srgbClr val="4F81BD"/>
                </a:solidFill>
                <a:latin typeface="Cambria"/>
              </a:rPr>
              <a:t>scope{} can be use with cases. But not necessary .</a:t>
            </a:r>
            <a:endParaRPr lang="en-US" b="1" baseline="0" dirty="0" smtClean="0">
              <a:solidFill>
                <a:srgbClr val="4F81BD"/>
              </a:solidFill>
              <a:latin typeface="Cambria"/>
            </a:endParaRPr>
          </a:p>
          <a:p>
            <a:pPr marL="514350" marR="0" lvl="0" indent="-514350" algn="just" rtl="0">
              <a:buFont typeface="+mj-lt"/>
              <a:buAutoNum type="arabicPeriod"/>
            </a:pPr>
            <a:r>
              <a:rPr lang="en-US" b="1" baseline="0" dirty="0" smtClean="0">
                <a:solidFill>
                  <a:srgbClr val="4F81BD"/>
                </a:solidFill>
                <a:latin typeface="Times New Roman"/>
              </a:rPr>
              <a:t>default case can be placed anywhere in the switch case. Even if we don't include the default case switch statement works.</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pPr marR="0" rtl="0"/>
            <a:r>
              <a:rPr lang="en-US" sz="3600" b="1" baseline="0" dirty="0" smtClean="0">
                <a:solidFill>
                  <a:srgbClr val="0070C0"/>
                </a:solidFill>
                <a:latin typeface="Times New Roman"/>
              </a:rPr>
              <a:t>The goto Statement</a:t>
            </a:r>
          </a:p>
        </p:txBody>
      </p:sp>
      <p:sp>
        <p:nvSpPr>
          <p:cNvPr id="3" name="Text Placeholder 2"/>
          <p:cNvSpPr>
            <a:spLocks noGrp="1"/>
          </p:cNvSpPr>
          <p:nvPr>
            <p:ph type="body" idx="1"/>
          </p:nvPr>
        </p:nvSpPr>
        <p:spPr>
          <a:xfrm>
            <a:off x="228600" y="838200"/>
            <a:ext cx="8686800" cy="5638800"/>
          </a:xfrm>
        </p:spPr>
        <p:txBody>
          <a:bodyPr>
            <a:normAutofit fontScale="92500"/>
          </a:bodyPr>
          <a:lstStyle/>
          <a:p>
            <a:pPr marR="0" lvl="0" algn="just" rtl="0">
              <a:buNone/>
            </a:pPr>
            <a:r>
              <a:rPr lang="en-US" b="1" baseline="0" dirty="0" smtClean="0">
                <a:solidFill>
                  <a:srgbClr val="4F81BD"/>
                </a:solidFill>
                <a:latin typeface="Times New Roman"/>
              </a:rPr>
              <a:t>	</a:t>
            </a:r>
            <a:r>
              <a:rPr lang="en-US" sz="3000" b="1" baseline="0" dirty="0" smtClean="0">
                <a:solidFill>
                  <a:srgbClr val="4F81BD"/>
                </a:solidFill>
                <a:latin typeface="Times New Roman"/>
              </a:rPr>
              <a:t>This statement does not require any condition. This statement passes control anywhere in the program. i.e. control is transferred to another part of the program without testing any condition. </a:t>
            </a:r>
          </a:p>
          <a:p>
            <a:pPr marR="0" lvl="0" rtl="0">
              <a:buNone/>
            </a:pPr>
            <a:r>
              <a:rPr lang="en-US" b="1" baseline="0" dirty="0" smtClean="0">
                <a:solidFill>
                  <a:srgbClr val="4F81BD"/>
                </a:solidFill>
                <a:latin typeface="Times New Roman"/>
              </a:rPr>
              <a:t>		Syntax:</a:t>
            </a:r>
          </a:p>
          <a:p>
            <a:pPr marR="0" lvl="0" rtl="0">
              <a:buNone/>
            </a:pPr>
            <a:r>
              <a:rPr lang="en-US" b="1" baseline="0" dirty="0" smtClean="0">
                <a:solidFill>
                  <a:srgbClr val="4F81BD"/>
                </a:solidFill>
                <a:latin typeface="Times New Roman"/>
              </a:rPr>
              <a:t>			</a:t>
            </a:r>
            <a:r>
              <a:rPr lang="en-US" b="1" baseline="0" dirty="0" err="1" smtClean="0">
                <a:solidFill>
                  <a:srgbClr val="4F81BD"/>
                </a:solidFill>
                <a:latin typeface="Times New Roman"/>
              </a:rPr>
              <a:t>goto</a:t>
            </a:r>
            <a:r>
              <a:rPr lang="en-US" b="1" baseline="0" dirty="0" smtClean="0">
                <a:solidFill>
                  <a:srgbClr val="4F81BD"/>
                </a:solidFill>
                <a:latin typeface="Times New Roman"/>
              </a:rPr>
              <a:t> label ;</a:t>
            </a:r>
          </a:p>
          <a:p>
            <a:pPr marR="0" lvl="0" rtl="0">
              <a:buNone/>
            </a:pPr>
            <a:r>
              <a:rPr lang="en-US" b="1" baseline="0" dirty="0" smtClean="0">
                <a:solidFill>
                  <a:srgbClr val="4F81BD"/>
                </a:solidFill>
                <a:latin typeface="Times New Roman"/>
              </a:rPr>
              <a:t>			label :</a:t>
            </a:r>
          </a:p>
          <a:p>
            <a:pPr marR="0" lvl="0" rtl="0">
              <a:buNone/>
            </a:pPr>
            <a:r>
              <a:rPr lang="en-US" b="1" baseline="0" dirty="0" smtClean="0">
                <a:solidFill>
                  <a:srgbClr val="4F81BD"/>
                </a:solidFill>
                <a:latin typeface="Times New Roman"/>
              </a:rPr>
              <a:t>			statement;</a:t>
            </a:r>
          </a:p>
          <a:p>
            <a:pPr marR="0" lvl="0" rtl="0">
              <a:buNone/>
            </a:pPr>
            <a:r>
              <a:rPr lang="en-US" sz="3000" b="1" baseline="0" dirty="0" smtClean="0">
                <a:solidFill>
                  <a:srgbClr val="4F81BD"/>
                </a:solidFill>
                <a:latin typeface="Times New Roman"/>
              </a:rPr>
              <a:t>	</a:t>
            </a:r>
            <a:r>
              <a:rPr lang="en-US" sz="2600" b="1" baseline="0" dirty="0" smtClean="0">
                <a:solidFill>
                  <a:srgbClr val="4F81BD"/>
                </a:solidFill>
                <a:latin typeface="Times New Roman"/>
              </a:rPr>
              <a:t>Note:</a:t>
            </a:r>
          </a:p>
          <a:p>
            <a:pPr lvl="1">
              <a:buFont typeface="Wingdings" pitchFamily="2" charset="2"/>
              <a:buChar char="Ø"/>
            </a:pPr>
            <a:r>
              <a:rPr lang="en-US" sz="1800" b="1" baseline="0" dirty="0" smtClean="0">
                <a:solidFill>
                  <a:srgbClr val="4F81BD"/>
                </a:solidFill>
                <a:latin typeface="Times New Roman"/>
              </a:rPr>
              <a:t>Where the label name must start with any character.</a:t>
            </a:r>
          </a:p>
          <a:p>
            <a:pPr lvl="1">
              <a:buFont typeface="Wingdings" pitchFamily="2" charset="2"/>
              <a:buChar char="Ø"/>
            </a:pPr>
            <a:r>
              <a:rPr lang="en-US" sz="1800" b="1" baseline="0" dirty="0" smtClean="0">
                <a:solidFill>
                  <a:srgbClr val="4F81BD"/>
                </a:solidFill>
                <a:latin typeface="Times New Roman"/>
              </a:rPr>
              <a:t>Where label is the position where the control is to be </a:t>
            </a:r>
            <a:r>
              <a:rPr lang="en-US" sz="1800" b="1" baseline="0" dirty="0" smtClean="0">
                <a:solidFill>
                  <a:srgbClr val="4F81BD"/>
                </a:solidFill>
                <a:latin typeface="Times New Roman"/>
              </a:rPr>
              <a:t>transferred</a:t>
            </a:r>
          </a:p>
          <a:p>
            <a:pPr lvl="1">
              <a:buFont typeface="Wingdings" pitchFamily="2" charset="2"/>
              <a:buChar char="Ø"/>
            </a:pPr>
            <a:r>
              <a:rPr lang="en-US" sz="1800" b="1" dirty="0" smtClean="0">
                <a:solidFill>
                  <a:srgbClr val="4F81BD"/>
                </a:solidFill>
                <a:latin typeface="Times New Roman"/>
              </a:rPr>
              <a:t>Imp use is to terminate from inner loop as well as outer loop also. </a:t>
            </a:r>
            <a:endParaRPr lang="en-US" sz="1800" b="1" baseline="0" dirty="0" smtClean="0">
              <a:solidFill>
                <a:srgbClr val="4F81BD"/>
              </a:solidFill>
              <a:latin typeface="Times New Roman"/>
            </a:endParaRPr>
          </a:p>
          <a:p>
            <a:pPr marR="0" lvl="0" rtl="0"/>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15400" cy="487362"/>
          </a:xfrm>
        </p:spPr>
        <p:txBody>
          <a:bodyPr>
            <a:noAutofit/>
          </a:bodyPr>
          <a:lstStyle/>
          <a:p>
            <a:pPr marR="0" rtl="0"/>
            <a:r>
              <a:rPr lang="en-US" sz="3200" b="1" baseline="0" dirty="0" smtClean="0">
                <a:solidFill>
                  <a:srgbClr val="365F91"/>
                </a:solidFill>
                <a:latin typeface="Cambria"/>
              </a:rPr>
              <a:t>Differences between break and exit() in C</a:t>
            </a:r>
            <a:endParaRPr lang="en-US" sz="3200" b="1" baseline="0" dirty="0" smtClean="0">
              <a:solidFill>
                <a:srgbClr val="365F91"/>
              </a:solidFill>
              <a:latin typeface="Times New Roman"/>
            </a:endParaRPr>
          </a:p>
        </p:txBody>
      </p:sp>
      <p:sp>
        <p:nvSpPr>
          <p:cNvPr id="3" name="Text Placeholder 2"/>
          <p:cNvSpPr>
            <a:spLocks noGrp="1"/>
          </p:cNvSpPr>
          <p:nvPr>
            <p:ph type="body" idx="1"/>
          </p:nvPr>
        </p:nvSpPr>
        <p:spPr>
          <a:xfrm>
            <a:off x="0" y="990600"/>
            <a:ext cx="8839200" cy="5562600"/>
          </a:xfrm>
        </p:spPr>
        <p:txBody>
          <a:bodyPr>
            <a:normAutofit fontScale="92500"/>
          </a:bodyPr>
          <a:lstStyle/>
          <a:p>
            <a:pPr marR="0" lvl="1" algn="just" rtl="0">
              <a:buFont typeface="Wingdings" pitchFamily="2" charset="2"/>
              <a:buChar char="Ø"/>
            </a:pPr>
            <a:r>
              <a:rPr lang="en-US" b="1" baseline="0" dirty="0" smtClean="0">
                <a:solidFill>
                  <a:srgbClr val="4F81BD"/>
                </a:solidFill>
                <a:latin typeface="Arial"/>
              </a:rPr>
              <a:t>The major difference between </a:t>
            </a:r>
            <a:r>
              <a:rPr lang="en-US" b="1" baseline="0" dirty="0" smtClean="0">
                <a:solidFill>
                  <a:srgbClr val="17365D"/>
                </a:solidFill>
                <a:latin typeface="Arial"/>
              </a:rPr>
              <a:t>break</a:t>
            </a:r>
            <a:r>
              <a:rPr lang="en-US" b="1" baseline="0" dirty="0" smtClean="0">
                <a:solidFill>
                  <a:srgbClr val="4F81BD"/>
                </a:solidFill>
                <a:latin typeface="Arial"/>
              </a:rPr>
              <a:t> and </a:t>
            </a:r>
            <a:r>
              <a:rPr lang="en-US" b="1" baseline="0" dirty="0" smtClean="0">
                <a:solidFill>
                  <a:srgbClr val="17365D"/>
                </a:solidFill>
                <a:latin typeface="Arial"/>
              </a:rPr>
              <a:t>exit()</a:t>
            </a:r>
            <a:r>
              <a:rPr lang="en-US" b="1" baseline="0" dirty="0" smtClean="0">
                <a:solidFill>
                  <a:srgbClr val="FF0000"/>
                </a:solidFill>
                <a:latin typeface="Arial"/>
              </a:rPr>
              <a:t> </a:t>
            </a:r>
            <a:r>
              <a:rPr lang="en-US" b="1" baseline="0" dirty="0" smtClean="0">
                <a:solidFill>
                  <a:srgbClr val="4F81BD"/>
                </a:solidFill>
                <a:latin typeface="Arial"/>
              </a:rPr>
              <a:t>is that </a:t>
            </a:r>
            <a:r>
              <a:rPr lang="en-US" b="1" baseline="0" dirty="0" smtClean="0">
                <a:solidFill>
                  <a:srgbClr val="17365D"/>
                </a:solidFill>
                <a:latin typeface="Arial"/>
              </a:rPr>
              <a:t>break</a:t>
            </a:r>
            <a:r>
              <a:rPr lang="en-US" b="1" baseline="0" dirty="0" smtClean="0">
                <a:solidFill>
                  <a:srgbClr val="4F81BD"/>
                </a:solidFill>
                <a:latin typeface="Arial"/>
              </a:rPr>
              <a:t> is a keyword, which causes an immediate exit from the </a:t>
            </a:r>
            <a:r>
              <a:rPr lang="en-US" b="1" baseline="0" dirty="0" smtClean="0">
                <a:solidFill>
                  <a:srgbClr val="17365D"/>
                </a:solidFill>
                <a:latin typeface="Arial"/>
              </a:rPr>
              <a:t>switch </a:t>
            </a:r>
            <a:r>
              <a:rPr lang="en-US" b="1" baseline="0" dirty="0" smtClean="0">
                <a:solidFill>
                  <a:srgbClr val="4F81BD"/>
                </a:solidFill>
                <a:latin typeface="Arial"/>
              </a:rPr>
              <a:t>or loop (</a:t>
            </a:r>
            <a:r>
              <a:rPr lang="en-US" b="1" baseline="0" dirty="0" smtClean="0">
                <a:solidFill>
                  <a:srgbClr val="17365D"/>
                </a:solidFill>
                <a:latin typeface="Arial"/>
              </a:rPr>
              <a:t>for, while </a:t>
            </a:r>
            <a:r>
              <a:rPr lang="en-US" b="1" baseline="0" dirty="0" smtClean="0">
                <a:solidFill>
                  <a:srgbClr val="4F81BD"/>
                </a:solidFill>
                <a:latin typeface="Arial"/>
              </a:rPr>
              <a:t>or </a:t>
            </a:r>
            <a:r>
              <a:rPr lang="en-US" b="1" baseline="0" dirty="0" smtClean="0">
                <a:solidFill>
                  <a:srgbClr val="17365D"/>
                </a:solidFill>
                <a:latin typeface="Arial"/>
              </a:rPr>
              <a:t>do</a:t>
            </a:r>
            <a:r>
              <a:rPr lang="en-US" b="1" baseline="0" dirty="0" smtClean="0">
                <a:solidFill>
                  <a:srgbClr val="4F81BD"/>
                </a:solidFill>
                <a:latin typeface="Arial"/>
              </a:rPr>
              <a:t>), while </a:t>
            </a:r>
            <a:r>
              <a:rPr lang="en-US" b="1" baseline="0" dirty="0" smtClean="0">
                <a:solidFill>
                  <a:srgbClr val="17365D"/>
                </a:solidFill>
                <a:latin typeface="Arial"/>
              </a:rPr>
              <a:t>exit() </a:t>
            </a:r>
            <a:r>
              <a:rPr lang="en-US" b="1" baseline="0" dirty="0" smtClean="0">
                <a:solidFill>
                  <a:srgbClr val="4F81BD"/>
                </a:solidFill>
                <a:latin typeface="Arial"/>
              </a:rPr>
              <a:t>is a standard library function, which terminates entire program execution when it is called.</a:t>
            </a:r>
          </a:p>
          <a:p>
            <a:pPr marR="0" lvl="1" algn="just" rtl="0">
              <a:buFont typeface="Wingdings" pitchFamily="2" charset="2"/>
              <a:buChar char="Ø"/>
            </a:pPr>
            <a:r>
              <a:rPr lang="en-US" b="1" baseline="0" dirty="0" smtClean="0">
                <a:solidFill>
                  <a:srgbClr val="4F81BD"/>
                </a:solidFill>
                <a:latin typeface="Arial"/>
              </a:rPr>
              <a:t>No header files needs to be included in order to use </a:t>
            </a:r>
            <a:r>
              <a:rPr lang="en-US" b="1" baseline="0" dirty="0" smtClean="0">
                <a:solidFill>
                  <a:srgbClr val="17365D"/>
                </a:solidFill>
                <a:latin typeface="Arial"/>
              </a:rPr>
              <a:t>break</a:t>
            </a:r>
            <a:r>
              <a:rPr lang="en-US" b="1" baseline="0" dirty="0" smtClean="0">
                <a:solidFill>
                  <a:srgbClr val="4F81BD"/>
                </a:solidFill>
                <a:latin typeface="Arial"/>
              </a:rPr>
              <a:t> statement in a C program. </a:t>
            </a:r>
            <a:r>
              <a:rPr lang="en-US" b="1" baseline="0" dirty="0" err="1" smtClean="0">
                <a:solidFill>
                  <a:srgbClr val="17365D"/>
                </a:solidFill>
                <a:latin typeface="Arial"/>
              </a:rPr>
              <a:t>stdlib.h</a:t>
            </a:r>
            <a:r>
              <a:rPr lang="en-US" b="1" baseline="0" dirty="0" smtClean="0">
                <a:solidFill>
                  <a:srgbClr val="17365D"/>
                </a:solidFill>
                <a:latin typeface="Arial"/>
              </a:rPr>
              <a:t> </a:t>
            </a:r>
            <a:r>
              <a:rPr lang="en-US" b="1" baseline="0" dirty="0" smtClean="0">
                <a:solidFill>
                  <a:srgbClr val="4F81BD"/>
                </a:solidFill>
                <a:latin typeface="Arial"/>
              </a:rPr>
              <a:t>needs to be included in order to use </a:t>
            </a:r>
            <a:r>
              <a:rPr lang="en-US" b="1" baseline="0" dirty="0" smtClean="0">
                <a:solidFill>
                  <a:srgbClr val="17365D"/>
                </a:solidFill>
                <a:latin typeface="Arial"/>
              </a:rPr>
              <a:t>exit() </a:t>
            </a:r>
            <a:r>
              <a:rPr lang="en-US" b="1" baseline="0" dirty="0" smtClean="0">
                <a:solidFill>
                  <a:srgbClr val="4F81BD"/>
                </a:solidFill>
                <a:latin typeface="Arial"/>
              </a:rPr>
              <a:t>(Depend on compiler).</a:t>
            </a:r>
          </a:p>
          <a:p>
            <a:pPr marR="0" lvl="1" algn="just" rtl="0">
              <a:buFont typeface="Wingdings" pitchFamily="2" charset="2"/>
              <a:buChar char="Ø"/>
            </a:pPr>
            <a:r>
              <a:rPr lang="en-US" b="1" baseline="0" dirty="0" smtClean="0">
                <a:solidFill>
                  <a:srgbClr val="17365D"/>
                </a:solidFill>
                <a:latin typeface="Arial"/>
              </a:rPr>
              <a:t>break</a:t>
            </a:r>
            <a:r>
              <a:rPr lang="en-US" b="1" baseline="0" dirty="0" smtClean="0">
                <a:solidFill>
                  <a:srgbClr val="333333"/>
                </a:solidFill>
                <a:latin typeface="Arial"/>
              </a:rPr>
              <a:t> </a:t>
            </a:r>
            <a:r>
              <a:rPr lang="en-US" b="1" baseline="0" dirty="0" smtClean="0">
                <a:solidFill>
                  <a:srgbClr val="4F81BD"/>
                </a:solidFill>
                <a:latin typeface="Arial"/>
              </a:rPr>
              <a:t>is a program control statement which is used to alter the flow of control upon a specified conditions.</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Array</a:t>
            </a:r>
          </a:p>
        </p:txBody>
      </p:sp>
      <p:sp>
        <p:nvSpPr>
          <p:cNvPr id="3" name="Text Placeholder 2"/>
          <p:cNvSpPr>
            <a:spLocks noGrp="1"/>
          </p:cNvSpPr>
          <p:nvPr>
            <p:ph type="body" idx="1"/>
          </p:nvPr>
        </p:nvSpPr>
        <p:spPr/>
        <p:txBody>
          <a:bodyPr/>
          <a:lstStyle/>
          <a:p>
            <a:pPr marR="0" lvl="0" algn="just" rtl="0">
              <a:buNone/>
            </a:pPr>
            <a:r>
              <a:rPr lang="en-US" b="1" baseline="0" dirty="0" smtClean="0">
                <a:solidFill>
                  <a:srgbClr val="4F81BD"/>
                </a:solidFill>
                <a:latin typeface="Cambria"/>
              </a:rPr>
              <a:t>	Array is a linear collection of similar elements. Array form an important part of almost all programming language. It provide a </a:t>
            </a:r>
            <a:r>
              <a:rPr lang="en-US" b="1" baseline="0" dirty="0" err="1" smtClean="0">
                <a:solidFill>
                  <a:srgbClr val="4F81BD"/>
                </a:solidFill>
                <a:latin typeface="Cambria"/>
              </a:rPr>
              <a:t>powerfulfeuture</a:t>
            </a:r>
            <a:r>
              <a:rPr lang="en-US" b="1" baseline="0" dirty="0" smtClean="0">
                <a:solidFill>
                  <a:srgbClr val="4F81BD"/>
                </a:solidFill>
                <a:latin typeface="Cambria"/>
              </a:rPr>
              <a:t> and can be used as or can be used to form complex data structures like stacks and queues.</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One Dimensional Array</a:t>
            </a:r>
          </a:p>
        </p:txBody>
      </p:sp>
      <p:sp>
        <p:nvSpPr>
          <p:cNvPr id="3" name="Text Placeholder 2"/>
          <p:cNvSpPr>
            <a:spLocks noGrp="1"/>
          </p:cNvSpPr>
          <p:nvPr>
            <p:ph type="body" idx="1"/>
          </p:nvPr>
        </p:nvSpPr>
        <p:spPr/>
        <p:txBody>
          <a:bodyPr>
            <a:normAutofit/>
          </a:bodyPr>
          <a:lstStyle/>
          <a:p>
            <a:pPr marR="0" lvl="0" algn="just" rtl="0">
              <a:buNone/>
            </a:pPr>
            <a:r>
              <a:rPr lang="en-US" sz="3600" b="1" baseline="0" dirty="0" smtClean="0">
                <a:solidFill>
                  <a:srgbClr val="4F81BD"/>
                </a:solidFill>
                <a:latin typeface="Cambria"/>
              </a:rPr>
              <a:t>	The one Dimensional array or single Dimensional array is the simplest type of array that contains only row for storing data.  It has single set of square bracket[ ].</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Autofit/>
          </a:bodyPr>
          <a:lstStyle/>
          <a:p>
            <a:pPr marR="0" rtl="0"/>
            <a:r>
              <a:rPr lang="en-US" sz="3600" b="1" baseline="0" dirty="0" smtClean="0">
                <a:solidFill>
                  <a:srgbClr val="365F91"/>
                </a:solidFill>
                <a:latin typeface="Cambria"/>
              </a:rPr>
              <a:t>To declare single dimensional array, you can write the following code.</a:t>
            </a:r>
          </a:p>
        </p:txBody>
      </p:sp>
      <p:sp>
        <p:nvSpPr>
          <p:cNvPr id="3" name="Text Placeholder 2"/>
          <p:cNvSpPr>
            <a:spLocks noGrp="1"/>
          </p:cNvSpPr>
          <p:nvPr>
            <p:ph type="body" idx="1"/>
          </p:nvPr>
        </p:nvSpPr>
        <p:spPr/>
        <p:txBody>
          <a:bodyPr>
            <a:normAutofit/>
          </a:bodyPr>
          <a:lstStyle/>
          <a:p>
            <a:pPr marR="0" lvl="0" rtl="0">
              <a:buNone/>
            </a:pPr>
            <a:r>
              <a:rPr lang="en-US" b="1" baseline="0" dirty="0" smtClean="0">
                <a:solidFill>
                  <a:srgbClr val="4F81BD"/>
                </a:solidFill>
                <a:latin typeface="Cambria"/>
              </a:rPr>
              <a:t>	</a:t>
            </a:r>
          </a:p>
          <a:p>
            <a:pPr marR="0" lvl="0" rtl="0">
              <a:buNone/>
            </a:pPr>
            <a:r>
              <a:rPr lang="en-US" b="1" baseline="0" dirty="0" smtClean="0">
                <a:solidFill>
                  <a:srgbClr val="4F81BD"/>
                </a:solidFill>
                <a:latin typeface="Cambria"/>
              </a:rPr>
              <a:t>Example:  </a:t>
            </a:r>
          </a:p>
          <a:p>
            <a:pPr marR="0" lvl="0" rtl="0">
              <a:buFont typeface="Wingdings" pitchFamily="2" charset="2"/>
              <a:buChar char="Ø"/>
            </a:pPr>
            <a:r>
              <a:rPr lang="en-US" b="1" baseline="0" dirty="0" err="1" smtClean="0">
                <a:solidFill>
                  <a:srgbClr val="4F81BD"/>
                </a:solidFill>
                <a:latin typeface="Cambria"/>
              </a:rPr>
              <a:t>int</a:t>
            </a:r>
            <a:r>
              <a:rPr lang="en-US" b="1" baseline="0" dirty="0" smtClean="0">
                <a:solidFill>
                  <a:srgbClr val="4F81BD"/>
                </a:solidFill>
                <a:latin typeface="Cambria"/>
              </a:rPr>
              <a:t>  a [ 5 ] ;</a:t>
            </a:r>
          </a:p>
          <a:p>
            <a:pPr marR="0" lvl="0" rtl="0">
              <a:buFont typeface="Wingdings" pitchFamily="2" charset="2"/>
              <a:buChar char="Ø"/>
            </a:pPr>
            <a:r>
              <a:rPr lang="en-US" b="1" baseline="0" dirty="0" smtClean="0">
                <a:solidFill>
                  <a:srgbClr val="4F81BD"/>
                </a:solidFill>
                <a:latin typeface="Cambria"/>
              </a:rPr>
              <a:t>Where </a:t>
            </a:r>
            <a:r>
              <a:rPr lang="en-US" b="1" baseline="0" dirty="0" err="1" smtClean="0">
                <a:solidFill>
                  <a:srgbClr val="4F81BD"/>
                </a:solidFill>
                <a:latin typeface="Cambria"/>
              </a:rPr>
              <a:t>int</a:t>
            </a:r>
            <a:r>
              <a:rPr lang="en-US" b="1" baseline="0" dirty="0" smtClean="0">
                <a:solidFill>
                  <a:srgbClr val="4F81BD"/>
                </a:solidFill>
                <a:latin typeface="Cambria"/>
              </a:rPr>
              <a:t> is a data type of array.</a:t>
            </a:r>
          </a:p>
          <a:p>
            <a:pPr marR="0" lvl="0" rtl="0">
              <a:buFont typeface="Wingdings" pitchFamily="2" charset="2"/>
              <a:buChar char="Ø"/>
            </a:pPr>
            <a:r>
              <a:rPr lang="en-US" b="1" baseline="0" dirty="0" smtClean="0">
                <a:solidFill>
                  <a:srgbClr val="4F81BD"/>
                </a:solidFill>
                <a:latin typeface="Cambria"/>
              </a:rPr>
              <a:t>‘a ‘ is name of array.</a:t>
            </a:r>
          </a:p>
          <a:p>
            <a:pPr marR="0" lvl="0" rtl="0">
              <a:buFont typeface="Wingdings" pitchFamily="2" charset="2"/>
              <a:buChar char="Ø"/>
            </a:pPr>
            <a:r>
              <a:rPr lang="en-US" b="1" baseline="0" dirty="0" smtClean="0">
                <a:solidFill>
                  <a:srgbClr val="4F81BD"/>
                </a:solidFill>
                <a:latin typeface="Cambria"/>
              </a:rPr>
              <a:t>‘5’ is a number of elements in an array or size of array.</a:t>
            </a:r>
          </a:p>
          <a:p>
            <a:pPr marR="0" lvl="0" rtl="0">
              <a:buNone/>
            </a:pPr>
            <a:endParaRPr lang="en-US" b="1" baseline="0" dirty="0" smtClean="0">
              <a:solidFill>
                <a:srgbClr val="4F81BD"/>
              </a:solidFill>
              <a:latin typeface="Cambria"/>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3886201"/>
            <a:ext cx="8001000" cy="685800"/>
          </a:xfrm>
        </p:spPr>
        <p:txBody>
          <a:bodyPr/>
          <a:lstStyle/>
          <a:p>
            <a:pPr lvl="0">
              <a:buNone/>
            </a:pPr>
            <a:r>
              <a:rPr lang="en-US" b="1" baseline="0" dirty="0" smtClean="0">
                <a:solidFill>
                  <a:srgbClr val="4F81BD"/>
                </a:solidFill>
                <a:latin typeface="Cambria"/>
              </a:rPr>
              <a:t>a [ 0 ]  = 56 ;</a:t>
            </a:r>
          </a:p>
          <a:p>
            <a:endParaRPr lang="en-US" dirty="0"/>
          </a:p>
        </p:txBody>
      </p:sp>
      <p:pic>
        <p:nvPicPr>
          <p:cNvPr id="4" name="Picture 3" descr="C:\Users\mohit\Desktop\array1.gif"/>
          <p:cNvPicPr/>
          <p:nvPr/>
        </p:nvPicPr>
        <p:blipFill>
          <a:blip r:embed="rId2" cstate="print"/>
          <a:srcRect/>
          <a:stretch>
            <a:fillRect/>
          </a:stretch>
        </p:blipFill>
        <p:spPr bwMode="auto">
          <a:xfrm>
            <a:off x="533400" y="990601"/>
            <a:ext cx="8229600" cy="2667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fontScale="90000"/>
          </a:bodyPr>
          <a:lstStyle/>
          <a:p>
            <a:pPr marR="0" rtl="0"/>
            <a:r>
              <a:rPr lang="en-US" b="1" baseline="0" dirty="0" err="1" smtClean="0">
                <a:solidFill>
                  <a:srgbClr val="365F91"/>
                </a:solidFill>
                <a:latin typeface="Cambria"/>
              </a:rPr>
              <a:t>Asssign</a:t>
            </a:r>
            <a:r>
              <a:rPr lang="en-US" b="1" baseline="0" dirty="0" smtClean="0">
                <a:solidFill>
                  <a:srgbClr val="365F91"/>
                </a:solidFill>
                <a:latin typeface="Cambria"/>
              </a:rPr>
              <a:t> statically  value in an one dimensional array :</a:t>
            </a:r>
          </a:p>
        </p:txBody>
      </p:sp>
      <p:sp>
        <p:nvSpPr>
          <p:cNvPr id="3" name="Text Placeholder 2"/>
          <p:cNvSpPr>
            <a:spLocks noGrp="1"/>
          </p:cNvSpPr>
          <p:nvPr>
            <p:ph type="body" idx="1"/>
          </p:nvPr>
        </p:nvSpPr>
        <p:spPr/>
        <p:txBody>
          <a:bodyPr>
            <a:normAutofit fontScale="77500" lnSpcReduction="20000"/>
          </a:bodyPr>
          <a:lstStyle/>
          <a:p>
            <a:pPr lvl="0">
              <a:buNone/>
            </a:pPr>
            <a:r>
              <a:rPr lang="en-US" b="1" baseline="0" dirty="0" smtClean="0">
                <a:solidFill>
                  <a:srgbClr val="4F81BD"/>
                </a:solidFill>
                <a:latin typeface="Cambria"/>
              </a:rPr>
              <a:t>Example:</a:t>
            </a:r>
          </a:p>
          <a:p>
            <a:pPr lvl="0">
              <a:buNone/>
            </a:pPr>
            <a:endParaRPr lang="en-US" b="1" baseline="0" dirty="0" smtClean="0">
              <a:solidFill>
                <a:srgbClr val="4F81BD"/>
              </a:solidFill>
              <a:latin typeface="Cambria"/>
            </a:endParaRPr>
          </a:p>
          <a:p>
            <a:pPr lvl="0"/>
            <a:r>
              <a:rPr lang="en-US" b="1" baseline="0" dirty="0" err="1" smtClean="0">
                <a:solidFill>
                  <a:srgbClr val="4F81BD"/>
                </a:solidFill>
                <a:latin typeface="Cambria"/>
              </a:rPr>
              <a:t>int</a:t>
            </a:r>
            <a:r>
              <a:rPr lang="en-US" b="1" baseline="0" dirty="0" smtClean="0">
                <a:solidFill>
                  <a:srgbClr val="4F81BD"/>
                </a:solidFill>
                <a:latin typeface="Cambria"/>
              </a:rPr>
              <a:t>  a [ 5 ] = { 9, 6 ,8 , 3 , 2 }</a:t>
            </a:r>
          </a:p>
          <a:p>
            <a:pPr lvl="0"/>
            <a:endParaRPr lang="en-US" b="1" baseline="0" dirty="0" smtClean="0">
              <a:solidFill>
                <a:srgbClr val="4F81BD"/>
              </a:solidFill>
              <a:latin typeface="Cambria"/>
            </a:endParaRPr>
          </a:p>
          <a:p>
            <a:pPr lvl="0">
              <a:buNone/>
            </a:pPr>
            <a:r>
              <a:rPr lang="en-US" b="1" dirty="0" smtClean="0">
                <a:solidFill>
                  <a:srgbClr val="4F81BD"/>
                </a:solidFill>
                <a:latin typeface="Cambria"/>
              </a:rPr>
              <a:t>OR</a:t>
            </a:r>
            <a:endParaRPr lang="en-US" b="1" baseline="0" dirty="0" smtClean="0">
              <a:solidFill>
                <a:srgbClr val="4F81BD"/>
              </a:solidFill>
              <a:latin typeface="Cambria"/>
            </a:endParaRPr>
          </a:p>
          <a:p>
            <a:pPr lvl="0"/>
            <a:endParaRPr lang="en-US" b="1" baseline="0" dirty="0" smtClean="0">
              <a:solidFill>
                <a:srgbClr val="4F81BD"/>
              </a:solidFill>
              <a:latin typeface="Cambria"/>
            </a:endParaRPr>
          </a:p>
          <a:p>
            <a:pPr lvl="0"/>
            <a:r>
              <a:rPr lang="en-US" b="1" baseline="0" dirty="0" smtClean="0">
                <a:solidFill>
                  <a:srgbClr val="4F81BD"/>
                </a:solidFill>
                <a:latin typeface="Cambria"/>
              </a:rPr>
              <a:t>a [ 0 ] = 9 ; </a:t>
            </a:r>
          </a:p>
          <a:p>
            <a:pPr lvl="0"/>
            <a:r>
              <a:rPr lang="en-US" b="1" baseline="0" dirty="0" smtClean="0">
                <a:solidFill>
                  <a:srgbClr val="4F81BD"/>
                </a:solidFill>
                <a:latin typeface="Cambria"/>
              </a:rPr>
              <a:t>a [ 1 ] = 6;</a:t>
            </a:r>
          </a:p>
          <a:p>
            <a:pPr lvl="0"/>
            <a:r>
              <a:rPr lang="en-US" b="1" baseline="0" dirty="0" smtClean="0">
                <a:solidFill>
                  <a:srgbClr val="4F81BD"/>
                </a:solidFill>
                <a:latin typeface="Cambria"/>
              </a:rPr>
              <a:t>a [ 2 ] = 8 ;</a:t>
            </a:r>
          </a:p>
          <a:p>
            <a:pPr lvl="0"/>
            <a:r>
              <a:rPr lang="en-US" b="1" baseline="0" dirty="0" smtClean="0">
                <a:solidFill>
                  <a:srgbClr val="4F81BD"/>
                </a:solidFill>
                <a:latin typeface="Cambria"/>
              </a:rPr>
              <a:t>a [ 3 ] = 3 ;</a:t>
            </a:r>
          </a:p>
          <a:p>
            <a:pPr lvl="0"/>
            <a:r>
              <a:rPr lang="en-US" b="1" baseline="0" dirty="0" smtClean="0">
                <a:solidFill>
                  <a:srgbClr val="4F81BD"/>
                </a:solidFill>
                <a:latin typeface="Cambria"/>
              </a:rPr>
              <a:t>a [ 4 ] = 2 ;</a:t>
            </a:r>
          </a:p>
          <a:p>
            <a:pPr>
              <a:buNone/>
            </a:pPr>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R="0" rtl="0"/>
            <a:r>
              <a:rPr lang="en-US" b="1" baseline="0" smtClean="0">
                <a:solidFill>
                  <a:srgbClr val="365F91"/>
                </a:solidFill>
                <a:latin typeface="Cambria"/>
              </a:rPr>
              <a:t>Assign value through user in an one dimensional array</a:t>
            </a:r>
          </a:p>
        </p:txBody>
      </p:sp>
      <p:sp>
        <p:nvSpPr>
          <p:cNvPr id="3" name="Text Placeholder 2"/>
          <p:cNvSpPr>
            <a:spLocks noGrp="1"/>
          </p:cNvSpPr>
          <p:nvPr>
            <p:ph type="body" idx="1"/>
          </p:nvPr>
        </p:nvSpPr>
        <p:spPr/>
        <p:txBody>
          <a:bodyPr>
            <a:normAutofit lnSpcReduction="10000"/>
          </a:bodyPr>
          <a:lstStyle/>
          <a:p>
            <a:pPr marR="0" lvl="0" rtl="0">
              <a:buNone/>
            </a:pPr>
            <a:r>
              <a:rPr lang="en-US" b="1" baseline="0" dirty="0" smtClean="0">
                <a:solidFill>
                  <a:srgbClr val="4F81BD"/>
                </a:solidFill>
                <a:latin typeface="Cambria"/>
              </a:rPr>
              <a:t>	</a:t>
            </a:r>
            <a:r>
              <a:rPr lang="en-US" b="1" baseline="0" dirty="0" err="1" smtClean="0">
                <a:solidFill>
                  <a:srgbClr val="4F81BD"/>
                </a:solidFill>
                <a:latin typeface="Cambria"/>
              </a:rPr>
              <a:t>int</a:t>
            </a:r>
            <a:r>
              <a:rPr lang="en-US" b="1" baseline="0" dirty="0" smtClean="0">
                <a:solidFill>
                  <a:srgbClr val="4F81BD"/>
                </a:solidFill>
                <a:latin typeface="Cambria"/>
              </a:rPr>
              <a:t>  a [ 1 ] ;</a:t>
            </a:r>
          </a:p>
          <a:p>
            <a:pPr marR="0" lvl="0" rtl="0">
              <a:buNone/>
            </a:pPr>
            <a:r>
              <a:rPr lang="en-US" b="1" baseline="0" dirty="0" smtClean="0">
                <a:solidFill>
                  <a:srgbClr val="4F81BD"/>
                </a:solidFill>
                <a:latin typeface="Cambria"/>
              </a:rPr>
              <a:t>	</a:t>
            </a:r>
            <a:r>
              <a:rPr lang="en-US" b="1" baseline="0" dirty="0" err="1" smtClean="0">
                <a:solidFill>
                  <a:srgbClr val="4F81BD"/>
                </a:solidFill>
                <a:latin typeface="Cambria"/>
              </a:rPr>
              <a:t>scanf</a:t>
            </a:r>
            <a:r>
              <a:rPr lang="en-US" b="1" baseline="0" dirty="0" smtClean="0">
                <a:solidFill>
                  <a:srgbClr val="4F81BD"/>
                </a:solidFill>
                <a:latin typeface="Cambria"/>
              </a:rPr>
              <a:t> ( “ %d ”, &amp;a [ 0 ] ) ;</a:t>
            </a:r>
          </a:p>
          <a:p>
            <a:pPr marR="0" lvl="0" rtl="0">
              <a:buNone/>
            </a:pPr>
            <a:endParaRPr lang="en-US" b="1" baseline="0" dirty="0" smtClean="0">
              <a:solidFill>
                <a:srgbClr val="4F81BD"/>
              </a:solidFill>
              <a:latin typeface="Cambria"/>
            </a:endParaRPr>
          </a:p>
          <a:p>
            <a:pPr lvl="0">
              <a:buNone/>
            </a:pPr>
            <a:r>
              <a:rPr lang="en-US" b="1" baseline="0" dirty="0" smtClean="0">
                <a:solidFill>
                  <a:srgbClr val="4F81BD"/>
                </a:solidFill>
                <a:latin typeface="Cambria"/>
              </a:rPr>
              <a:t>Note</a:t>
            </a:r>
            <a:r>
              <a:rPr lang="en-US" b="1" dirty="0" smtClean="0">
                <a:solidFill>
                  <a:srgbClr val="4F81BD"/>
                </a:solidFill>
                <a:latin typeface="Cambria"/>
              </a:rPr>
              <a:t> :</a:t>
            </a:r>
          </a:p>
          <a:p>
            <a:pPr lvl="0" algn="just">
              <a:buFont typeface="Wingdings" pitchFamily="2" charset="2"/>
              <a:buChar char="Ø"/>
            </a:pPr>
            <a:r>
              <a:rPr lang="en-US" sz="2800" b="1" baseline="0" dirty="0" smtClean="0">
                <a:solidFill>
                  <a:srgbClr val="4F81BD"/>
                </a:solidFill>
                <a:latin typeface="Cambria"/>
              </a:rPr>
              <a:t>To storing and accessing the many no. of elements from one dimensional array you need to use loop in program.</a:t>
            </a:r>
          </a:p>
          <a:p>
            <a:pPr lvl="0" algn="just">
              <a:buFont typeface="Wingdings" pitchFamily="2" charset="2"/>
              <a:buChar char="Ø"/>
            </a:pPr>
            <a:r>
              <a:rPr lang="en-US" sz="2800" b="1" baseline="0" dirty="0" smtClean="0">
                <a:solidFill>
                  <a:srgbClr val="4F81BD"/>
                </a:solidFill>
                <a:latin typeface="Cambria"/>
              </a:rPr>
              <a:t>The name of array contains base address of array. Ex : a</a:t>
            </a:r>
          </a:p>
          <a:p>
            <a:pPr marR="0" lvl="0" rtl="0"/>
            <a:endParaRPr lang="en-US" b="1" baseline="0" dirty="0" smtClean="0">
              <a:solidFill>
                <a:srgbClr val="4F81BD"/>
              </a:solidFill>
              <a:latin typeface="Cambria"/>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pPr marR="0" rtl="0"/>
            <a:r>
              <a:rPr lang="en-US" sz="3200" b="1" baseline="0" dirty="0" smtClean="0">
                <a:solidFill>
                  <a:srgbClr val="365F91"/>
                </a:solidFill>
                <a:latin typeface="Cambria"/>
              </a:rPr>
              <a:t>Declaration of Array</a:t>
            </a:r>
          </a:p>
        </p:txBody>
      </p:sp>
      <p:sp>
        <p:nvSpPr>
          <p:cNvPr id="3" name="Text Placeholder 2"/>
          <p:cNvSpPr>
            <a:spLocks noGrp="1"/>
          </p:cNvSpPr>
          <p:nvPr>
            <p:ph type="body" idx="1"/>
          </p:nvPr>
        </p:nvSpPr>
        <p:spPr>
          <a:xfrm>
            <a:off x="0" y="838200"/>
            <a:ext cx="9144000" cy="6019800"/>
          </a:xfrm>
        </p:spPr>
        <p:txBody>
          <a:bodyPr>
            <a:normAutofit fontScale="70000" lnSpcReduction="20000"/>
          </a:bodyPr>
          <a:lstStyle/>
          <a:p>
            <a:pPr marR="0" lvl="0" rtl="0">
              <a:buFont typeface="Wingdings" pitchFamily="2" charset="2"/>
              <a:buChar char="Ø"/>
            </a:pPr>
            <a:r>
              <a:rPr lang="en-US" sz="3400" b="1" baseline="0" dirty="0" err="1" smtClean="0">
                <a:solidFill>
                  <a:srgbClr val="4F81BD"/>
                </a:solidFill>
                <a:latin typeface="Cambria"/>
              </a:rPr>
              <a:t>int</a:t>
            </a:r>
            <a:r>
              <a:rPr lang="en-US" sz="3400" b="1" baseline="0" dirty="0" smtClean="0">
                <a:solidFill>
                  <a:srgbClr val="4F81BD"/>
                </a:solidFill>
                <a:latin typeface="Cambria"/>
              </a:rPr>
              <a:t>  a[  ] ;                                 	</a:t>
            </a:r>
            <a:r>
              <a:rPr lang="en-US" sz="3400" b="1" baseline="0" dirty="0" smtClean="0">
                <a:solidFill>
                  <a:srgbClr val="C00000"/>
                </a:solidFill>
                <a:latin typeface="Cambria"/>
              </a:rPr>
              <a:t>// error</a:t>
            </a:r>
          </a:p>
          <a:p>
            <a:pPr marR="0" lvl="0" rtl="0">
              <a:buFont typeface="Wingdings" pitchFamily="2" charset="2"/>
              <a:buChar char="Ø"/>
            </a:pPr>
            <a:r>
              <a:rPr lang="es-ES" sz="3400" b="1" baseline="0" dirty="0" err="1" smtClean="0">
                <a:solidFill>
                  <a:srgbClr val="4F81BD"/>
                </a:solidFill>
                <a:latin typeface="Cambria"/>
              </a:rPr>
              <a:t>int</a:t>
            </a:r>
            <a:r>
              <a:rPr lang="es-ES" sz="3400" b="1" baseline="0" dirty="0" smtClean="0">
                <a:solidFill>
                  <a:srgbClr val="4F81BD"/>
                </a:solidFill>
                <a:latin typeface="Cambria"/>
              </a:rPr>
              <a:t>  a[ 5 ] ;				</a:t>
            </a:r>
            <a:r>
              <a:rPr lang="es-ES" sz="3400" b="1" baseline="0" dirty="0" smtClean="0">
                <a:solidFill>
                  <a:srgbClr val="C00000"/>
                </a:solidFill>
                <a:latin typeface="Cambria"/>
              </a:rPr>
              <a:t>// no error</a:t>
            </a:r>
          </a:p>
          <a:p>
            <a:pPr marR="0" lvl="0" rtl="0">
              <a:buFont typeface="Wingdings" pitchFamily="2" charset="2"/>
              <a:buChar char="Ø"/>
            </a:pPr>
            <a:r>
              <a:rPr lang="en-US" sz="3400" b="1" baseline="0" dirty="0" err="1" smtClean="0">
                <a:solidFill>
                  <a:srgbClr val="4F81BD"/>
                </a:solidFill>
                <a:latin typeface="Cambria"/>
              </a:rPr>
              <a:t>int</a:t>
            </a:r>
            <a:r>
              <a:rPr lang="en-US" sz="3400" b="1" baseline="0" dirty="0" smtClean="0">
                <a:solidFill>
                  <a:srgbClr val="4F81BD"/>
                </a:solidFill>
                <a:latin typeface="Cambria"/>
              </a:rPr>
              <a:t>  a[ ] = { 9 , 6 , 8 , 0 , 2 }	</a:t>
            </a:r>
            <a:r>
              <a:rPr lang="en-US" sz="3400" b="1" baseline="0" dirty="0" smtClean="0">
                <a:solidFill>
                  <a:srgbClr val="C00000"/>
                </a:solidFill>
                <a:latin typeface="Cambria"/>
              </a:rPr>
              <a:t>// by accessing over index than 					     garbage value will return</a:t>
            </a:r>
          </a:p>
          <a:p>
            <a:pPr marR="0" lvl="0" rtl="0">
              <a:buFont typeface="Wingdings" pitchFamily="2" charset="2"/>
              <a:buChar char="Ø"/>
            </a:pPr>
            <a:r>
              <a:rPr lang="es-ES" sz="3400" b="1" baseline="0" dirty="0" err="1" smtClean="0">
                <a:solidFill>
                  <a:srgbClr val="4F81BD"/>
                </a:solidFill>
                <a:latin typeface="Cambria"/>
              </a:rPr>
              <a:t>int</a:t>
            </a:r>
            <a:r>
              <a:rPr lang="es-ES" sz="3400" b="1" baseline="0" dirty="0" smtClean="0">
                <a:solidFill>
                  <a:srgbClr val="4F81BD"/>
                </a:solidFill>
                <a:latin typeface="Cambria"/>
              </a:rPr>
              <a:t>  a[ 5 ] = { 9 , 6 , 8 , 0 , 2 }	</a:t>
            </a:r>
            <a:r>
              <a:rPr lang="es-ES" sz="3400" b="1" baseline="0" dirty="0" smtClean="0">
                <a:solidFill>
                  <a:srgbClr val="C00000"/>
                </a:solidFill>
                <a:latin typeface="Cambria"/>
              </a:rPr>
              <a:t>// no error</a:t>
            </a:r>
          </a:p>
          <a:p>
            <a:pPr marR="0" lvl="0" rtl="0">
              <a:buFont typeface="Wingdings" pitchFamily="2" charset="2"/>
              <a:buChar char="Ø"/>
            </a:pPr>
            <a:r>
              <a:rPr lang="en-US" sz="3400" b="1" baseline="0" dirty="0" err="1" smtClean="0">
                <a:solidFill>
                  <a:srgbClr val="4F81BD"/>
                </a:solidFill>
                <a:latin typeface="Cambria"/>
              </a:rPr>
              <a:t>int</a:t>
            </a:r>
            <a:r>
              <a:rPr lang="en-US" sz="3400" b="1" baseline="0" dirty="0" smtClean="0">
                <a:solidFill>
                  <a:srgbClr val="4F81BD"/>
                </a:solidFill>
                <a:latin typeface="Cambria"/>
              </a:rPr>
              <a:t>  a[ 5 ] = { 9 , 6 }		</a:t>
            </a:r>
            <a:r>
              <a:rPr lang="en-US" sz="3400" b="1" baseline="0" dirty="0" smtClean="0">
                <a:solidFill>
                  <a:srgbClr val="C00000"/>
                </a:solidFill>
                <a:latin typeface="Cambria"/>
              </a:rPr>
              <a:t>// value 0 assign in remaining </a:t>
            </a:r>
            <a:r>
              <a:rPr lang="en-US" sz="3400" b="1" baseline="0" dirty="0" smtClean="0">
                <a:solidFill>
                  <a:srgbClr val="4F81BD"/>
                </a:solidFill>
                <a:latin typeface="Cambria"/>
              </a:rPr>
              <a:t>block</a:t>
            </a:r>
          </a:p>
          <a:p>
            <a:pPr marR="0" lvl="0" rtl="0">
              <a:buFont typeface="Wingdings" pitchFamily="2" charset="2"/>
              <a:buChar char="Ø"/>
            </a:pPr>
            <a:r>
              <a:rPr lang="en-US" sz="3400" b="1" baseline="0" dirty="0" err="1" smtClean="0">
                <a:solidFill>
                  <a:srgbClr val="4F81BD"/>
                </a:solidFill>
                <a:latin typeface="Cambria"/>
              </a:rPr>
              <a:t>int</a:t>
            </a:r>
            <a:r>
              <a:rPr lang="en-US" sz="3400" b="1" baseline="0" dirty="0" smtClean="0">
                <a:solidFill>
                  <a:srgbClr val="4F81BD"/>
                </a:solidFill>
                <a:latin typeface="Cambria"/>
              </a:rPr>
              <a:t>  a[ 2 ] ;</a:t>
            </a:r>
          </a:p>
          <a:p>
            <a:pPr marR="0" lvl="0" rtl="0">
              <a:buFont typeface="Wingdings" pitchFamily="2" charset="2"/>
              <a:buChar char="Ø"/>
            </a:pPr>
            <a:r>
              <a:rPr lang="en-US" sz="3400" b="1" baseline="0" dirty="0" smtClean="0">
                <a:solidFill>
                  <a:srgbClr val="4F81BD"/>
                </a:solidFill>
                <a:latin typeface="Cambria"/>
              </a:rPr>
              <a:t>a[ 0 ]= 2 ; a[ 1 ]= 4 ; a [ 2 ]= 7 ;	</a:t>
            </a:r>
            <a:r>
              <a:rPr lang="en-US" sz="3400" b="1" baseline="0" dirty="0" smtClean="0">
                <a:solidFill>
                  <a:srgbClr val="C00000"/>
                </a:solidFill>
                <a:latin typeface="Cambria"/>
              </a:rPr>
              <a:t>// No, error, you can also 						</a:t>
            </a:r>
            <a:r>
              <a:rPr lang="en-US" sz="3400" b="1" dirty="0" smtClean="0">
                <a:solidFill>
                  <a:srgbClr val="C00000"/>
                </a:solidFill>
                <a:latin typeface="Cambria"/>
              </a:rPr>
              <a:t>      </a:t>
            </a:r>
            <a:r>
              <a:rPr lang="en-US" sz="3400" b="1" baseline="0" dirty="0" smtClean="0">
                <a:solidFill>
                  <a:srgbClr val="C00000"/>
                </a:solidFill>
                <a:latin typeface="Cambria"/>
              </a:rPr>
              <a:t>access </a:t>
            </a:r>
            <a:r>
              <a:rPr lang="en-US" sz="3400" b="1" dirty="0" smtClean="0">
                <a:solidFill>
                  <a:srgbClr val="C00000"/>
                </a:solidFill>
                <a:latin typeface="Cambria"/>
              </a:rPr>
              <a:t> </a:t>
            </a:r>
            <a:r>
              <a:rPr lang="en-US" sz="3400" b="1" baseline="0" dirty="0" smtClean="0">
                <a:solidFill>
                  <a:srgbClr val="C00000"/>
                </a:solidFill>
                <a:latin typeface="Cambria"/>
              </a:rPr>
              <a:t>extra </a:t>
            </a:r>
            <a:r>
              <a:rPr lang="en-US" sz="3400" b="1" baseline="0" dirty="0" err="1" smtClean="0">
                <a:solidFill>
                  <a:srgbClr val="C00000"/>
                </a:solidFill>
                <a:latin typeface="Cambria"/>
              </a:rPr>
              <a:t>initializer</a:t>
            </a:r>
            <a:r>
              <a:rPr lang="en-US" sz="3400" b="1" baseline="0" dirty="0" smtClean="0">
                <a:solidFill>
                  <a:srgbClr val="C00000"/>
                </a:solidFill>
                <a:latin typeface="Cambria"/>
              </a:rPr>
              <a:t> </a:t>
            </a:r>
          </a:p>
          <a:p>
            <a:pPr marR="0" lvl="0" rtl="0">
              <a:buFont typeface="Wingdings" pitchFamily="2" charset="2"/>
              <a:buChar char="Ø"/>
            </a:pPr>
            <a:r>
              <a:rPr lang="en-US" sz="3400" b="1" baseline="0" dirty="0" err="1" smtClean="0">
                <a:solidFill>
                  <a:srgbClr val="4F81BD"/>
                </a:solidFill>
                <a:latin typeface="Cambria"/>
              </a:rPr>
              <a:t>int</a:t>
            </a:r>
            <a:r>
              <a:rPr lang="en-US" sz="3400" b="1" baseline="0" dirty="0" smtClean="0">
                <a:solidFill>
                  <a:srgbClr val="4F81BD"/>
                </a:solidFill>
                <a:latin typeface="Cambria"/>
              </a:rPr>
              <a:t>  a[ 5 ] ;	</a:t>
            </a:r>
          </a:p>
          <a:p>
            <a:pPr lvl="0">
              <a:buNone/>
            </a:pPr>
            <a:r>
              <a:rPr lang="en-US" sz="3400" b="1" baseline="0" smtClean="0">
                <a:solidFill>
                  <a:srgbClr val="4F81BD"/>
                </a:solidFill>
                <a:latin typeface="Cambria"/>
              </a:rPr>
              <a:t>	a</a:t>
            </a:r>
            <a:r>
              <a:rPr lang="en-US" sz="3400" b="1" baseline="0" dirty="0" smtClean="0">
                <a:solidFill>
                  <a:srgbClr val="4F81BD"/>
                </a:solidFill>
                <a:latin typeface="Cambria"/>
              </a:rPr>
              <a:t>[ 0 ]= 9; 				</a:t>
            </a:r>
            <a:r>
              <a:rPr lang="en-US" sz="3400" b="1" baseline="0" dirty="0" smtClean="0">
                <a:solidFill>
                  <a:srgbClr val="C00000"/>
                </a:solidFill>
                <a:latin typeface="Cambria"/>
              </a:rPr>
              <a:t>// Garbage value assign in     </a:t>
            </a:r>
          </a:p>
          <a:p>
            <a:pPr lvl="0">
              <a:buNone/>
            </a:pPr>
            <a:r>
              <a:rPr lang="en-US" sz="3400" b="1" dirty="0">
                <a:solidFill>
                  <a:srgbClr val="C00000"/>
                </a:solidFill>
                <a:latin typeface="Cambria"/>
              </a:rPr>
              <a:t> </a:t>
            </a:r>
            <a:r>
              <a:rPr lang="en-US" sz="3400" b="1" dirty="0" smtClean="0">
                <a:solidFill>
                  <a:srgbClr val="C00000"/>
                </a:solidFill>
                <a:latin typeface="Cambria"/>
              </a:rPr>
              <a:t>	</a:t>
            </a:r>
            <a:r>
              <a:rPr lang="en-US" sz="2900" b="1" baseline="0" dirty="0" smtClean="0">
                <a:solidFill>
                  <a:srgbClr val="4F81BD"/>
                </a:solidFill>
                <a:latin typeface="Cambria"/>
              </a:rPr>
              <a:t>OR assign value through user 	       </a:t>
            </a:r>
            <a:r>
              <a:rPr lang="en-US" sz="3400" b="1" baseline="0" dirty="0" smtClean="0">
                <a:solidFill>
                  <a:srgbClr val="C00000"/>
                </a:solidFill>
                <a:latin typeface="Cambria"/>
              </a:rPr>
              <a:t>remaining block</a:t>
            </a:r>
          </a:p>
          <a:p>
            <a:pPr marR="0" lvl="0" rtl="0">
              <a:buNone/>
            </a:pPr>
            <a:r>
              <a:rPr lang="en-US" sz="3400" b="1" baseline="0" dirty="0" smtClean="0">
                <a:solidFill>
                  <a:srgbClr val="4F81BD"/>
                </a:solidFill>
                <a:latin typeface="Cambria"/>
              </a:rPr>
              <a:t>		</a:t>
            </a:r>
            <a:r>
              <a:rPr lang="en-US" sz="2900" b="1" baseline="0" dirty="0" smtClean="0">
                <a:solidFill>
                  <a:srgbClr val="4F81BD"/>
                </a:solidFill>
                <a:latin typeface="Cambria"/>
              </a:rPr>
              <a:t>	</a:t>
            </a:r>
          </a:p>
          <a:p>
            <a:pPr marR="0" lvl="0" rtl="0">
              <a:buNone/>
            </a:pPr>
            <a:r>
              <a:rPr lang="en-US" sz="2900" b="1" baseline="0" dirty="0" smtClean="0">
                <a:solidFill>
                  <a:srgbClr val="4F81BD"/>
                </a:solidFill>
                <a:latin typeface="Cambria"/>
              </a:rPr>
              <a:t>	</a:t>
            </a:r>
          </a:p>
          <a:p>
            <a:pPr marR="0" lvl="0" rtl="0">
              <a:buFont typeface="Wingdings" pitchFamily="2" charset="2"/>
              <a:buChar char="Ø"/>
            </a:pPr>
            <a:r>
              <a:rPr lang="en-US" sz="3400" b="1" baseline="0" dirty="0" err="1" smtClean="0">
                <a:solidFill>
                  <a:srgbClr val="4F81BD"/>
                </a:solidFill>
                <a:latin typeface="Cambria"/>
              </a:rPr>
              <a:t>int</a:t>
            </a:r>
            <a:r>
              <a:rPr lang="en-US" sz="3400" b="1" baseline="0" dirty="0" smtClean="0">
                <a:solidFill>
                  <a:srgbClr val="4F81BD"/>
                </a:solidFill>
                <a:latin typeface="Cambria"/>
              </a:rPr>
              <a:t>  a[ 5 - 3] ; </a:t>
            </a:r>
            <a:r>
              <a:rPr lang="en-US" sz="3400" b="1" baseline="0" dirty="0" err="1" smtClean="0">
                <a:solidFill>
                  <a:srgbClr val="4F81BD"/>
                </a:solidFill>
                <a:latin typeface="Cambria"/>
              </a:rPr>
              <a:t>int</a:t>
            </a:r>
            <a:r>
              <a:rPr lang="en-US" sz="3400" b="1" baseline="0" dirty="0" smtClean="0">
                <a:solidFill>
                  <a:srgbClr val="4F81BD"/>
                </a:solidFill>
                <a:latin typeface="Cambria"/>
              </a:rPr>
              <a:t>  a[ 5+1 ] ; </a:t>
            </a:r>
            <a:r>
              <a:rPr lang="en-US" sz="3400" b="1" baseline="0" dirty="0" err="1" smtClean="0">
                <a:solidFill>
                  <a:srgbClr val="4F81BD"/>
                </a:solidFill>
                <a:latin typeface="Cambria"/>
              </a:rPr>
              <a:t>int</a:t>
            </a:r>
            <a:r>
              <a:rPr lang="en-US" sz="3400" b="1" baseline="0" dirty="0" smtClean="0">
                <a:solidFill>
                  <a:srgbClr val="4F81BD"/>
                </a:solidFill>
                <a:latin typeface="Cambria"/>
              </a:rPr>
              <a:t>  a[ 5%3 ] ;	</a:t>
            </a:r>
          </a:p>
          <a:p>
            <a:pPr marR="0" lvl="0" rtl="0">
              <a:buFont typeface="Wingdings" pitchFamily="2" charset="2"/>
              <a:buChar char="Ø"/>
            </a:pPr>
            <a:r>
              <a:rPr lang="en-US" sz="3400" b="1" baseline="0" dirty="0" err="1" smtClean="0">
                <a:solidFill>
                  <a:srgbClr val="4F81BD"/>
                </a:solidFill>
                <a:latin typeface="Cambria"/>
              </a:rPr>
              <a:t>int</a:t>
            </a:r>
            <a:r>
              <a:rPr lang="en-US" sz="3400" b="1" baseline="0" dirty="0" smtClean="0">
                <a:solidFill>
                  <a:srgbClr val="4F81BD"/>
                </a:solidFill>
                <a:latin typeface="Cambria"/>
              </a:rPr>
              <a:t>  a[ 3/2 ] ; </a:t>
            </a:r>
            <a:r>
              <a:rPr lang="en-US" sz="3400" b="1" baseline="0" dirty="0" err="1" smtClean="0">
                <a:solidFill>
                  <a:srgbClr val="4F81BD"/>
                </a:solidFill>
                <a:latin typeface="Cambria"/>
              </a:rPr>
              <a:t>int</a:t>
            </a:r>
            <a:r>
              <a:rPr lang="en-US" sz="3400" b="1" baseline="0" dirty="0" smtClean="0">
                <a:solidFill>
                  <a:srgbClr val="4F81BD"/>
                </a:solidFill>
                <a:latin typeface="Cambria"/>
              </a:rPr>
              <a:t>  a[ 5*2 ] ;</a:t>
            </a:r>
            <a:r>
              <a:rPr lang="en-US" b="1" baseline="0" dirty="0" smtClean="0">
                <a:solidFill>
                  <a:srgbClr val="4F81BD"/>
                </a:solidFill>
                <a:latin typeface="Cambria"/>
              </a:rPr>
              <a:t>		</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Two dimensional Arrays</a:t>
            </a:r>
          </a:p>
        </p:txBody>
      </p:sp>
      <p:sp>
        <p:nvSpPr>
          <p:cNvPr id="3" name="Text Placeholder 2"/>
          <p:cNvSpPr>
            <a:spLocks noGrp="1"/>
          </p:cNvSpPr>
          <p:nvPr>
            <p:ph type="body" idx="1"/>
          </p:nvPr>
        </p:nvSpPr>
        <p:spPr/>
        <p:txBody>
          <a:bodyPr/>
          <a:lstStyle/>
          <a:p>
            <a:pPr marR="0" lvl="0" algn="just" rtl="0">
              <a:buNone/>
            </a:pPr>
            <a:r>
              <a:rPr lang="en-US" b="1" baseline="0" dirty="0" smtClean="0">
                <a:solidFill>
                  <a:srgbClr val="4F81BD"/>
                </a:solidFill>
                <a:latin typeface="Cambria"/>
              </a:rPr>
              <a:t>	C language supports multidimensional arrays. The simplest form of the multidimensional array is the two-dimensional array.</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639762"/>
          </a:xfrm>
        </p:spPr>
        <p:txBody>
          <a:bodyPr>
            <a:noAutofit/>
          </a:bodyPr>
          <a:lstStyle/>
          <a:p>
            <a:pPr marR="0" rtl="0"/>
            <a:r>
              <a:rPr lang="en-US" sz="3200" b="1" baseline="0" dirty="0" smtClean="0">
                <a:solidFill>
                  <a:srgbClr val="365F91"/>
                </a:solidFill>
                <a:latin typeface="Cambria"/>
              </a:rPr>
              <a:t>Two-dimensional array is declared as follows,</a:t>
            </a:r>
          </a:p>
        </p:txBody>
      </p:sp>
      <p:sp>
        <p:nvSpPr>
          <p:cNvPr id="3" name="Text Placeholder 2"/>
          <p:cNvSpPr>
            <a:spLocks noGrp="1"/>
          </p:cNvSpPr>
          <p:nvPr>
            <p:ph type="body" idx="1"/>
          </p:nvPr>
        </p:nvSpPr>
        <p:spPr>
          <a:xfrm>
            <a:off x="457200" y="1066800"/>
            <a:ext cx="8229600" cy="1371599"/>
          </a:xfrm>
        </p:spPr>
        <p:txBody>
          <a:bodyPr>
            <a:normAutofit fontScale="85000" lnSpcReduction="10000"/>
          </a:bodyPr>
          <a:lstStyle/>
          <a:p>
            <a:pPr marR="0" lvl="0" rtl="0">
              <a:buFont typeface="Wingdings" pitchFamily="2" charset="2"/>
              <a:buChar char="Ø"/>
            </a:pPr>
            <a:r>
              <a:rPr lang="en-US" b="1" baseline="0" dirty="0" smtClean="0">
                <a:solidFill>
                  <a:srgbClr val="4F81BD"/>
                </a:solidFill>
                <a:latin typeface="Cambria"/>
              </a:rPr>
              <a:t>type array-name[row-size][column-size] </a:t>
            </a:r>
          </a:p>
          <a:p>
            <a:pPr marR="0" lvl="0" rtl="0">
              <a:buFont typeface="Wingdings" pitchFamily="2" charset="2"/>
              <a:buChar char="Ø"/>
            </a:pPr>
            <a:r>
              <a:rPr lang="en-US" b="1" baseline="0" dirty="0" smtClean="0">
                <a:solidFill>
                  <a:srgbClr val="4F81BD"/>
                </a:solidFill>
                <a:latin typeface="Cambria"/>
              </a:rPr>
              <a:t>Example : </a:t>
            </a:r>
          </a:p>
          <a:p>
            <a:pPr marR="0" lvl="0" rtl="0">
              <a:buFont typeface="Wingdings" pitchFamily="2" charset="2"/>
              <a:buChar char="Ø"/>
            </a:pPr>
            <a:r>
              <a:rPr lang="en-US" b="1" baseline="0" dirty="0" err="1" smtClean="0">
                <a:solidFill>
                  <a:srgbClr val="4F81BD"/>
                </a:solidFill>
                <a:latin typeface="Cambria"/>
              </a:rPr>
              <a:t>int</a:t>
            </a:r>
            <a:r>
              <a:rPr lang="en-US" b="1" baseline="0" dirty="0" smtClean="0">
                <a:solidFill>
                  <a:srgbClr val="4F81BD"/>
                </a:solidFill>
                <a:latin typeface="Cambria"/>
              </a:rPr>
              <a:t> a[3][4];</a:t>
            </a:r>
          </a:p>
        </p:txBody>
      </p:sp>
      <p:pic>
        <p:nvPicPr>
          <p:cNvPr id="4" name="Picture 3" descr="two dimensional array in c"/>
          <p:cNvPicPr/>
          <p:nvPr/>
        </p:nvPicPr>
        <p:blipFill>
          <a:blip r:embed="rId2" cstate="print"/>
          <a:srcRect/>
          <a:stretch>
            <a:fillRect/>
          </a:stretch>
        </p:blipFill>
        <p:spPr bwMode="auto">
          <a:xfrm>
            <a:off x="381000" y="2438400"/>
            <a:ext cx="8763000" cy="441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R="0" rtl="0"/>
            <a:r>
              <a:rPr lang="en-US" b="1" baseline="0" dirty="0" err="1" smtClean="0">
                <a:solidFill>
                  <a:srgbClr val="365F91"/>
                </a:solidFill>
                <a:latin typeface="Cambria"/>
              </a:rPr>
              <a:t>Asssign</a:t>
            </a:r>
            <a:r>
              <a:rPr lang="en-US" b="1" baseline="0" dirty="0" smtClean="0">
                <a:solidFill>
                  <a:srgbClr val="365F91"/>
                </a:solidFill>
                <a:latin typeface="Cambria"/>
              </a:rPr>
              <a:t> statically  value in </a:t>
            </a:r>
            <a:br>
              <a:rPr lang="en-US" b="1" baseline="0" dirty="0" smtClean="0">
                <a:solidFill>
                  <a:srgbClr val="365F91"/>
                </a:solidFill>
                <a:latin typeface="Cambria"/>
              </a:rPr>
            </a:br>
            <a:r>
              <a:rPr lang="en-US" b="1" dirty="0" smtClean="0">
                <a:solidFill>
                  <a:srgbClr val="365F91"/>
                </a:solidFill>
                <a:latin typeface="Cambria"/>
              </a:rPr>
              <a:t>Two </a:t>
            </a:r>
            <a:r>
              <a:rPr lang="en-US" b="1" dirty="0">
                <a:solidFill>
                  <a:srgbClr val="365F91"/>
                </a:solidFill>
                <a:latin typeface="Cambria"/>
              </a:rPr>
              <a:t>D</a:t>
            </a:r>
            <a:r>
              <a:rPr lang="en-US" b="1" dirty="0" smtClean="0">
                <a:solidFill>
                  <a:srgbClr val="365F91"/>
                </a:solidFill>
                <a:latin typeface="Cambria"/>
              </a:rPr>
              <a:t>imensional</a:t>
            </a:r>
            <a:r>
              <a:rPr lang="en-US" b="1" baseline="0" dirty="0" smtClean="0">
                <a:solidFill>
                  <a:srgbClr val="365F91"/>
                </a:solidFill>
                <a:latin typeface="Cambria"/>
              </a:rPr>
              <a:t> </a:t>
            </a:r>
            <a:r>
              <a:rPr lang="en-US" b="1" dirty="0" smtClean="0">
                <a:solidFill>
                  <a:srgbClr val="365F91"/>
                </a:solidFill>
                <a:latin typeface="Cambria"/>
              </a:rPr>
              <a:t>A</a:t>
            </a:r>
            <a:r>
              <a:rPr lang="en-US" b="1" baseline="0" dirty="0" smtClean="0">
                <a:solidFill>
                  <a:srgbClr val="365F91"/>
                </a:solidFill>
                <a:latin typeface="Cambria"/>
              </a:rPr>
              <a:t>rray :</a:t>
            </a:r>
          </a:p>
        </p:txBody>
      </p:sp>
      <p:sp>
        <p:nvSpPr>
          <p:cNvPr id="3" name="Text Placeholder 2"/>
          <p:cNvSpPr>
            <a:spLocks noGrp="1"/>
          </p:cNvSpPr>
          <p:nvPr>
            <p:ph type="body" idx="1"/>
          </p:nvPr>
        </p:nvSpPr>
        <p:spPr>
          <a:xfrm>
            <a:off x="457200" y="2667000"/>
            <a:ext cx="8229600" cy="3459163"/>
          </a:xfrm>
        </p:spPr>
        <p:txBody>
          <a:bodyPr/>
          <a:lstStyle/>
          <a:p>
            <a:pPr marR="0" lvl="0" rtl="0">
              <a:buNone/>
            </a:pPr>
            <a:r>
              <a:rPr lang="en-US" b="1" baseline="0" dirty="0" err="1" smtClean="0">
                <a:solidFill>
                  <a:srgbClr val="4F81BD"/>
                </a:solidFill>
                <a:latin typeface="Cambria"/>
              </a:rPr>
              <a:t>int</a:t>
            </a:r>
            <a:r>
              <a:rPr lang="en-US" b="1" baseline="0" dirty="0" smtClean="0">
                <a:solidFill>
                  <a:srgbClr val="4F81BD"/>
                </a:solidFill>
                <a:latin typeface="Cambria"/>
              </a:rPr>
              <a:t> </a:t>
            </a:r>
            <a:r>
              <a:rPr lang="en-US" b="1" baseline="0" dirty="0" err="1" smtClean="0">
                <a:solidFill>
                  <a:srgbClr val="4F81BD"/>
                </a:solidFill>
                <a:latin typeface="Cambria"/>
              </a:rPr>
              <a:t>arr</a:t>
            </a:r>
            <a:r>
              <a:rPr lang="en-US" b="1" baseline="0" dirty="0" smtClean="0">
                <a:solidFill>
                  <a:srgbClr val="4F81BD"/>
                </a:solidFill>
                <a:latin typeface="Cambria"/>
              </a:rPr>
              <a:t>[2][3] = { {0,0,0} , {1,1,1} }; </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R="0" rtl="0"/>
            <a:r>
              <a:rPr lang="en-US" b="1" baseline="0" smtClean="0">
                <a:solidFill>
                  <a:srgbClr val="365F91"/>
                </a:solidFill>
                <a:latin typeface="Cambria"/>
              </a:rPr>
              <a:t>Assign value through user in an array</a:t>
            </a:r>
          </a:p>
        </p:txBody>
      </p:sp>
      <p:sp>
        <p:nvSpPr>
          <p:cNvPr id="3" name="Text Placeholder 2"/>
          <p:cNvSpPr>
            <a:spLocks noGrp="1"/>
          </p:cNvSpPr>
          <p:nvPr>
            <p:ph type="body" idx="1"/>
          </p:nvPr>
        </p:nvSpPr>
        <p:spPr/>
        <p:txBody>
          <a:bodyPr>
            <a:normAutofit fontScale="85000" lnSpcReduction="20000"/>
          </a:bodyPr>
          <a:lstStyle/>
          <a:p>
            <a:pPr marR="0" lvl="0" rtl="0">
              <a:buNone/>
            </a:pPr>
            <a:r>
              <a:rPr lang="en-US" b="1" baseline="0" dirty="0" err="1" smtClean="0">
                <a:solidFill>
                  <a:srgbClr val="4F81BD"/>
                </a:solidFill>
                <a:latin typeface="Cambria"/>
              </a:rPr>
              <a:t>int</a:t>
            </a:r>
            <a:r>
              <a:rPr lang="en-US" b="1" baseline="0" dirty="0" smtClean="0">
                <a:solidFill>
                  <a:srgbClr val="4F81BD"/>
                </a:solidFill>
                <a:latin typeface="Cambria"/>
              </a:rPr>
              <a:t> </a:t>
            </a:r>
            <a:r>
              <a:rPr lang="en-US" b="1" baseline="0" dirty="0" err="1" smtClean="0">
                <a:solidFill>
                  <a:srgbClr val="4F81BD"/>
                </a:solidFill>
                <a:latin typeface="Cambria"/>
              </a:rPr>
              <a:t>arr</a:t>
            </a:r>
            <a:r>
              <a:rPr lang="en-US" b="1" baseline="0" dirty="0" smtClean="0">
                <a:solidFill>
                  <a:srgbClr val="4F81BD"/>
                </a:solidFill>
                <a:latin typeface="Cambria"/>
              </a:rPr>
              <a:t>[3][4];</a:t>
            </a:r>
          </a:p>
          <a:p>
            <a:pPr marR="0" lvl="0" rtl="0">
              <a:buNone/>
            </a:pPr>
            <a:r>
              <a:rPr lang="en-US" b="1" baseline="0" dirty="0" err="1" smtClean="0">
                <a:solidFill>
                  <a:srgbClr val="4F81BD"/>
                </a:solidFill>
                <a:latin typeface="Cambria"/>
              </a:rPr>
              <a:t>int</a:t>
            </a:r>
            <a:r>
              <a:rPr lang="en-US" b="1" baseline="0" dirty="0" smtClean="0">
                <a:solidFill>
                  <a:srgbClr val="4F81BD"/>
                </a:solidFill>
                <a:latin typeface="Cambria"/>
              </a:rPr>
              <a:t> </a:t>
            </a:r>
            <a:r>
              <a:rPr lang="en-US" b="1" baseline="0" dirty="0" err="1" smtClean="0">
                <a:solidFill>
                  <a:srgbClr val="4F81BD"/>
                </a:solidFill>
                <a:latin typeface="Cambria"/>
              </a:rPr>
              <a:t>i,j,k</a:t>
            </a:r>
            <a:r>
              <a:rPr lang="en-US" b="1" baseline="0" dirty="0" smtClean="0">
                <a:solidFill>
                  <a:srgbClr val="4F81BD"/>
                </a:solidFill>
                <a:latin typeface="Cambria"/>
              </a:rPr>
              <a:t>;</a:t>
            </a:r>
          </a:p>
          <a:p>
            <a:pPr marR="0" lvl="0" rtl="0">
              <a:buNone/>
            </a:pPr>
            <a:r>
              <a:rPr lang="en-US" b="1" dirty="0">
                <a:solidFill>
                  <a:srgbClr val="4F81BD"/>
                </a:solidFill>
                <a:latin typeface="Cambria"/>
              </a:rPr>
              <a:t>	</a:t>
            </a:r>
            <a:r>
              <a:rPr lang="en-US" b="1" baseline="0" dirty="0" err="1" smtClean="0">
                <a:solidFill>
                  <a:srgbClr val="4F81BD"/>
                </a:solidFill>
                <a:latin typeface="Cambria"/>
              </a:rPr>
              <a:t>printf</a:t>
            </a:r>
            <a:r>
              <a:rPr lang="en-US" b="1" baseline="0" dirty="0" smtClean="0">
                <a:solidFill>
                  <a:srgbClr val="4F81BD"/>
                </a:solidFill>
                <a:latin typeface="Cambria"/>
              </a:rPr>
              <a:t>("Enter array element");</a:t>
            </a:r>
          </a:p>
          <a:p>
            <a:pPr marR="0" lvl="0" rtl="0">
              <a:buNone/>
            </a:pPr>
            <a:r>
              <a:rPr lang="en-US" b="1" dirty="0">
                <a:solidFill>
                  <a:srgbClr val="4F81BD"/>
                </a:solidFill>
                <a:latin typeface="Cambria"/>
              </a:rPr>
              <a:t>	</a:t>
            </a:r>
            <a:r>
              <a:rPr lang="en-US" b="1" baseline="0" dirty="0" smtClean="0">
                <a:solidFill>
                  <a:srgbClr val="4F81BD"/>
                </a:solidFill>
                <a:latin typeface="Cambria"/>
              </a:rPr>
              <a:t>for(</a:t>
            </a:r>
            <a:r>
              <a:rPr lang="en-US" b="1" baseline="0" dirty="0" err="1" smtClean="0">
                <a:solidFill>
                  <a:srgbClr val="4F81BD"/>
                </a:solidFill>
                <a:latin typeface="Cambria"/>
              </a:rPr>
              <a:t>i</a:t>
            </a:r>
            <a:r>
              <a:rPr lang="en-US" b="1" baseline="0" dirty="0" smtClean="0">
                <a:solidFill>
                  <a:srgbClr val="4F81BD"/>
                </a:solidFill>
                <a:latin typeface="Cambria"/>
              </a:rPr>
              <a:t>=0;i&lt;3;i++)</a:t>
            </a:r>
          </a:p>
          <a:p>
            <a:pPr marR="0" lvl="0" rtl="0">
              <a:buNone/>
            </a:pPr>
            <a:r>
              <a:rPr lang="en-US" b="1" dirty="0">
                <a:solidFill>
                  <a:srgbClr val="4F81BD"/>
                </a:solidFill>
                <a:latin typeface="Cambria"/>
              </a:rPr>
              <a:t>	</a:t>
            </a:r>
            <a:r>
              <a:rPr lang="en-US" b="1" dirty="0" smtClean="0">
                <a:solidFill>
                  <a:srgbClr val="4F81BD"/>
                </a:solidFill>
                <a:latin typeface="Cambria"/>
              </a:rPr>
              <a:t>	</a:t>
            </a:r>
            <a:r>
              <a:rPr lang="en-US" b="1" baseline="0" dirty="0" smtClean="0">
                <a:solidFill>
                  <a:srgbClr val="4F81BD"/>
                </a:solidFill>
                <a:latin typeface="Cambria"/>
              </a:rPr>
              <a:t>{</a:t>
            </a:r>
          </a:p>
          <a:p>
            <a:pPr marR="0" lvl="0" rtl="0">
              <a:buNone/>
            </a:pPr>
            <a:r>
              <a:rPr lang="en-US" b="1" dirty="0">
                <a:solidFill>
                  <a:srgbClr val="4F81BD"/>
                </a:solidFill>
                <a:latin typeface="Cambria"/>
              </a:rPr>
              <a:t>	</a:t>
            </a:r>
            <a:r>
              <a:rPr lang="en-US" b="1" dirty="0" smtClean="0">
                <a:solidFill>
                  <a:srgbClr val="4F81BD"/>
                </a:solidFill>
                <a:latin typeface="Cambria"/>
              </a:rPr>
              <a:t>		</a:t>
            </a:r>
            <a:r>
              <a:rPr lang="en-US" b="1" baseline="0" dirty="0" smtClean="0">
                <a:solidFill>
                  <a:srgbClr val="4F81BD"/>
                </a:solidFill>
                <a:latin typeface="Cambria"/>
              </a:rPr>
              <a:t>for(j=0; j &lt; 4; j++)</a:t>
            </a:r>
          </a:p>
          <a:p>
            <a:pPr marR="0" lvl="0" rtl="0">
              <a:buNone/>
            </a:pPr>
            <a:r>
              <a:rPr lang="en-US" b="1" dirty="0">
                <a:solidFill>
                  <a:srgbClr val="4F81BD"/>
                </a:solidFill>
                <a:latin typeface="Cambria"/>
              </a:rPr>
              <a:t>	</a:t>
            </a:r>
            <a:r>
              <a:rPr lang="en-US" b="1" dirty="0" smtClean="0">
                <a:solidFill>
                  <a:srgbClr val="4F81BD"/>
                </a:solidFill>
                <a:latin typeface="Cambria"/>
              </a:rPr>
              <a:t>		</a:t>
            </a:r>
            <a:r>
              <a:rPr lang="en-US" b="1" baseline="0" dirty="0" smtClean="0">
                <a:solidFill>
                  <a:srgbClr val="4F81BD"/>
                </a:solidFill>
                <a:latin typeface="Cambria"/>
              </a:rPr>
              <a:t>{</a:t>
            </a:r>
          </a:p>
          <a:p>
            <a:pPr marR="0" lvl="0" rtl="0">
              <a:buNone/>
            </a:pPr>
            <a:r>
              <a:rPr lang="en-US" b="1" dirty="0">
                <a:solidFill>
                  <a:srgbClr val="4F81BD"/>
                </a:solidFill>
                <a:latin typeface="Cambria"/>
              </a:rPr>
              <a:t>	</a:t>
            </a:r>
            <a:r>
              <a:rPr lang="en-US" b="1" dirty="0" smtClean="0">
                <a:solidFill>
                  <a:srgbClr val="4F81BD"/>
                </a:solidFill>
                <a:latin typeface="Cambria"/>
              </a:rPr>
              <a:t>		</a:t>
            </a:r>
            <a:r>
              <a:rPr lang="en-US" b="1" baseline="0" dirty="0" err="1" smtClean="0">
                <a:solidFill>
                  <a:srgbClr val="4F81BD"/>
                </a:solidFill>
                <a:latin typeface="Cambria"/>
              </a:rPr>
              <a:t>scanf</a:t>
            </a:r>
            <a:r>
              <a:rPr lang="en-US" b="1" baseline="0" dirty="0" smtClean="0">
                <a:solidFill>
                  <a:srgbClr val="4F81BD"/>
                </a:solidFill>
                <a:latin typeface="Cambria"/>
              </a:rPr>
              <a:t>("%</a:t>
            </a:r>
            <a:r>
              <a:rPr lang="en-US" b="1" baseline="0" dirty="0" err="1" smtClean="0">
                <a:solidFill>
                  <a:srgbClr val="4F81BD"/>
                </a:solidFill>
                <a:latin typeface="Cambria"/>
              </a:rPr>
              <a:t>d",&amp;arr</a:t>
            </a:r>
            <a:r>
              <a:rPr lang="en-US" b="1" baseline="0" dirty="0" smtClean="0">
                <a:solidFill>
                  <a:srgbClr val="4F81BD"/>
                </a:solidFill>
                <a:latin typeface="Cambria"/>
              </a:rPr>
              <a:t>[</a:t>
            </a:r>
            <a:r>
              <a:rPr lang="en-US" b="1" baseline="0" dirty="0" err="1" smtClean="0">
                <a:solidFill>
                  <a:srgbClr val="4F81BD"/>
                </a:solidFill>
                <a:latin typeface="Cambria"/>
              </a:rPr>
              <a:t>i</a:t>
            </a:r>
            <a:r>
              <a:rPr lang="en-US" b="1" baseline="0" dirty="0" smtClean="0">
                <a:solidFill>
                  <a:srgbClr val="4F81BD"/>
                </a:solidFill>
                <a:latin typeface="Cambria"/>
              </a:rPr>
              <a:t>][j]);</a:t>
            </a:r>
          </a:p>
          <a:p>
            <a:pPr marR="0" lvl="0" rtl="0">
              <a:buNone/>
            </a:pPr>
            <a:r>
              <a:rPr lang="en-US" b="1" dirty="0">
                <a:solidFill>
                  <a:srgbClr val="4F81BD"/>
                </a:solidFill>
                <a:latin typeface="Cambria"/>
              </a:rPr>
              <a:t>	</a:t>
            </a:r>
            <a:r>
              <a:rPr lang="en-US" b="1" dirty="0" smtClean="0">
                <a:solidFill>
                  <a:srgbClr val="4F81BD"/>
                </a:solidFill>
                <a:latin typeface="Cambria"/>
              </a:rPr>
              <a:t>		</a:t>
            </a:r>
            <a:r>
              <a:rPr lang="en-US" b="1" baseline="0" dirty="0" smtClean="0">
                <a:solidFill>
                  <a:srgbClr val="4F81BD"/>
                </a:solidFill>
                <a:latin typeface="Cambria"/>
              </a:rPr>
              <a:t>}</a:t>
            </a:r>
          </a:p>
          <a:p>
            <a:pPr marR="0" lvl="0" rtl="0">
              <a:buNone/>
            </a:pPr>
            <a:r>
              <a:rPr lang="en-US" b="1" dirty="0">
                <a:solidFill>
                  <a:srgbClr val="4F81BD"/>
                </a:solidFill>
                <a:latin typeface="Cambria"/>
              </a:rPr>
              <a:t>	</a:t>
            </a:r>
            <a:r>
              <a:rPr lang="en-US" b="1" dirty="0" smtClean="0">
                <a:solidFill>
                  <a:srgbClr val="4F81BD"/>
                </a:solidFill>
                <a:latin typeface="Cambria"/>
              </a:rPr>
              <a:t>	</a:t>
            </a:r>
            <a:r>
              <a:rPr lang="en-US" b="1" baseline="0" dirty="0" smtClean="0">
                <a:solidFill>
                  <a:srgbClr val="4F81BD"/>
                </a:solidFill>
                <a:latin typeface="Cambria"/>
              </a:rPr>
              <a:t>}</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pPr marR="0" rtl="0"/>
            <a:r>
              <a:rPr lang="en-US" sz="3600" b="1" baseline="0" dirty="0" smtClean="0">
                <a:solidFill>
                  <a:srgbClr val="365F91"/>
                </a:solidFill>
                <a:latin typeface="Cambria"/>
              </a:rPr>
              <a:t>String</a:t>
            </a:r>
          </a:p>
        </p:txBody>
      </p:sp>
      <p:sp>
        <p:nvSpPr>
          <p:cNvPr id="3" name="Text Placeholder 2"/>
          <p:cNvSpPr>
            <a:spLocks noGrp="1"/>
          </p:cNvSpPr>
          <p:nvPr>
            <p:ph type="body" idx="1"/>
          </p:nvPr>
        </p:nvSpPr>
        <p:spPr>
          <a:xfrm>
            <a:off x="228600" y="914400"/>
            <a:ext cx="8915400" cy="5715000"/>
          </a:xfrm>
        </p:spPr>
        <p:txBody>
          <a:bodyPr>
            <a:normAutofit fontScale="70000" lnSpcReduction="20000"/>
          </a:bodyPr>
          <a:lstStyle/>
          <a:p>
            <a:pPr marR="0" lvl="0" rtl="0">
              <a:buNone/>
            </a:pPr>
            <a:r>
              <a:rPr lang="en-US" b="1" baseline="0" dirty="0" smtClean="0">
                <a:solidFill>
                  <a:srgbClr val="4F81BD"/>
                </a:solidFill>
                <a:latin typeface="Cambria"/>
              </a:rPr>
              <a:t>Sequence of character terminated at null character(space allow)</a:t>
            </a:r>
          </a:p>
          <a:p>
            <a:pPr marR="0" lvl="0" rtl="0">
              <a:buNone/>
            </a:pPr>
            <a:r>
              <a:rPr lang="en-US" b="1" baseline="0" dirty="0" smtClean="0">
                <a:solidFill>
                  <a:srgbClr val="4F81BD"/>
                </a:solidFill>
                <a:latin typeface="Cambria"/>
              </a:rPr>
              <a:t>ASCII code of null character is 0 (zero)</a:t>
            </a:r>
          </a:p>
          <a:p>
            <a:pPr marR="0" lvl="0" rtl="0">
              <a:buNone/>
            </a:pPr>
            <a:r>
              <a:rPr lang="en-US" b="1" baseline="0" dirty="0" smtClean="0">
                <a:solidFill>
                  <a:srgbClr val="4F81BD"/>
                </a:solidFill>
                <a:latin typeface="Cambria"/>
              </a:rPr>
              <a:t>Example: </a:t>
            </a:r>
          </a:p>
          <a:p>
            <a:pPr lvl="1">
              <a:buNone/>
            </a:pPr>
            <a:r>
              <a:rPr lang="en-US" b="1" baseline="0" dirty="0" smtClean="0">
                <a:solidFill>
                  <a:srgbClr val="4F81BD"/>
                </a:solidFill>
                <a:latin typeface="Cambria"/>
              </a:rPr>
              <a:t>void main()</a:t>
            </a:r>
          </a:p>
          <a:p>
            <a:pPr marR="0" lvl="1" rtl="0">
              <a:buNone/>
            </a:pPr>
            <a:r>
              <a:rPr lang="en-US" b="1" baseline="0" dirty="0" smtClean="0">
                <a:solidFill>
                  <a:srgbClr val="4F81BD"/>
                </a:solidFill>
                <a:latin typeface="Cambria"/>
              </a:rPr>
              <a:t>{</a:t>
            </a:r>
          </a:p>
          <a:p>
            <a:pPr marR="0" lvl="1" rtl="0">
              <a:buNone/>
            </a:pPr>
            <a:r>
              <a:rPr lang="pt-BR" b="1" baseline="0" dirty="0" smtClean="0">
                <a:solidFill>
                  <a:srgbClr val="4F81BD"/>
                </a:solidFill>
                <a:latin typeface="Cambria"/>
              </a:rPr>
              <a:t>char  s[10]={ ‘M’ , ’O’ , ’H’ , ’I’ , ’T’ , ’ \0 ’ } ;  </a:t>
            </a:r>
          </a:p>
          <a:p>
            <a:pPr marR="0" lvl="1" rtl="0">
              <a:buNone/>
            </a:pPr>
            <a:r>
              <a:rPr lang="pt-BR" b="1" baseline="0" dirty="0" smtClean="0">
                <a:solidFill>
                  <a:srgbClr val="00B050"/>
                </a:solidFill>
                <a:latin typeface="Cambria"/>
              </a:rPr>
              <a:t>Or char  s[10]={ “MOHIT”} ;</a:t>
            </a:r>
          </a:p>
          <a:p>
            <a:pPr marR="0" lvl="1" rtl="0">
              <a:buNone/>
            </a:pPr>
            <a:r>
              <a:rPr lang="en-US" b="1" baseline="0" dirty="0" err="1" smtClean="0">
                <a:solidFill>
                  <a:srgbClr val="4F81BD"/>
                </a:solidFill>
                <a:latin typeface="Cambria"/>
              </a:rPr>
              <a:t>int</a:t>
            </a:r>
            <a:r>
              <a:rPr lang="en-US" b="1" baseline="0" dirty="0" smtClean="0">
                <a:solidFill>
                  <a:srgbClr val="4F81BD"/>
                </a:solidFill>
                <a:latin typeface="Cambria"/>
              </a:rPr>
              <a:t> </a:t>
            </a:r>
            <a:r>
              <a:rPr lang="en-US" b="1" baseline="0" dirty="0" err="1" smtClean="0">
                <a:solidFill>
                  <a:srgbClr val="4F81BD"/>
                </a:solidFill>
                <a:latin typeface="Cambria"/>
              </a:rPr>
              <a:t>i</a:t>
            </a:r>
            <a:r>
              <a:rPr lang="en-US" b="1" baseline="0" dirty="0" smtClean="0">
                <a:solidFill>
                  <a:srgbClr val="4F81BD"/>
                </a:solidFill>
                <a:latin typeface="Cambria"/>
              </a:rPr>
              <a:t> ;</a:t>
            </a:r>
          </a:p>
          <a:p>
            <a:pPr marR="0" lvl="1" rtl="0">
              <a:buNone/>
            </a:pPr>
            <a:endParaRPr lang="en-US" b="1" baseline="0" dirty="0" smtClean="0">
              <a:solidFill>
                <a:srgbClr val="4F81BD"/>
              </a:solidFill>
              <a:latin typeface="Cambria"/>
            </a:endParaRPr>
          </a:p>
          <a:p>
            <a:pPr marR="0" lvl="1" rtl="0">
              <a:buNone/>
            </a:pPr>
            <a:r>
              <a:rPr lang="nn-NO" b="1" baseline="0" dirty="0" smtClean="0">
                <a:solidFill>
                  <a:srgbClr val="4F81BD"/>
                </a:solidFill>
                <a:latin typeface="Cambria"/>
              </a:rPr>
              <a:t>for ( i=0 ; i &lt;= 5 ; i++)</a:t>
            </a:r>
          </a:p>
          <a:p>
            <a:pPr marR="0" lvl="1" rtl="0">
              <a:buNone/>
            </a:pPr>
            <a:r>
              <a:rPr lang="en-US" b="1" baseline="0" dirty="0" err="1" smtClean="0">
                <a:solidFill>
                  <a:srgbClr val="4F81BD"/>
                </a:solidFill>
                <a:latin typeface="Cambria"/>
              </a:rPr>
              <a:t>printf</a:t>
            </a:r>
            <a:r>
              <a:rPr lang="en-US" b="1" baseline="0" dirty="0" smtClean="0">
                <a:solidFill>
                  <a:srgbClr val="4F81BD"/>
                </a:solidFill>
                <a:latin typeface="Cambria"/>
              </a:rPr>
              <a:t> ( “ %c ”,  s [ </a:t>
            </a:r>
            <a:r>
              <a:rPr lang="en-US" b="1" baseline="0" dirty="0" err="1" smtClean="0">
                <a:solidFill>
                  <a:srgbClr val="4F81BD"/>
                </a:solidFill>
                <a:latin typeface="Cambria"/>
              </a:rPr>
              <a:t>i</a:t>
            </a:r>
            <a:r>
              <a:rPr lang="en-US" b="1" baseline="0" dirty="0" smtClean="0">
                <a:solidFill>
                  <a:srgbClr val="4F81BD"/>
                </a:solidFill>
                <a:latin typeface="Cambria"/>
              </a:rPr>
              <a:t> ]  ) ; </a:t>
            </a:r>
          </a:p>
          <a:p>
            <a:pPr marR="0" lvl="1" rtl="0">
              <a:buNone/>
            </a:pPr>
            <a:r>
              <a:rPr lang="en-US" b="1" baseline="0" dirty="0" err="1" smtClean="0">
                <a:solidFill>
                  <a:srgbClr val="4F81BD"/>
                </a:solidFill>
                <a:latin typeface="Cambria"/>
              </a:rPr>
              <a:t>getch</a:t>
            </a:r>
            <a:r>
              <a:rPr lang="en-US" b="1" baseline="0" dirty="0" smtClean="0">
                <a:solidFill>
                  <a:srgbClr val="4F81BD"/>
                </a:solidFill>
                <a:latin typeface="Cambria"/>
              </a:rPr>
              <a:t> ( ) ;</a:t>
            </a:r>
          </a:p>
          <a:p>
            <a:pPr marR="0" lvl="1" rtl="0">
              <a:buNone/>
            </a:pPr>
            <a:r>
              <a:rPr lang="en-US" b="1" baseline="0" dirty="0" smtClean="0">
                <a:solidFill>
                  <a:srgbClr val="4F81BD"/>
                </a:solidFill>
                <a:latin typeface="Cambria"/>
              </a:rPr>
              <a:t>}</a:t>
            </a:r>
          </a:p>
          <a:p>
            <a:pPr lvl="1">
              <a:buNone/>
            </a:pPr>
            <a:endParaRPr lang="en-US" b="1" i="1" baseline="0" dirty="0" smtClean="0">
              <a:solidFill>
                <a:srgbClr val="4F81BD"/>
              </a:solidFill>
              <a:latin typeface="Cambria"/>
            </a:endParaRPr>
          </a:p>
          <a:p>
            <a:pPr lvl="1">
              <a:buNone/>
            </a:pPr>
            <a:r>
              <a:rPr lang="en-US" b="1" i="1" baseline="0" dirty="0" smtClean="0">
                <a:solidFill>
                  <a:srgbClr val="4F81BD"/>
                </a:solidFill>
                <a:latin typeface="Cambria"/>
              </a:rPr>
              <a:t>Note:  </a:t>
            </a:r>
          </a:p>
          <a:p>
            <a:pPr lvl="1">
              <a:buNone/>
            </a:pPr>
            <a:r>
              <a:rPr lang="en-US" b="1" i="1" baseline="0" dirty="0" smtClean="0">
                <a:solidFill>
                  <a:srgbClr val="4F81BD"/>
                </a:solidFill>
                <a:latin typeface="Cambria"/>
              </a:rPr>
              <a:t>Null character doesn’t print on output screen. </a:t>
            </a:r>
          </a:p>
          <a:p>
            <a:pPr lvl="1">
              <a:buNone/>
            </a:pPr>
            <a:r>
              <a:rPr lang="en-US" b="1" i="1" baseline="0" dirty="0" smtClean="0">
                <a:solidFill>
                  <a:srgbClr val="4F81BD"/>
                </a:solidFill>
                <a:latin typeface="Cambria"/>
              </a:rPr>
              <a:t>Null character is not a printable symbol.</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pPr marR="0" rtl="0"/>
            <a:r>
              <a:rPr lang="en-US" b="1" baseline="0" dirty="0" smtClean="0">
                <a:solidFill>
                  <a:srgbClr val="365F91"/>
                </a:solidFill>
                <a:latin typeface="Cambria"/>
              </a:rPr>
              <a:t>Print String with loop</a:t>
            </a:r>
          </a:p>
        </p:txBody>
      </p:sp>
      <p:sp>
        <p:nvSpPr>
          <p:cNvPr id="3" name="Text Placeholder 2"/>
          <p:cNvSpPr>
            <a:spLocks noGrp="1"/>
          </p:cNvSpPr>
          <p:nvPr>
            <p:ph type="body" idx="1"/>
          </p:nvPr>
        </p:nvSpPr>
        <p:spPr>
          <a:xfrm>
            <a:off x="0" y="1600200"/>
            <a:ext cx="9144000" cy="4525963"/>
          </a:xfrm>
        </p:spPr>
        <p:txBody>
          <a:bodyPr>
            <a:normAutofit/>
          </a:bodyPr>
          <a:lstStyle/>
          <a:p>
            <a:pPr marR="0" lvl="1" rtl="0">
              <a:buNone/>
            </a:pPr>
            <a:r>
              <a:rPr lang="en-US" b="1" baseline="0" dirty="0" smtClean="0">
                <a:solidFill>
                  <a:srgbClr val="4F81BD"/>
                </a:solidFill>
                <a:latin typeface="Cambria"/>
              </a:rPr>
              <a:t>void main ( )</a:t>
            </a:r>
          </a:p>
          <a:p>
            <a:pPr marR="0" lvl="1" rtl="0">
              <a:buNone/>
            </a:pPr>
            <a:r>
              <a:rPr lang="en-US" b="1" baseline="0" dirty="0" smtClean="0">
                <a:solidFill>
                  <a:srgbClr val="4F81BD"/>
                </a:solidFill>
                <a:latin typeface="Cambria"/>
              </a:rPr>
              <a:t>{</a:t>
            </a:r>
          </a:p>
          <a:p>
            <a:pPr marR="0" lvl="1" rtl="0">
              <a:buNone/>
            </a:pPr>
            <a:r>
              <a:rPr lang="pt-BR" b="1" baseline="0" dirty="0" smtClean="0">
                <a:solidFill>
                  <a:srgbClr val="4F81BD"/>
                </a:solidFill>
                <a:latin typeface="Cambria"/>
              </a:rPr>
              <a:t>char s[ 10 ] = { ‘S’ , ‘T’ , U‘’ , D‘’ , E‘’ , ‘N’  , ‘T’, ‘S’ , ‘\0’} ;</a:t>
            </a:r>
          </a:p>
          <a:p>
            <a:pPr marR="0" lvl="1" rtl="0">
              <a:buNone/>
            </a:pPr>
            <a:r>
              <a:rPr lang="en-US" b="1" baseline="0" dirty="0" err="1" smtClean="0">
                <a:solidFill>
                  <a:srgbClr val="4F81BD"/>
                </a:solidFill>
                <a:latin typeface="Cambria"/>
              </a:rPr>
              <a:t>int</a:t>
            </a:r>
            <a:r>
              <a:rPr lang="en-US" b="1" baseline="0" dirty="0" smtClean="0">
                <a:solidFill>
                  <a:srgbClr val="4F81BD"/>
                </a:solidFill>
                <a:latin typeface="Cambria"/>
              </a:rPr>
              <a:t>  </a:t>
            </a:r>
            <a:r>
              <a:rPr lang="en-US" b="1" baseline="0" dirty="0" err="1" smtClean="0">
                <a:solidFill>
                  <a:srgbClr val="4F81BD"/>
                </a:solidFill>
                <a:latin typeface="Cambria"/>
              </a:rPr>
              <a:t>i</a:t>
            </a:r>
            <a:r>
              <a:rPr lang="en-US" b="1" baseline="0" dirty="0" smtClean="0">
                <a:solidFill>
                  <a:srgbClr val="4F81BD"/>
                </a:solidFill>
                <a:latin typeface="Cambria"/>
              </a:rPr>
              <a:t> ;</a:t>
            </a:r>
          </a:p>
          <a:p>
            <a:pPr marR="0" lvl="1" rtl="0">
              <a:buNone/>
            </a:pPr>
            <a:r>
              <a:rPr lang="nn-NO" b="1" baseline="0" dirty="0" smtClean="0">
                <a:solidFill>
                  <a:srgbClr val="4F81BD"/>
                </a:solidFill>
                <a:latin typeface="Cambria"/>
              </a:rPr>
              <a:t>for ( i=0 ; s[ i ]!= ‘\0’ ; i++)</a:t>
            </a:r>
          </a:p>
          <a:p>
            <a:pPr marR="0" lvl="1" rtl="0">
              <a:buNone/>
            </a:pPr>
            <a:r>
              <a:rPr lang="en-US" b="1" baseline="0" dirty="0" err="1" smtClean="0">
                <a:solidFill>
                  <a:srgbClr val="4F81BD"/>
                </a:solidFill>
                <a:latin typeface="Cambria"/>
              </a:rPr>
              <a:t>printf</a:t>
            </a:r>
            <a:r>
              <a:rPr lang="en-US" b="1" baseline="0" dirty="0" smtClean="0">
                <a:solidFill>
                  <a:srgbClr val="4F81BD"/>
                </a:solidFill>
                <a:latin typeface="Cambria"/>
              </a:rPr>
              <a:t> ( “%c” , s[ </a:t>
            </a:r>
            <a:r>
              <a:rPr lang="en-US" b="1" baseline="0" dirty="0" err="1" smtClean="0">
                <a:solidFill>
                  <a:srgbClr val="4F81BD"/>
                </a:solidFill>
                <a:latin typeface="Cambria"/>
              </a:rPr>
              <a:t>i</a:t>
            </a:r>
            <a:r>
              <a:rPr lang="en-US" b="1" baseline="0" dirty="0" smtClean="0">
                <a:solidFill>
                  <a:srgbClr val="4F81BD"/>
                </a:solidFill>
                <a:latin typeface="Cambria"/>
              </a:rPr>
              <a:t> ] ) ;</a:t>
            </a:r>
          </a:p>
          <a:p>
            <a:pPr marR="0" lvl="1" rtl="0">
              <a:buNone/>
            </a:pPr>
            <a:r>
              <a:rPr lang="en-US" b="1" baseline="0" dirty="0" err="1" smtClean="0">
                <a:solidFill>
                  <a:srgbClr val="4F81BD"/>
                </a:solidFill>
                <a:latin typeface="Cambria"/>
              </a:rPr>
              <a:t>getch</a:t>
            </a:r>
            <a:r>
              <a:rPr lang="en-US" b="1" baseline="0" dirty="0" smtClean="0">
                <a:solidFill>
                  <a:srgbClr val="4F81BD"/>
                </a:solidFill>
                <a:latin typeface="Cambria"/>
              </a:rPr>
              <a:t> () ;</a:t>
            </a:r>
          </a:p>
          <a:p>
            <a:pPr marR="0" lvl="1" rtl="0">
              <a:buNone/>
            </a:pPr>
            <a:r>
              <a:rPr lang="en-US" b="1" baseline="0" dirty="0" smtClean="0">
                <a:solidFill>
                  <a:srgbClr val="4F81BD"/>
                </a:solidFill>
                <a:latin typeface="Cambria"/>
              </a:rPr>
              <a:t>}</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pPr marR="0" rtl="0"/>
            <a:r>
              <a:rPr lang="en-US" sz="3600" b="1" baseline="0" dirty="0" smtClean="0">
                <a:solidFill>
                  <a:srgbClr val="365F91"/>
                </a:solidFill>
                <a:latin typeface="Cambria"/>
              </a:rPr>
              <a:t>Print String without loop</a:t>
            </a:r>
          </a:p>
        </p:txBody>
      </p:sp>
      <p:sp>
        <p:nvSpPr>
          <p:cNvPr id="3" name="Text Placeholder 2"/>
          <p:cNvSpPr>
            <a:spLocks noGrp="1"/>
          </p:cNvSpPr>
          <p:nvPr>
            <p:ph type="body" idx="1"/>
          </p:nvPr>
        </p:nvSpPr>
        <p:spPr>
          <a:xfrm>
            <a:off x="0" y="838200"/>
            <a:ext cx="9144000" cy="6019800"/>
          </a:xfrm>
        </p:spPr>
        <p:txBody>
          <a:bodyPr>
            <a:normAutofit lnSpcReduction="10000"/>
          </a:bodyPr>
          <a:lstStyle/>
          <a:p>
            <a:pPr marR="0" lvl="1" rtl="0">
              <a:buNone/>
            </a:pPr>
            <a:r>
              <a:rPr lang="en-US" b="1" baseline="0" dirty="0" smtClean="0">
                <a:solidFill>
                  <a:srgbClr val="4F81BD"/>
                </a:solidFill>
                <a:latin typeface="Cambria"/>
              </a:rPr>
              <a:t>void main()</a:t>
            </a:r>
          </a:p>
          <a:p>
            <a:pPr marR="0" lvl="1" rtl="0">
              <a:buNone/>
            </a:pPr>
            <a:r>
              <a:rPr lang="en-US" b="1" baseline="0" dirty="0" smtClean="0">
                <a:solidFill>
                  <a:srgbClr val="4F81BD"/>
                </a:solidFill>
                <a:latin typeface="Cambria"/>
              </a:rPr>
              <a:t>{</a:t>
            </a:r>
          </a:p>
          <a:p>
            <a:pPr marR="0" lvl="1" rtl="0">
              <a:buNone/>
            </a:pPr>
            <a:r>
              <a:rPr lang="pt-BR" b="1" baseline="0" dirty="0" smtClean="0">
                <a:solidFill>
                  <a:srgbClr val="4F81BD"/>
                </a:solidFill>
                <a:latin typeface="Cambria"/>
              </a:rPr>
              <a:t>char s[ 10 ] = { ‘S’ , ‘T’ , U‘’ , D‘’ , E‘’ , ‘N’  , ‘T’, ‘S’ , ‘\0’} ;</a:t>
            </a:r>
          </a:p>
          <a:p>
            <a:pPr marR="0" lvl="1" rtl="0">
              <a:buNone/>
            </a:pPr>
            <a:r>
              <a:rPr lang="en-US" b="1" baseline="0" dirty="0" err="1" smtClean="0">
                <a:solidFill>
                  <a:srgbClr val="4F81BD"/>
                </a:solidFill>
                <a:latin typeface="Cambria"/>
              </a:rPr>
              <a:t>printf</a:t>
            </a:r>
            <a:r>
              <a:rPr lang="en-US" b="1" baseline="0" dirty="0" smtClean="0">
                <a:solidFill>
                  <a:srgbClr val="4F81BD"/>
                </a:solidFill>
                <a:latin typeface="Cambria"/>
              </a:rPr>
              <a:t>( “%s” , s ) ;  </a:t>
            </a:r>
          </a:p>
          <a:p>
            <a:pPr marR="0" lvl="1" rtl="0">
              <a:buNone/>
            </a:pPr>
            <a:r>
              <a:rPr lang="en-US" b="1" baseline="0" dirty="0" smtClean="0">
                <a:solidFill>
                  <a:schemeClr val="accent2">
                    <a:lumMod val="50000"/>
                  </a:schemeClr>
                </a:solidFill>
                <a:latin typeface="Cambria"/>
              </a:rPr>
              <a:t>// Or </a:t>
            </a:r>
            <a:r>
              <a:rPr lang="en-US" b="1" baseline="0" dirty="0" smtClean="0">
                <a:solidFill>
                  <a:srgbClr val="FF0000"/>
                </a:solidFill>
                <a:latin typeface="Cambria"/>
              </a:rPr>
              <a:t>puts(s); </a:t>
            </a:r>
            <a:r>
              <a:rPr lang="en-US" b="1" baseline="0" dirty="0" smtClean="0">
                <a:solidFill>
                  <a:schemeClr val="accent2">
                    <a:lumMod val="50000"/>
                  </a:schemeClr>
                </a:solidFill>
                <a:latin typeface="Cambria"/>
              </a:rPr>
              <a:t>accept space , newline , tab etc. </a:t>
            </a:r>
          </a:p>
          <a:p>
            <a:pPr marR="0" lvl="1" rtl="0">
              <a:buNone/>
            </a:pPr>
            <a:r>
              <a:rPr lang="en-US" b="1" baseline="0" dirty="0" smtClean="0">
                <a:solidFill>
                  <a:srgbClr val="4F81BD"/>
                </a:solidFill>
                <a:latin typeface="Cambria"/>
              </a:rPr>
              <a:t>}</a:t>
            </a:r>
          </a:p>
          <a:p>
            <a:pPr marR="0" lvl="1" rtl="0">
              <a:buNone/>
            </a:pPr>
            <a:endParaRPr lang="en-US" b="1" baseline="0" dirty="0" smtClean="0">
              <a:solidFill>
                <a:srgbClr val="4F81BD"/>
              </a:solidFill>
              <a:latin typeface="Cambria"/>
            </a:endParaRPr>
          </a:p>
          <a:p>
            <a:pPr marR="0" lvl="1" algn="just" rtl="0">
              <a:buNone/>
            </a:pPr>
            <a:endParaRPr lang="en-US" sz="2400" b="1" i="1" baseline="0" dirty="0" smtClean="0">
              <a:solidFill>
                <a:srgbClr val="4F81BD"/>
              </a:solidFill>
              <a:latin typeface="Cambria"/>
            </a:endParaRPr>
          </a:p>
          <a:p>
            <a:pPr marR="0" lvl="1" algn="just" rtl="0">
              <a:buNone/>
            </a:pPr>
            <a:endParaRPr lang="en-US" sz="2400" b="1" i="1" dirty="0" smtClean="0">
              <a:solidFill>
                <a:srgbClr val="4F81BD"/>
              </a:solidFill>
              <a:latin typeface="Cambria"/>
            </a:endParaRPr>
          </a:p>
          <a:p>
            <a:pPr marR="0" lvl="1" algn="just" rtl="0">
              <a:buNone/>
            </a:pPr>
            <a:r>
              <a:rPr lang="en-US" sz="2400" b="1" i="1" baseline="0" dirty="0" smtClean="0">
                <a:solidFill>
                  <a:srgbClr val="4F81BD"/>
                </a:solidFill>
                <a:latin typeface="Cambria"/>
              </a:rPr>
              <a:t>Note: </a:t>
            </a:r>
          </a:p>
          <a:p>
            <a:pPr marR="0" lvl="1" algn="just" rtl="0">
              <a:buNone/>
            </a:pPr>
            <a:r>
              <a:rPr lang="en-US" sz="2400" b="1" i="1" baseline="0" dirty="0" smtClean="0">
                <a:solidFill>
                  <a:srgbClr val="4F81BD"/>
                </a:solidFill>
                <a:latin typeface="Cambria"/>
              </a:rPr>
              <a:t>	we can also specify the precision with character string,</a:t>
            </a:r>
            <a:r>
              <a:rPr lang="en-US" sz="2400" b="1" i="1" dirty="0" smtClean="0">
                <a:solidFill>
                  <a:srgbClr val="4F81BD"/>
                </a:solidFill>
                <a:latin typeface="Cambria"/>
              </a:rPr>
              <a:t> </a:t>
            </a:r>
            <a:r>
              <a:rPr lang="en-US" sz="2400" b="1" i="1" baseline="0" dirty="0" smtClean="0">
                <a:solidFill>
                  <a:srgbClr val="4F81BD"/>
                </a:solidFill>
                <a:latin typeface="Cambria"/>
              </a:rPr>
              <a:t>which is to be displayed. The precision is (no. of character to be displayed ) provide after decimal point).</a:t>
            </a:r>
          </a:p>
          <a:p>
            <a:pPr marR="0" lvl="1" algn="just" rtl="0">
              <a:buNone/>
            </a:pPr>
            <a:r>
              <a:rPr lang="en-US" sz="2400" b="1" i="1" dirty="0">
                <a:solidFill>
                  <a:srgbClr val="4F81BD"/>
                </a:solidFill>
                <a:latin typeface="Cambria"/>
              </a:rPr>
              <a:t>	</a:t>
            </a:r>
            <a:r>
              <a:rPr lang="en-US" sz="2400" b="1" i="1" baseline="0" dirty="0" err="1" smtClean="0">
                <a:solidFill>
                  <a:srgbClr val="4F81BD"/>
                </a:solidFill>
                <a:latin typeface="Cambria"/>
              </a:rPr>
              <a:t>e.g</a:t>
            </a:r>
            <a:r>
              <a:rPr lang="en-US" sz="2400" b="1" i="1" baseline="0" dirty="0" smtClean="0">
                <a:solidFill>
                  <a:srgbClr val="4F81BD"/>
                </a:solidFill>
                <a:latin typeface="Cambria"/>
              </a:rPr>
              <a:t> : </a:t>
            </a:r>
            <a:r>
              <a:rPr lang="en-US" sz="2400" b="1" i="1" baseline="0" dirty="0" err="1" smtClean="0">
                <a:solidFill>
                  <a:srgbClr val="4F81BD"/>
                </a:solidFill>
                <a:latin typeface="Cambria"/>
              </a:rPr>
              <a:t>printf</a:t>
            </a:r>
            <a:r>
              <a:rPr lang="en-US" sz="2400" b="1" i="1" baseline="0" dirty="0" smtClean="0">
                <a:solidFill>
                  <a:srgbClr val="4F81BD"/>
                </a:solidFill>
                <a:latin typeface="Cambria"/>
              </a:rPr>
              <a:t> ( “ %.5s”,s);     // O/P : STUDE</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fontScale="90000"/>
          </a:bodyPr>
          <a:lstStyle/>
          <a:p>
            <a:pPr marR="0" rtl="0"/>
            <a:r>
              <a:rPr lang="en-US" b="1" baseline="0" dirty="0" smtClean="0">
                <a:solidFill>
                  <a:srgbClr val="365F91"/>
                </a:solidFill>
                <a:latin typeface="Cambria"/>
              </a:rPr>
              <a:t>Input string through user</a:t>
            </a:r>
          </a:p>
        </p:txBody>
      </p:sp>
      <p:sp>
        <p:nvSpPr>
          <p:cNvPr id="3" name="Text Placeholder 2"/>
          <p:cNvSpPr>
            <a:spLocks noGrp="1"/>
          </p:cNvSpPr>
          <p:nvPr>
            <p:ph type="body" idx="1"/>
          </p:nvPr>
        </p:nvSpPr>
        <p:spPr>
          <a:xfrm>
            <a:off x="228600" y="838200"/>
            <a:ext cx="8915400" cy="5791200"/>
          </a:xfrm>
        </p:spPr>
        <p:txBody>
          <a:bodyPr>
            <a:normAutofit/>
          </a:bodyPr>
          <a:lstStyle/>
          <a:p>
            <a:pPr marR="0" lvl="0" algn="ctr" rtl="0">
              <a:buNone/>
            </a:pPr>
            <a:r>
              <a:rPr lang="en-US" b="1" baseline="0" dirty="0" smtClean="0">
                <a:solidFill>
                  <a:srgbClr val="4F81BD"/>
                </a:solidFill>
                <a:latin typeface="Cambria"/>
              </a:rPr>
              <a:t>Print String without loop</a:t>
            </a:r>
          </a:p>
          <a:p>
            <a:pPr marR="0" lvl="0" rtl="0">
              <a:buNone/>
            </a:pPr>
            <a:r>
              <a:rPr lang="en-US" sz="2800" b="1" baseline="0" dirty="0" smtClean="0">
                <a:solidFill>
                  <a:srgbClr val="4F81BD"/>
                </a:solidFill>
                <a:latin typeface="Cambria"/>
              </a:rPr>
              <a:t>void main()</a:t>
            </a:r>
          </a:p>
          <a:p>
            <a:pPr marR="0" lvl="0" rtl="0">
              <a:buNone/>
            </a:pPr>
            <a:r>
              <a:rPr lang="en-US" sz="2800" b="1" baseline="0" dirty="0" smtClean="0">
                <a:solidFill>
                  <a:srgbClr val="4F81BD"/>
                </a:solidFill>
                <a:latin typeface="Cambria"/>
              </a:rPr>
              <a:t>{</a:t>
            </a:r>
            <a:endParaRPr lang="en-US" sz="2800" b="1" dirty="0">
              <a:solidFill>
                <a:srgbClr val="4F81BD"/>
              </a:solidFill>
              <a:latin typeface="Cambria"/>
            </a:endParaRPr>
          </a:p>
          <a:p>
            <a:pPr marR="0" lvl="0" rtl="0">
              <a:buNone/>
            </a:pPr>
            <a:r>
              <a:rPr lang="en-US" sz="2400" b="1" baseline="0" dirty="0" smtClean="0">
                <a:solidFill>
                  <a:srgbClr val="4F81BD"/>
                </a:solidFill>
                <a:latin typeface="Cambria"/>
              </a:rPr>
              <a:t>char s[ 20 ]  ;</a:t>
            </a:r>
          </a:p>
          <a:p>
            <a:pPr marR="0" lvl="0" rtl="0">
              <a:buNone/>
            </a:pPr>
            <a:endParaRPr lang="en-US" sz="2400" b="1" baseline="0" dirty="0" smtClean="0">
              <a:solidFill>
                <a:srgbClr val="4F81BD"/>
              </a:solidFill>
              <a:latin typeface="Cambria"/>
            </a:endParaRPr>
          </a:p>
          <a:p>
            <a:pPr marR="0" lvl="0" rtl="0">
              <a:buNone/>
            </a:pPr>
            <a:r>
              <a:rPr lang="en-US" sz="2400" b="1" baseline="0" dirty="0" err="1" smtClean="0">
                <a:solidFill>
                  <a:srgbClr val="4F81BD"/>
                </a:solidFill>
                <a:latin typeface="Cambria"/>
              </a:rPr>
              <a:t>int</a:t>
            </a:r>
            <a:r>
              <a:rPr lang="en-US" sz="2400" b="1" baseline="0" dirty="0" smtClean="0">
                <a:solidFill>
                  <a:srgbClr val="4F81BD"/>
                </a:solidFill>
                <a:latin typeface="Cambria"/>
              </a:rPr>
              <a:t> </a:t>
            </a:r>
            <a:r>
              <a:rPr lang="en-US" sz="2400" b="1" baseline="0" dirty="0" err="1" smtClean="0">
                <a:solidFill>
                  <a:srgbClr val="4F81BD"/>
                </a:solidFill>
                <a:latin typeface="Cambria"/>
              </a:rPr>
              <a:t>i</a:t>
            </a:r>
            <a:r>
              <a:rPr lang="en-US" sz="2400" b="1" baseline="0" dirty="0" smtClean="0">
                <a:solidFill>
                  <a:srgbClr val="4F81BD"/>
                </a:solidFill>
                <a:latin typeface="Cambria"/>
              </a:rPr>
              <a:t> ;</a:t>
            </a:r>
          </a:p>
          <a:p>
            <a:pPr marR="0" lvl="0" rtl="0">
              <a:buNone/>
            </a:pPr>
            <a:endParaRPr lang="en-US" sz="2400" b="1" baseline="0" dirty="0" smtClean="0">
              <a:solidFill>
                <a:srgbClr val="4F81BD"/>
              </a:solidFill>
              <a:latin typeface="Cambria"/>
            </a:endParaRPr>
          </a:p>
          <a:p>
            <a:pPr marR="0" lvl="0" rtl="0">
              <a:buNone/>
            </a:pPr>
            <a:r>
              <a:rPr lang="en-US" sz="2400" b="1" baseline="0" dirty="0" err="1" smtClean="0">
                <a:solidFill>
                  <a:srgbClr val="4F81BD"/>
                </a:solidFill>
                <a:latin typeface="Cambria"/>
              </a:rPr>
              <a:t>printf</a:t>
            </a:r>
            <a:r>
              <a:rPr lang="en-US" sz="2400" b="1" baseline="0" dirty="0" smtClean="0">
                <a:solidFill>
                  <a:srgbClr val="4F81BD"/>
                </a:solidFill>
                <a:latin typeface="Cambria"/>
              </a:rPr>
              <a:t>( “ Enter your name ” ) ;  	</a:t>
            </a:r>
            <a:r>
              <a:rPr lang="en-US" sz="2400" b="1" baseline="0" dirty="0" smtClean="0">
                <a:solidFill>
                  <a:schemeClr val="accent2">
                    <a:lumMod val="50000"/>
                  </a:schemeClr>
                </a:solidFill>
                <a:latin typeface="Cambria"/>
              </a:rPr>
              <a:t>// puts(s);</a:t>
            </a:r>
          </a:p>
          <a:p>
            <a:pPr marR="0" lvl="0" rtl="0">
              <a:buNone/>
            </a:pPr>
            <a:r>
              <a:rPr lang="en-US" sz="2400" b="1" baseline="0" dirty="0" smtClean="0">
                <a:solidFill>
                  <a:schemeClr val="accent2">
                    <a:lumMod val="50000"/>
                  </a:schemeClr>
                </a:solidFill>
                <a:latin typeface="Cambria"/>
              </a:rPr>
              <a:t>						accept space , newline , tab  </a:t>
            </a:r>
          </a:p>
          <a:p>
            <a:pPr marR="0" lvl="0" rtl="0">
              <a:buNone/>
            </a:pPr>
            <a:r>
              <a:rPr lang="en-US" sz="2400" b="1" baseline="0" dirty="0" err="1" smtClean="0">
                <a:solidFill>
                  <a:srgbClr val="4F81BD"/>
                </a:solidFill>
                <a:latin typeface="Cambria"/>
              </a:rPr>
              <a:t>scanf</a:t>
            </a:r>
            <a:r>
              <a:rPr lang="en-US" sz="2400" b="1" baseline="0" dirty="0" smtClean="0">
                <a:solidFill>
                  <a:srgbClr val="4F81BD"/>
                </a:solidFill>
                <a:latin typeface="Cambria"/>
              </a:rPr>
              <a:t> ( “ %s ”, s );  			</a:t>
            </a:r>
            <a:r>
              <a:rPr lang="en-US" sz="2400" b="1" baseline="0" dirty="0" smtClean="0">
                <a:solidFill>
                  <a:schemeClr val="accent2">
                    <a:lumMod val="50000"/>
                  </a:schemeClr>
                </a:solidFill>
                <a:latin typeface="Cambria"/>
              </a:rPr>
              <a:t>// gets(s); </a:t>
            </a:r>
          </a:p>
          <a:p>
            <a:pPr lvl="0">
              <a:buNone/>
            </a:pPr>
            <a:r>
              <a:rPr lang="en-US" sz="2800" b="1" baseline="0" dirty="0" smtClean="0">
                <a:solidFill>
                  <a:srgbClr val="4F81BD"/>
                </a:solidFill>
                <a:latin typeface="Cambria"/>
              </a:rPr>
              <a:t>}</a:t>
            </a:r>
            <a:r>
              <a:rPr lang="en-US" b="1" baseline="0" dirty="0" smtClean="0">
                <a:solidFill>
                  <a:srgbClr val="4F81BD"/>
                </a:solidFill>
                <a:latin typeface="Cambria"/>
              </a:rPr>
              <a:t>						 </a:t>
            </a:r>
            <a:r>
              <a:rPr lang="en-US" sz="2400" b="1" baseline="0" dirty="0" smtClean="0">
                <a:solidFill>
                  <a:schemeClr val="accent2">
                    <a:lumMod val="50000"/>
                  </a:schemeClr>
                </a:solidFill>
                <a:latin typeface="Cambria"/>
              </a:rPr>
              <a:t>accept space , newline , tab 	</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pPr marR="0" rtl="0"/>
            <a:r>
              <a:rPr lang="en-US" b="1" baseline="0" dirty="0" smtClean="0">
                <a:solidFill>
                  <a:srgbClr val="365F91"/>
                </a:solidFill>
                <a:latin typeface="Cambria"/>
              </a:rPr>
              <a:t>Input string from user</a:t>
            </a:r>
          </a:p>
        </p:txBody>
      </p:sp>
      <p:sp>
        <p:nvSpPr>
          <p:cNvPr id="3" name="Text Placeholder 2"/>
          <p:cNvSpPr>
            <a:spLocks noGrp="1"/>
          </p:cNvSpPr>
          <p:nvPr>
            <p:ph type="body" idx="1"/>
          </p:nvPr>
        </p:nvSpPr>
        <p:spPr>
          <a:xfrm>
            <a:off x="0" y="762000"/>
            <a:ext cx="9144000" cy="6096000"/>
          </a:xfrm>
        </p:spPr>
        <p:txBody>
          <a:bodyPr>
            <a:normAutofit/>
          </a:bodyPr>
          <a:lstStyle/>
          <a:p>
            <a:pPr marR="0" lvl="2" rtl="0">
              <a:buNone/>
            </a:pPr>
            <a:r>
              <a:rPr lang="en-US" b="1" i="1" baseline="0" dirty="0" smtClean="0">
                <a:solidFill>
                  <a:srgbClr val="4F81BD"/>
                </a:solidFill>
                <a:latin typeface="Cambria"/>
              </a:rPr>
              <a:t>void main ()</a:t>
            </a:r>
          </a:p>
          <a:p>
            <a:pPr marR="0" lvl="2" rtl="0">
              <a:buNone/>
            </a:pP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char s [ 20 ] ;</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I ;</a:t>
            </a:r>
          </a:p>
          <a:p>
            <a:pPr marR="0" lvl="2" rtl="0">
              <a:buNone/>
            </a:pPr>
            <a:r>
              <a:rPr lang="en-US" b="1" i="1" baseline="0" dirty="0" err="1" smtClean="0">
                <a:solidFill>
                  <a:srgbClr val="4F81BD"/>
                </a:solidFill>
                <a:latin typeface="Cambria"/>
              </a:rPr>
              <a:t>clrscr</a:t>
            </a:r>
            <a:r>
              <a:rPr lang="en-US" b="1" i="1" baseline="0" dirty="0" smtClean="0">
                <a:solidFill>
                  <a:srgbClr val="4F81BD"/>
                </a:solidFill>
                <a:latin typeface="Cambria"/>
              </a:rPr>
              <a:t> ( ) ;</a:t>
            </a:r>
          </a:p>
          <a:p>
            <a:pPr marR="0" lvl="2" rtl="0">
              <a:buNone/>
            </a:pPr>
            <a:r>
              <a:rPr lang="en-US" b="1" i="1" baseline="0" dirty="0" err="1" smtClean="0">
                <a:solidFill>
                  <a:srgbClr val="4F81BD"/>
                </a:solidFill>
                <a:latin typeface="Cambria"/>
              </a:rPr>
              <a:t>printf</a:t>
            </a:r>
            <a:r>
              <a:rPr lang="en-US" b="1" i="1" baseline="0" dirty="0" smtClean="0">
                <a:solidFill>
                  <a:srgbClr val="4F81BD"/>
                </a:solidFill>
                <a:latin typeface="Cambria"/>
              </a:rPr>
              <a:t> ( “ Enter your name ” ) ;</a:t>
            </a:r>
          </a:p>
          <a:p>
            <a:pPr marR="0" lvl="2" rtl="0">
              <a:buNone/>
            </a:pPr>
            <a:r>
              <a:rPr lang="en-US" b="1" i="1" baseline="0" dirty="0" err="1" smtClean="0">
                <a:solidFill>
                  <a:srgbClr val="4F81BD"/>
                </a:solidFill>
                <a:latin typeface="Cambria"/>
              </a:rPr>
              <a:t>scanf</a:t>
            </a:r>
            <a:r>
              <a:rPr lang="en-US" b="1" i="1" baseline="0" dirty="0" smtClean="0">
                <a:solidFill>
                  <a:srgbClr val="4F81BD"/>
                </a:solidFill>
                <a:latin typeface="Cambria"/>
              </a:rPr>
              <a:t> ( “%s” , s ) ; or </a:t>
            </a:r>
            <a:r>
              <a:rPr lang="en-US" b="1" i="1" baseline="0" dirty="0" err="1" smtClean="0">
                <a:solidFill>
                  <a:srgbClr val="4F81BD"/>
                </a:solidFill>
                <a:latin typeface="Cambria"/>
              </a:rPr>
              <a:t>scanf</a:t>
            </a:r>
            <a:r>
              <a:rPr lang="en-US" b="1" i="1" baseline="0" dirty="0" smtClean="0">
                <a:solidFill>
                  <a:srgbClr val="4F81BD"/>
                </a:solidFill>
                <a:latin typeface="Cambria"/>
              </a:rPr>
              <a:t>( “%s”, &amp;s[0] );</a:t>
            </a:r>
          </a:p>
          <a:p>
            <a:pPr marR="0" lvl="2" rtl="0">
              <a:buNone/>
            </a:pPr>
            <a:r>
              <a:rPr lang="en-US" b="1" i="1" baseline="0" dirty="0" smtClean="0">
                <a:solidFill>
                  <a:schemeClr val="accent2">
                    <a:lumMod val="50000"/>
                  </a:schemeClr>
                </a:solidFill>
                <a:latin typeface="Cambria"/>
              </a:rPr>
              <a:t>// gets ( s ); or gets ( &amp;s[0]);    // accept space, new line, tab</a:t>
            </a:r>
          </a:p>
          <a:p>
            <a:pPr marR="0" lvl="2" rtl="0">
              <a:buNone/>
            </a:pPr>
            <a:r>
              <a:rPr lang="en-US" b="1" i="1" baseline="0" dirty="0" err="1" smtClean="0">
                <a:solidFill>
                  <a:srgbClr val="4F81BD"/>
                </a:solidFill>
                <a:latin typeface="Cambria"/>
              </a:rPr>
              <a:t>printf</a:t>
            </a:r>
            <a:r>
              <a:rPr lang="en-US" b="1" i="1" baseline="0" dirty="0" smtClean="0">
                <a:solidFill>
                  <a:srgbClr val="4F81BD"/>
                </a:solidFill>
                <a:latin typeface="Cambria"/>
              </a:rPr>
              <a:t>( “%s” , s ); or </a:t>
            </a:r>
            <a:r>
              <a:rPr lang="en-US" b="1" i="1" baseline="0" dirty="0" err="1" smtClean="0">
                <a:solidFill>
                  <a:srgbClr val="4F81BD"/>
                </a:solidFill>
                <a:latin typeface="Cambria"/>
              </a:rPr>
              <a:t>printf</a:t>
            </a:r>
            <a:r>
              <a:rPr lang="en-US" b="1" i="1" baseline="0" dirty="0" smtClean="0">
                <a:solidFill>
                  <a:srgbClr val="4F81BD"/>
                </a:solidFill>
                <a:latin typeface="Cambria"/>
              </a:rPr>
              <a:t>( “%s” , &amp;s[o] );</a:t>
            </a:r>
          </a:p>
          <a:p>
            <a:pPr marR="0" lvl="2" rtl="0">
              <a:buNone/>
            </a:pPr>
            <a:r>
              <a:rPr lang="en-US" b="1" i="1" baseline="0" dirty="0" smtClean="0">
                <a:solidFill>
                  <a:schemeClr val="accent2">
                    <a:lumMod val="50000"/>
                  </a:schemeClr>
                </a:solidFill>
                <a:latin typeface="Cambria"/>
              </a:rPr>
              <a:t>// puts( s ); or puts( &amp;s[0] );  //  accept space, new line, tab</a:t>
            </a:r>
          </a:p>
          <a:p>
            <a:pPr marR="0" lvl="2" rtl="0">
              <a:buNone/>
            </a:pPr>
            <a:r>
              <a:rPr lang="en-US" b="1" i="1" baseline="0" dirty="0" err="1" smtClean="0">
                <a:solidFill>
                  <a:srgbClr val="4F81BD"/>
                </a:solidFill>
                <a:latin typeface="Cambria"/>
              </a:rPr>
              <a:t>getch</a:t>
            </a:r>
            <a:r>
              <a:rPr lang="en-US" b="1" i="1" baseline="0" dirty="0" smtClean="0">
                <a:solidFill>
                  <a:srgbClr val="4F81BD"/>
                </a:solidFill>
                <a:latin typeface="Cambria"/>
              </a:rPr>
              <a:t> ( );</a:t>
            </a:r>
          </a:p>
          <a:p>
            <a:pPr marR="0" lvl="2" rtl="0">
              <a:buNone/>
            </a:pPr>
            <a:r>
              <a:rPr lang="en-US" b="1" i="1" baseline="0" dirty="0" smtClean="0">
                <a:solidFill>
                  <a:srgbClr val="4F81BD"/>
                </a:solidFill>
                <a:latin typeface="Cambria"/>
              </a:rPr>
              <a:t>}</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Handling Multiple Strings</a:t>
            </a:r>
          </a:p>
        </p:txBody>
      </p:sp>
      <p:sp>
        <p:nvSpPr>
          <p:cNvPr id="3" name="Text Placeholder 2"/>
          <p:cNvSpPr>
            <a:spLocks noGrp="1"/>
          </p:cNvSpPr>
          <p:nvPr>
            <p:ph type="body" idx="1"/>
          </p:nvPr>
        </p:nvSpPr>
        <p:spPr>
          <a:xfrm>
            <a:off x="457200" y="1600201"/>
            <a:ext cx="8229600" cy="685800"/>
          </a:xfrm>
        </p:spPr>
        <p:txBody>
          <a:bodyPr>
            <a:normAutofit fontScale="77500" lnSpcReduction="20000"/>
          </a:bodyPr>
          <a:lstStyle/>
          <a:p>
            <a:pPr marR="0" lvl="0" rtl="0">
              <a:buNone/>
            </a:pPr>
            <a:r>
              <a:rPr lang="pt-BR" b="1" baseline="0" dirty="0" smtClean="0">
                <a:solidFill>
                  <a:srgbClr val="4F81BD"/>
                </a:solidFill>
                <a:latin typeface="Cambria"/>
              </a:rPr>
              <a:t>Char s [3] [10] = { “ INDORE ” , “ MUMBAI ” , “ DELHI ”} ;</a:t>
            </a:r>
          </a:p>
        </p:txBody>
      </p:sp>
      <p:pic>
        <p:nvPicPr>
          <p:cNvPr id="4" name="Picture 3"/>
          <p:cNvPicPr/>
          <p:nvPr/>
        </p:nvPicPr>
        <p:blipFill>
          <a:blip r:embed="rId2" cstate="print"/>
          <a:srcRect/>
          <a:stretch>
            <a:fillRect/>
          </a:stretch>
        </p:blipFill>
        <p:spPr bwMode="auto">
          <a:xfrm>
            <a:off x="228600" y="2743200"/>
            <a:ext cx="8610600" cy="304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pPr marR="0" rtl="0"/>
            <a:r>
              <a:rPr lang="en-US" sz="3200" b="1" baseline="0" dirty="0" smtClean="0">
                <a:solidFill>
                  <a:srgbClr val="365F91"/>
                </a:solidFill>
                <a:latin typeface="Cambria"/>
              </a:rPr>
              <a:t>Handling Multiple String Through User</a:t>
            </a:r>
          </a:p>
        </p:txBody>
      </p:sp>
      <p:sp>
        <p:nvSpPr>
          <p:cNvPr id="3" name="Text Placeholder 2"/>
          <p:cNvSpPr>
            <a:spLocks noGrp="1"/>
          </p:cNvSpPr>
          <p:nvPr>
            <p:ph type="body" idx="1"/>
          </p:nvPr>
        </p:nvSpPr>
        <p:spPr>
          <a:xfrm>
            <a:off x="304800" y="990600"/>
            <a:ext cx="8534400" cy="5638800"/>
          </a:xfrm>
        </p:spPr>
        <p:txBody>
          <a:bodyPr>
            <a:normAutofit lnSpcReduction="10000"/>
          </a:bodyPr>
          <a:lstStyle/>
          <a:p>
            <a:pPr marR="0" lvl="2" rtl="0">
              <a:buNone/>
            </a:pPr>
            <a:r>
              <a:rPr lang="en-US" b="1" i="1" baseline="0" dirty="0" smtClean="0">
                <a:solidFill>
                  <a:srgbClr val="4F81BD"/>
                </a:solidFill>
                <a:latin typeface="Cambria"/>
              </a:rPr>
              <a:t>void main( )</a:t>
            </a:r>
          </a:p>
          <a:p>
            <a:pPr marR="0" lvl="2" rtl="0">
              <a:buNone/>
            </a:pP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char s [ 3 ] [ 10 ] ;</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a:t>
            </a:r>
            <a:r>
              <a:rPr lang="en-US" b="1" i="1" baseline="0" dirty="0" err="1" smtClean="0">
                <a:solidFill>
                  <a:srgbClr val="4F81BD"/>
                </a:solidFill>
                <a:latin typeface="Cambria"/>
              </a:rPr>
              <a:t>i</a:t>
            </a:r>
            <a:r>
              <a:rPr lang="en-US" b="1" i="1" baseline="0" dirty="0" smtClean="0">
                <a:solidFill>
                  <a:srgbClr val="4F81BD"/>
                </a:solidFill>
                <a:latin typeface="Cambria"/>
              </a:rPr>
              <a:t> ;</a:t>
            </a:r>
          </a:p>
          <a:p>
            <a:pPr marR="0" lvl="2" rtl="0">
              <a:buNone/>
            </a:pPr>
            <a:r>
              <a:rPr lang="en-US" b="1" i="1" baseline="0" dirty="0" err="1" smtClean="0">
                <a:solidFill>
                  <a:srgbClr val="4F81BD"/>
                </a:solidFill>
                <a:latin typeface="Cambria"/>
              </a:rPr>
              <a:t>clrscr</a:t>
            </a:r>
            <a:r>
              <a:rPr lang="en-US" b="1" i="1" baseline="0" dirty="0" smtClean="0">
                <a:solidFill>
                  <a:srgbClr val="4F81BD"/>
                </a:solidFill>
                <a:latin typeface="Cambria"/>
              </a:rPr>
              <a:t> ( ) ;</a:t>
            </a:r>
          </a:p>
          <a:p>
            <a:pPr marR="0" lvl="2" rtl="0">
              <a:buNone/>
            </a:pPr>
            <a:r>
              <a:rPr lang="en-US" b="1" i="1" baseline="0" dirty="0" err="1" smtClean="0">
                <a:solidFill>
                  <a:srgbClr val="4F81BD"/>
                </a:solidFill>
                <a:latin typeface="Cambria"/>
              </a:rPr>
              <a:t>printf</a:t>
            </a:r>
            <a:r>
              <a:rPr lang="en-US" b="1" i="1" baseline="0" dirty="0" smtClean="0">
                <a:solidFill>
                  <a:srgbClr val="4F81BD"/>
                </a:solidFill>
                <a:latin typeface="Cambria"/>
              </a:rPr>
              <a:t>( “Enter Three Strings”) ;</a:t>
            </a:r>
          </a:p>
          <a:p>
            <a:pPr marR="0" lvl="2" rtl="0">
              <a:buNone/>
            </a:pPr>
            <a:r>
              <a:rPr lang="nn-NO" b="1" i="1" baseline="0" dirty="0" smtClean="0">
                <a:solidFill>
                  <a:srgbClr val="4F81BD"/>
                </a:solidFill>
                <a:latin typeface="Cambria"/>
              </a:rPr>
              <a:t>for ( i=0; i&lt;=2; i ++ )</a:t>
            </a:r>
          </a:p>
          <a:p>
            <a:pPr marR="0" lvl="2" rtl="0">
              <a:buNone/>
            </a:pPr>
            <a:r>
              <a:rPr lang="en-US" b="1" i="1" baseline="0" dirty="0" smtClean="0">
                <a:solidFill>
                  <a:srgbClr val="C00000"/>
                </a:solidFill>
                <a:latin typeface="Cambria"/>
              </a:rPr>
              <a:t>//</a:t>
            </a:r>
            <a:r>
              <a:rPr lang="en-US" b="1" i="1" baseline="0" dirty="0" err="1" smtClean="0">
                <a:solidFill>
                  <a:srgbClr val="C00000"/>
                </a:solidFill>
                <a:latin typeface="Cambria"/>
              </a:rPr>
              <a:t>scanf</a:t>
            </a:r>
            <a:r>
              <a:rPr lang="en-US" b="1" i="1" baseline="0" dirty="0" smtClean="0">
                <a:solidFill>
                  <a:srgbClr val="C00000"/>
                </a:solidFill>
                <a:latin typeface="Cambria"/>
              </a:rPr>
              <a:t>( “%s ”, &amp;s[</a:t>
            </a:r>
            <a:r>
              <a:rPr lang="en-US" b="1" i="1" baseline="0" dirty="0" err="1" smtClean="0">
                <a:solidFill>
                  <a:srgbClr val="C00000"/>
                </a:solidFill>
                <a:latin typeface="Cambria"/>
              </a:rPr>
              <a:t>i</a:t>
            </a:r>
            <a:r>
              <a:rPr lang="en-US" b="1" i="1" baseline="0" dirty="0" smtClean="0">
                <a:solidFill>
                  <a:srgbClr val="C00000"/>
                </a:solidFill>
                <a:latin typeface="Cambria"/>
              </a:rPr>
              <a:t>][0] ) ;</a:t>
            </a:r>
          </a:p>
          <a:p>
            <a:pPr marR="0" lvl="2" rtl="0">
              <a:buNone/>
            </a:pPr>
            <a:r>
              <a:rPr lang="en-US" b="1" i="1" baseline="0" dirty="0" smtClean="0">
                <a:solidFill>
                  <a:srgbClr val="4F81BD"/>
                </a:solidFill>
                <a:latin typeface="Cambria"/>
              </a:rPr>
              <a:t>gets(s[</a:t>
            </a:r>
            <a:r>
              <a:rPr lang="en-US" b="1" i="1" baseline="0" dirty="0" err="1" smtClean="0">
                <a:solidFill>
                  <a:srgbClr val="4F81BD"/>
                </a:solidFill>
                <a:latin typeface="Cambria"/>
              </a:rPr>
              <a:t>i</a:t>
            </a:r>
            <a:r>
              <a:rPr lang="en-US" b="1" i="1" baseline="0" dirty="0" smtClean="0">
                <a:solidFill>
                  <a:srgbClr val="4F81BD"/>
                </a:solidFill>
                <a:latin typeface="Cambria"/>
              </a:rPr>
              <a:t>]) ;   </a:t>
            </a:r>
            <a:r>
              <a:rPr lang="en-US" b="1" i="1" baseline="0" dirty="0" smtClean="0">
                <a:solidFill>
                  <a:srgbClr val="C00000"/>
                </a:solidFill>
                <a:latin typeface="Cambria"/>
              </a:rPr>
              <a:t>// Or gets( &amp;s[ </a:t>
            </a:r>
            <a:r>
              <a:rPr lang="en-US" b="1" i="1" baseline="0" dirty="0" err="1" smtClean="0">
                <a:solidFill>
                  <a:srgbClr val="C00000"/>
                </a:solidFill>
                <a:latin typeface="Cambria"/>
              </a:rPr>
              <a:t>i</a:t>
            </a:r>
            <a:r>
              <a:rPr lang="en-US" b="1" i="1" baseline="0" dirty="0" smtClean="0">
                <a:solidFill>
                  <a:srgbClr val="C00000"/>
                </a:solidFill>
                <a:latin typeface="Cambria"/>
              </a:rPr>
              <a:t> ] [0] ) ;</a:t>
            </a:r>
          </a:p>
          <a:p>
            <a:pPr marR="0" lvl="2" rtl="0">
              <a:buNone/>
            </a:pPr>
            <a:r>
              <a:rPr lang="nn-NO" b="1" i="1" baseline="0" dirty="0" smtClean="0">
                <a:solidFill>
                  <a:srgbClr val="4F81BD"/>
                </a:solidFill>
                <a:latin typeface="Cambria"/>
              </a:rPr>
              <a:t>for ( i=0; i&lt;=2; i ++ )</a:t>
            </a:r>
          </a:p>
          <a:p>
            <a:pPr marR="0" lvl="2" rtl="0">
              <a:buNone/>
            </a:pPr>
            <a:r>
              <a:rPr lang="pt-BR" b="1" i="1" baseline="0" dirty="0" smtClean="0">
                <a:solidFill>
                  <a:srgbClr val="C00000"/>
                </a:solidFill>
                <a:latin typeface="Cambria"/>
              </a:rPr>
              <a:t>//printf ( “ %s \n ” , s[ i ] ) ;</a:t>
            </a:r>
          </a:p>
          <a:p>
            <a:pPr marR="0" lvl="2" rtl="0">
              <a:buNone/>
            </a:pPr>
            <a:r>
              <a:rPr lang="en-US" b="1" i="1" baseline="0" dirty="0" smtClean="0">
                <a:solidFill>
                  <a:srgbClr val="4F81BD"/>
                </a:solidFill>
                <a:latin typeface="Cambria"/>
              </a:rPr>
              <a:t>puts( s [ </a:t>
            </a:r>
            <a:r>
              <a:rPr lang="en-US" b="1" i="1" baseline="0" dirty="0" err="1" smtClean="0">
                <a:solidFill>
                  <a:srgbClr val="4F81BD"/>
                </a:solidFill>
                <a:latin typeface="Cambria"/>
              </a:rPr>
              <a:t>i</a:t>
            </a:r>
            <a:r>
              <a:rPr lang="en-US" b="1" i="1" baseline="0" dirty="0" smtClean="0">
                <a:solidFill>
                  <a:srgbClr val="4F81BD"/>
                </a:solidFill>
                <a:latin typeface="Cambria"/>
              </a:rPr>
              <a:t> ]) ;   </a:t>
            </a:r>
            <a:r>
              <a:rPr lang="en-US" b="1" i="1" baseline="0" dirty="0" smtClean="0">
                <a:solidFill>
                  <a:srgbClr val="C00000"/>
                </a:solidFill>
                <a:latin typeface="Cambria"/>
              </a:rPr>
              <a:t>// Or puts(&amp;s[</a:t>
            </a:r>
            <a:r>
              <a:rPr lang="en-US" b="1" i="1" baseline="0" dirty="0" err="1" smtClean="0">
                <a:solidFill>
                  <a:srgbClr val="C00000"/>
                </a:solidFill>
                <a:latin typeface="Cambria"/>
              </a:rPr>
              <a:t>i</a:t>
            </a:r>
            <a:r>
              <a:rPr lang="en-US" b="1" i="1" baseline="0" dirty="0" smtClean="0">
                <a:solidFill>
                  <a:srgbClr val="C00000"/>
                </a:solidFill>
                <a:latin typeface="Cambria"/>
              </a:rPr>
              <a:t>][0]);</a:t>
            </a:r>
          </a:p>
          <a:p>
            <a:pPr marR="0" lvl="2" rtl="0">
              <a:buNone/>
            </a:pPr>
            <a:r>
              <a:rPr lang="en-US" b="1" i="1" baseline="0" dirty="0" smtClean="0">
                <a:solidFill>
                  <a:srgbClr val="4F81BD"/>
                </a:solidFill>
                <a:latin typeface="Cambria"/>
              </a:rPr>
              <a:t>}</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Autofit/>
          </a:bodyPr>
          <a:lstStyle/>
          <a:p>
            <a:pPr marR="0" rtl="0"/>
            <a:r>
              <a:rPr lang="en-US" sz="2800" b="1" baseline="0" dirty="0" smtClean="0">
                <a:solidFill>
                  <a:srgbClr val="365F91"/>
                </a:solidFill>
                <a:latin typeface="Cambria"/>
              </a:rPr>
              <a:t>Some most useful String Handling Functions</a:t>
            </a:r>
          </a:p>
        </p:txBody>
      </p:sp>
      <p:sp>
        <p:nvSpPr>
          <p:cNvPr id="3" name="Text Placeholder 2"/>
          <p:cNvSpPr>
            <a:spLocks noGrp="1"/>
          </p:cNvSpPr>
          <p:nvPr>
            <p:ph type="body" idx="1"/>
          </p:nvPr>
        </p:nvSpPr>
        <p:spPr>
          <a:xfrm>
            <a:off x="457200" y="685800"/>
            <a:ext cx="8229600" cy="5867400"/>
          </a:xfrm>
        </p:spPr>
        <p:txBody>
          <a:bodyPr>
            <a:normAutofit/>
          </a:bodyPr>
          <a:lstStyle/>
          <a:p>
            <a:pPr marR="0" lvl="0" algn="just" rtl="0">
              <a:buNone/>
            </a:pPr>
            <a:r>
              <a:rPr lang="en-US" b="1" baseline="0" dirty="0" smtClean="0">
                <a:solidFill>
                  <a:srgbClr val="4F81BD"/>
                </a:solidFill>
                <a:latin typeface="Cambria"/>
              </a:rPr>
              <a:t>	</a:t>
            </a:r>
            <a:r>
              <a:rPr lang="en-US" sz="2600" b="1" baseline="0" dirty="0" smtClean="0">
                <a:solidFill>
                  <a:srgbClr val="4F81BD"/>
                </a:solidFill>
                <a:latin typeface="Cambria"/>
              </a:rPr>
              <a:t>The following are the most commonly used string handling functions. These functions are packaged in </a:t>
            </a:r>
            <a:r>
              <a:rPr lang="en-US" sz="2600" b="1" baseline="0" dirty="0" err="1" smtClean="0">
                <a:solidFill>
                  <a:srgbClr val="4F81BD"/>
                </a:solidFill>
                <a:latin typeface="Cambria"/>
              </a:rPr>
              <a:t>string.h</a:t>
            </a:r>
            <a:r>
              <a:rPr lang="en-US" sz="2600" b="1" baseline="0" dirty="0" smtClean="0">
                <a:solidFill>
                  <a:srgbClr val="4F81BD"/>
                </a:solidFill>
                <a:latin typeface="Cambria"/>
              </a:rPr>
              <a:t> library you must include </a:t>
            </a:r>
            <a:r>
              <a:rPr lang="en-US" sz="2600" b="1" baseline="0" dirty="0" err="1" smtClean="0">
                <a:solidFill>
                  <a:srgbClr val="4F81BD"/>
                </a:solidFill>
                <a:latin typeface="Cambria"/>
              </a:rPr>
              <a:t>string.h</a:t>
            </a:r>
            <a:r>
              <a:rPr lang="en-US" sz="2600" b="1" baseline="0" dirty="0" smtClean="0">
                <a:solidFill>
                  <a:srgbClr val="4F81BD"/>
                </a:solidFill>
                <a:latin typeface="Cambria"/>
              </a:rPr>
              <a:t> header file in your program to use these functions.</a:t>
            </a:r>
          </a:p>
          <a:p>
            <a:pPr marR="0" lvl="0" rtl="0">
              <a:buNone/>
            </a:pPr>
            <a:r>
              <a:rPr lang="en-US" sz="2400" b="1" baseline="0" dirty="0" smtClean="0">
                <a:solidFill>
                  <a:srgbClr val="4F81BD"/>
                </a:solidFill>
                <a:latin typeface="Cambria"/>
              </a:rPr>
              <a:t>	</a:t>
            </a:r>
            <a:r>
              <a:rPr lang="en-US" sz="2400" b="1" baseline="0" dirty="0" err="1" smtClean="0">
                <a:solidFill>
                  <a:srgbClr val="4F81BD"/>
                </a:solidFill>
                <a:latin typeface="Cambria"/>
              </a:rPr>
              <a:t>strlen</a:t>
            </a:r>
            <a:r>
              <a:rPr lang="en-US" sz="2400" b="1" baseline="0" dirty="0" smtClean="0">
                <a:solidFill>
                  <a:srgbClr val="4F81BD"/>
                </a:solidFill>
                <a:latin typeface="Cambria"/>
              </a:rPr>
              <a:t>() :</a:t>
            </a:r>
            <a:r>
              <a:rPr lang="en-US" sz="2400" b="1" i="1" baseline="0" dirty="0" smtClean="0">
                <a:solidFill>
                  <a:srgbClr val="4F81BD"/>
                </a:solidFill>
                <a:latin typeface="Cambria"/>
              </a:rPr>
              <a:t>It is used to show length of a string.</a:t>
            </a:r>
          </a:p>
          <a:p>
            <a:pPr marR="0" lvl="2" rtl="0"/>
            <a:r>
              <a:rPr lang="en-US" b="1" i="1" baseline="0" dirty="0" smtClean="0">
                <a:solidFill>
                  <a:srgbClr val="4F81BD"/>
                </a:solidFill>
                <a:latin typeface="Cambria"/>
              </a:rPr>
              <a:t>Ex:	</a:t>
            </a:r>
            <a:r>
              <a:rPr lang="en-US" b="1" i="1" baseline="0" dirty="0" err="1" smtClean="0">
                <a:solidFill>
                  <a:srgbClr val="4F81BD"/>
                </a:solidFill>
                <a:latin typeface="Cambria"/>
              </a:rPr>
              <a:t>int</a:t>
            </a:r>
            <a:r>
              <a:rPr lang="en-US" b="1" i="1" baseline="0" dirty="0" smtClean="0">
                <a:solidFill>
                  <a:srgbClr val="4F81BD"/>
                </a:solidFill>
                <a:latin typeface="Cambria"/>
              </a:rPr>
              <a:t> j ;</a:t>
            </a:r>
          </a:p>
          <a:p>
            <a:pPr marR="0" lvl="2" rtl="0"/>
            <a:r>
              <a:rPr lang="en-US" b="1" i="1" baseline="0" dirty="0" smtClean="0">
                <a:solidFill>
                  <a:srgbClr val="4F81BD"/>
                </a:solidFill>
                <a:latin typeface="Cambria"/>
              </a:rPr>
              <a:t>j=</a:t>
            </a:r>
            <a:r>
              <a:rPr lang="en-US" b="1" i="1" baseline="0" dirty="0" err="1" smtClean="0">
                <a:solidFill>
                  <a:srgbClr val="4F81BD"/>
                </a:solidFill>
                <a:latin typeface="Cambria"/>
              </a:rPr>
              <a:t>strlen</a:t>
            </a:r>
            <a:r>
              <a:rPr lang="en-US" b="1" i="1" baseline="0" dirty="0" smtClean="0">
                <a:solidFill>
                  <a:srgbClr val="4F81BD"/>
                </a:solidFill>
                <a:latin typeface="Cambria"/>
              </a:rPr>
              <a:t> (“</a:t>
            </a:r>
            <a:r>
              <a:rPr lang="en-US" b="1" i="1" baseline="0" dirty="0" err="1" smtClean="0">
                <a:solidFill>
                  <a:srgbClr val="4F81BD"/>
                </a:solidFill>
                <a:latin typeface="Cambria"/>
              </a:rPr>
              <a:t>vivekanandgroup</a:t>
            </a:r>
            <a:r>
              <a:rPr lang="en-US" b="1" i="1" baseline="0" dirty="0" smtClean="0">
                <a:solidFill>
                  <a:srgbClr val="4F81BD"/>
                </a:solidFill>
                <a:latin typeface="Cambria"/>
              </a:rPr>
              <a:t>”);</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(“%d”, j) ;</a:t>
            </a:r>
          </a:p>
          <a:p>
            <a:pPr marR="0" lvl="2" rtl="0"/>
            <a:r>
              <a:rPr lang="en-US" b="1" i="1" baseline="0" dirty="0" smtClean="0">
                <a:solidFill>
                  <a:srgbClr val="4F81BD"/>
                </a:solidFill>
                <a:latin typeface="Cambria"/>
              </a:rPr>
              <a:t>O/P : 15 </a:t>
            </a:r>
          </a:p>
          <a:p>
            <a:pPr marR="0" lvl="0" rtl="0">
              <a:buNone/>
            </a:pPr>
            <a:r>
              <a:rPr lang="en-US" sz="2400" b="1" dirty="0" smtClean="0">
                <a:solidFill>
                  <a:srgbClr val="4F81BD"/>
                </a:solidFill>
                <a:latin typeface="Cambria"/>
              </a:rPr>
              <a:t>	</a:t>
            </a:r>
            <a:r>
              <a:rPr lang="en-US" sz="2400" b="1" baseline="0" dirty="0" err="1" smtClean="0">
                <a:solidFill>
                  <a:srgbClr val="4F81BD"/>
                </a:solidFill>
                <a:latin typeface="Cambria"/>
              </a:rPr>
              <a:t>strrev</a:t>
            </a:r>
            <a:r>
              <a:rPr lang="en-US" sz="2400" b="1" baseline="0" dirty="0" smtClean="0">
                <a:solidFill>
                  <a:srgbClr val="4F81BD"/>
                </a:solidFill>
                <a:latin typeface="Cambria"/>
              </a:rPr>
              <a:t>() :</a:t>
            </a:r>
            <a:r>
              <a:rPr lang="en-US" sz="2400" b="1" dirty="0" smtClean="0">
                <a:solidFill>
                  <a:srgbClr val="4F81BD"/>
                </a:solidFill>
                <a:latin typeface="Cambria"/>
              </a:rPr>
              <a:t> </a:t>
            </a:r>
            <a:r>
              <a:rPr lang="en-US" sz="2400" b="1" i="1" baseline="0" dirty="0" smtClean="0">
                <a:solidFill>
                  <a:srgbClr val="4F81BD"/>
                </a:solidFill>
                <a:latin typeface="Cambria"/>
              </a:rPr>
              <a:t>It is used to show reverse of a string.</a:t>
            </a:r>
          </a:p>
          <a:p>
            <a:pPr marR="0" lvl="2" rtl="0"/>
            <a:r>
              <a:rPr lang="en-US" b="1" i="1" baseline="0" dirty="0" smtClean="0">
                <a:solidFill>
                  <a:srgbClr val="4F81BD"/>
                </a:solidFill>
                <a:latin typeface="Cambria"/>
              </a:rPr>
              <a:t>Ex:	char name[10] = “Hello” ;</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(“%s” , </a:t>
            </a:r>
            <a:r>
              <a:rPr lang="en-US" b="1" i="1" baseline="0" dirty="0" err="1" smtClean="0">
                <a:solidFill>
                  <a:srgbClr val="4F81BD"/>
                </a:solidFill>
                <a:latin typeface="Cambria"/>
              </a:rPr>
              <a:t>strrev</a:t>
            </a:r>
            <a:r>
              <a:rPr lang="en-US" b="1" i="1" baseline="0" dirty="0" smtClean="0">
                <a:solidFill>
                  <a:srgbClr val="4F81BD"/>
                </a:solidFill>
                <a:latin typeface="Cambria"/>
              </a:rPr>
              <a:t>( name ) ) ;</a:t>
            </a:r>
          </a:p>
          <a:p>
            <a:pPr marR="0" lvl="2" rtl="0"/>
            <a:r>
              <a:rPr lang="en-US" b="1" i="1" baseline="0" dirty="0" smtClean="0">
                <a:solidFill>
                  <a:srgbClr val="4F81BD"/>
                </a:solidFill>
                <a:latin typeface="Cambria"/>
              </a:rPr>
              <a:t>O/P : </a:t>
            </a:r>
            <a:r>
              <a:rPr lang="en-US" b="1" i="1" baseline="0" dirty="0" err="1" smtClean="0">
                <a:solidFill>
                  <a:srgbClr val="4F81BD"/>
                </a:solidFill>
                <a:latin typeface="Cambria"/>
              </a:rPr>
              <a:t>olleH</a:t>
            </a:r>
            <a:endParaRPr lang="en-US" b="1" i="1" baseline="0" dirty="0" smtClean="0">
              <a:solidFill>
                <a:srgbClr val="4F81BD"/>
              </a:solidFill>
              <a:latin typeface="Cambria"/>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Continue…….</a:t>
            </a:r>
            <a:endParaRPr lang="en-US" b="1" baseline="0" smtClean="0">
              <a:solidFill>
                <a:srgbClr val="365F91"/>
              </a:solidFill>
              <a:latin typeface="Times New Roman"/>
            </a:endParaRPr>
          </a:p>
        </p:txBody>
      </p:sp>
      <p:sp>
        <p:nvSpPr>
          <p:cNvPr id="3" name="Text Placeholder 2"/>
          <p:cNvSpPr>
            <a:spLocks noGrp="1"/>
          </p:cNvSpPr>
          <p:nvPr>
            <p:ph type="body" idx="1"/>
          </p:nvPr>
        </p:nvSpPr>
        <p:spPr/>
        <p:txBody>
          <a:bodyPr>
            <a:normAutofit/>
          </a:bodyPr>
          <a:lstStyle/>
          <a:p>
            <a:pPr marR="0" lvl="0" rtl="0">
              <a:buNone/>
            </a:pPr>
            <a:r>
              <a:rPr lang="en-US" sz="2400" b="1" baseline="0" dirty="0" err="1" smtClean="0">
                <a:solidFill>
                  <a:srgbClr val="4F81BD"/>
                </a:solidFill>
                <a:latin typeface="Cambria"/>
              </a:rPr>
              <a:t>strlwr</a:t>
            </a:r>
            <a:r>
              <a:rPr lang="en-US" sz="2400" b="1" baseline="0" dirty="0" smtClean="0">
                <a:solidFill>
                  <a:srgbClr val="4F81BD"/>
                </a:solidFill>
                <a:latin typeface="Cambria"/>
              </a:rPr>
              <a:t> ( ) :</a:t>
            </a:r>
          </a:p>
          <a:p>
            <a:pPr marR="0" lvl="2" rtl="0">
              <a:buNone/>
            </a:pPr>
            <a:r>
              <a:rPr lang="en-US" b="1" i="1" baseline="0" dirty="0" smtClean="0">
                <a:solidFill>
                  <a:srgbClr val="4F81BD"/>
                </a:solidFill>
                <a:latin typeface="Cambria"/>
              </a:rPr>
              <a:t>Converts string to lowercase.</a:t>
            </a:r>
          </a:p>
          <a:p>
            <a:pPr marR="0" lvl="0" rtl="0">
              <a:buNone/>
            </a:pPr>
            <a:r>
              <a:rPr lang="en-US" sz="2400" b="1" baseline="0" dirty="0" err="1" smtClean="0">
                <a:solidFill>
                  <a:srgbClr val="4F81BD"/>
                </a:solidFill>
                <a:latin typeface="Cambria"/>
              </a:rPr>
              <a:t>Strupr</a:t>
            </a:r>
            <a:r>
              <a:rPr lang="en-US" sz="2400" b="1" baseline="0" dirty="0" smtClean="0">
                <a:solidFill>
                  <a:srgbClr val="4F81BD"/>
                </a:solidFill>
                <a:latin typeface="Cambria"/>
              </a:rPr>
              <a:t> ( ) :</a:t>
            </a:r>
          </a:p>
          <a:p>
            <a:pPr marR="0" lvl="2" rtl="0">
              <a:buNone/>
            </a:pPr>
            <a:r>
              <a:rPr lang="en-US" b="1" i="1" baseline="0" dirty="0" smtClean="0">
                <a:solidFill>
                  <a:srgbClr val="4F81BD"/>
                </a:solidFill>
                <a:latin typeface="Cambria"/>
              </a:rPr>
              <a:t>Convert string to uppercase.</a:t>
            </a:r>
          </a:p>
          <a:p>
            <a:pPr marR="0" lvl="0" rtl="0">
              <a:buNone/>
            </a:pPr>
            <a:r>
              <a:rPr lang="en-US" sz="2400" b="1" baseline="0" dirty="0" err="1" smtClean="0">
                <a:solidFill>
                  <a:srgbClr val="4F81BD"/>
                </a:solidFill>
                <a:latin typeface="Cambria"/>
              </a:rPr>
              <a:t>strcpy</a:t>
            </a:r>
            <a:r>
              <a:rPr lang="en-US" sz="2400" b="1" baseline="0" dirty="0" smtClean="0">
                <a:solidFill>
                  <a:srgbClr val="4F81BD"/>
                </a:solidFill>
                <a:latin typeface="Cambria"/>
              </a:rPr>
              <a:t>() :</a:t>
            </a:r>
          </a:p>
          <a:p>
            <a:pPr marR="0" lvl="2" rtl="0">
              <a:buNone/>
            </a:pPr>
            <a:r>
              <a:rPr lang="en-US" b="1" i="1" baseline="0" dirty="0" smtClean="0">
                <a:solidFill>
                  <a:srgbClr val="4F81BD"/>
                </a:solidFill>
                <a:latin typeface="Cambria"/>
              </a:rPr>
              <a:t>Copies one string into another</a:t>
            </a:r>
          </a:p>
          <a:p>
            <a:pPr marR="0" lvl="2" rtl="0">
              <a:buNone/>
            </a:pPr>
            <a:r>
              <a:rPr lang="en-US" b="1" i="1" baseline="0" dirty="0" smtClean="0">
                <a:solidFill>
                  <a:srgbClr val="4F81BD"/>
                </a:solidFill>
                <a:latin typeface="Cambria"/>
              </a:rPr>
              <a:t>Ex: 	char str1[10 ]={ “ Hello ” } ;</a:t>
            </a:r>
          </a:p>
          <a:p>
            <a:pPr marR="0" lvl="2" rtl="0">
              <a:buNone/>
            </a:pPr>
            <a:r>
              <a:rPr lang="en-US" b="1" i="1" baseline="0" dirty="0" smtClean="0">
                <a:solidFill>
                  <a:srgbClr val="4F81BD"/>
                </a:solidFill>
                <a:latin typeface="Cambria"/>
              </a:rPr>
              <a:t>Char str2[ 10 ] ;</a:t>
            </a:r>
          </a:p>
          <a:p>
            <a:pPr marR="0" lvl="0" rtl="0">
              <a:buNone/>
            </a:pPr>
            <a:r>
              <a:rPr lang="en-US" sz="2400" b="1" baseline="0" dirty="0" err="1" smtClean="0">
                <a:solidFill>
                  <a:srgbClr val="4F81BD"/>
                </a:solidFill>
                <a:latin typeface="Cambria"/>
              </a:rPr>
              <a:t>strcpy</a:t>
            </a:r>
            <a:r>
              <a:rPr lang="en-US" sz="2400" b="1" baseline="0" dirty="0" smtClean="0">
                <a:solidFill>
                  <a:srgbClr val="4F81BD"/>
                </a:solidFill>
                <a:latin typeface="Cambria"/>
              </a:rPr>
              <a:t> ( str2 , str1 ) ;</a:t>
            </a:r>
          </a:p>
          <a:p>
            <a:pPr marR="0" lvl="2" rtl="0">
              <a:buNone/>
            </a:pPr>
            <a:r>
              <a:rPr lang="en-US" b="1" i="1" baseline="0" dirty="0" err="1" smtClean="0">
                <a:solidFill>
                  <a:srgbClr val="4F81BD"/>
                </a:solidFill>
                <a:latin typeface="Cambria"/>
              </a:rPr>
              <a:t>printf</a:t>
            </a:r>
            <a:r>
              <a:rPr lang="en-US" b="1" i="1" baseline="0" dirty="0" smtClean="0">
                <a:solidFill>
                  <a:srgbClr val="4F81BD"/>
                </a:solidFill>
                <a:latin typeface="Cambria"/>
              </a:rPr>
              <a:t>( “ str2 is %s  ” , str2 );</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continue….</a:t>
            </a:r>
          </a:p>
        </p:txBody>
      </p:sp>
      <p:sp>
        <p:nvSpPr>
          <p:cNvPr id="3" name="Text Placeholder 2"/>
          <p:cNvSpPr>
            <a:spLocks noGrp="1"/>
          </p:cNvSpPr>
          <p:nvPr>
            <p:ph type="body" idx="1"/>
          </p:nvPr>
        </p:nvSpPr>
        <p:spPr>
          <a:xfrm>
            <a:off x="457200" y="1600200"/>
            <a:ext cx="8229600" cy="5029200"/>
          </a:xfrm>
        </p:spPr>
        <p:txBody>
          <a:bodyPr>
            <a:normAutofit/>
          </a:bodyPr>
          <a:lstStyle/>
          <a:p>
            <a:pPr marR="0" lvl="0" rtl="0">
              <a:buNone/>
            </a:pPr>
            <a:r>
              <a:rPr lang="en-US" sz="2400" b="1" baseline="0" dirty="0" err="1" smtClean="0">
                <a:solidFill>
                  <a:srgbClr val="4F81BD"/>
                </a:solidFill>
                <a:latin typeface="Cambria"/>
              </a:rPr>
              <a:t>strcmp</a:t>
            </a:r>
            <a:r>
              <a:rPr lang="en-US" sz="2400" b="1" baseline="0" dirty="0" smtClean="0">
                <a:solidFill>
                  <a:srgbClr val="4F81BD"/>
                </a:solidFill>
                <a:latin typeface="Cambria"/>
              </a:rPr>
              <a:t> ( ) :</a:t>
            </a:r>
          </a:p>
          <a:p>
            <a:pPr marR="0" lvl="2" rtl="0"/>
            <a:r>
              <a:rPr lang="en-US" b="1" i="1" baseline="0" dirty="0" smtClean="0">
                <a:solidFill>
                  <a:srgbClr val="4F81BD"/>
                </a:solidFill>
                <a:latin typeface="Cambria"/>
              </a:rPr>
              <a:t>Ex: 	</a:t>
            </a:r>
            <a:r>
              <a:rPr lang="en-US" b="1" i="1" baseline="0" dirty="0" err="1" smtClean="0">
                <a:solidFill>
                  <a:srgbClr val="4F81BD"/>
                </a:solidFill>
                <a:latin typeface="Cambria"/>
              </a:rPr>
              <a:t>int</a:t>
            </a:r>
            <a:r>
              <a:rPr lang="en-US" b="1" i="1" baseline="0" dirty="0" smtClean="0">
                <a:solidFill>
                  <a:srgbClr val="4F81BD"/>
                </a:solidFill>
                <a:latin typeface="Cambria"/>
              </a:rPr>
              <a:t>  j ;</a:t>
            </a:r>
          </a:p>
          <a:p>
            <a:pPr marR="0" lvl="2" rtl="0"/>
            <a:r>
              <a:rPr lang="en-US" b="1" i="1" dirty="0" smtClean="0">
                <a:solidFill>
                  <a:srgbClr val="4F81BD"/>
                </a:solidFill>
                <a:latin typeface="Cambria"/>
              </a:rPr>
              <a:t>j</a:t>
            </a:r>
            <a:r>
              <a:rPr lang="en-US" b="1" i="1" baseline="0" dirty="0" smtClean="0">
                <a:solidFill>
                  <a:srgbClr val="4F81BD"/>
                </a:solidFill>
                <a:latin typeface="Cambria"/>
              </a:rPr>
              <a:t>= </a:t>
            </a:r>
            <a:r>
              <a:rPr lang="en-US" b="1" i="1" baseline="0" dirty="0" err="1" smtClean="0">
                <a:solidFill>
                  <a:srgbClr val="4F81BD"/>
                </a:solidFill>
                <a:latin typeface="Cambria"/>
              </a:rPr>
              <a:t>strcmp</a:t>
            </a:r>
            <a:r>
              <a:rPr lang="en-US" b="1" i="1" baseline="0" dirty="0" smtClean="0">
                <a:solidFill>
                  <a:srgbClr val="4F81BD"/>
                </a:solidFill>
                <a:latin typeface="Cambria"/>
              </a:rPr>
              <a:t> ( “study ”, “tonight”) ;</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%d“ , j  ) ;</a:t>
            </a:r>
          </a:p>
          <a:p>
            <a:pPr marR="0" lvl="2" rtl="0"/>
            <a:r>
              <a:rPr lang="en-US" b="1" i="1" baseline="0" dirty="0" smtClean="0">
                <a:solidFill>
                  <a:srgbClr val="4F81BD"/>
                </a:solidFill>
                <a:latin typeface="Cambria"/>
              </a:rPr>
              <a:t>O/P : -1</a:t>
            </a:r>
          </a:p>
          <a:p>
            <a:pPr marR="0" lvl="0" rtl="0">
              <a:buNone/>
            </a:pPr>
            <a:r>
              <a:rPr lang="en-US" sz="2400" b="1" baseline="0" dirty="0" err="1" smtClean="0">
                <a:solidFill>
                  <a:srgbClr val="4F81BD"/>
                </a:solidFill>
                <a:latin typeface="Cambria"/>
              </a:rPr>
              <a:t>strcat</a:t>
            </a:r>
            <a:r>
              <a:rPr lang="en-US" sz="2400" b="1" baseline="0" dirty="0" smtClean="0">
                <a:solidFill>
                  <a:srgbClr val="4F81BD"/>
                </a:solidFill>
                <a:latin typeface="Cambria"/>
              </a:rPr>
              <a:t> ( ) :</a:t>
            </a:r>
            <a:r>
              <a:rPr lang="en-US" sz="2400" b="1" i="1" baseline="0" dirty="0" smtClean="0">
                <a:solidFill>
                  <a:srgbClr val="4F81BD"/>
                </a:solidFill>
                <a:latin typeface="Cambria"/>
              </a:rPr>
              <a:t>It is used to concatenate two string.</a:t>
            </a:r>
          </a:p>
          <a:p>
            <a:pPr marR="0" lvl="2" rtl="0"/>
            <a:r>
              <a:rPr lang="en-US" b="1" i="1" baseline="0" dirty="0" smtClean="0">
                <a:solidFill>
                  <a:srgbClr val="4F81BD"/>
                </a:solidFill>
                <a:latin typeface="Cambria"/>
              </a:rPr>
              <a:t>Ex: 	</a:t>
            </a:r>
            <a:r>
              <a:rPr lang="en-US" b="1" i="1" baseline="0" dirty="0" err="1" smtClean="0">
                <a:solidFill>
                  <a:srgbClr val="4F81BD"/>
                </a:solidFill>
                <a:latin typeface="Cambria"/>
              </a:rPr>
              <a:t>strcat</a:t>
            </a:r>
            <a:r>
              <a:rPr lang="en-US" b="1" i="1" baseline="0" dirty="0" smtClean="0">
                <a:solidFill>
                  <a:srgbClr val="4F81BD"/>
                </a:solidFill>
                <a:latin typeface="Cambria"/>
              </a:rPr>
              <a:t>( “hello”, “world “)</a:t>
            </a:r>
          </a:p>
          <a:p>
            <a:pPr marR="0" lvl="2" rtl="0"/>
            <a:r>
              <a:rPr lang="en-US" b="1" i="1" baseline="0" dirty="0" err="1" smtClean="0">
                <a:solidFill>
                  <a:srgbClr val="4F81BD"/>
                </a:solidFill>
                <a:latin typeface="Cambria"/>
              </a:rPr>
              <a:t>strcat</a:t>
            </a:r>
            <a:r>
              <a:rPr lang="en-US" b="1" i="1" baseline="0" dirty="0" smtClean="0">
                <a:solidFill>
                  <a:srgbClr val="4F81BD"/>
                </a:solidFill>
                <a:latin typeface="Cambria"/>
              </a:rPr>
              <a:t>() function will add this string “ world ” to “ hello ”.</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dirty="0" smtClean="0">
                <a:solidFill>
                  <a:srgbClr val="365F91"/>
                </a:solidFill>
                <a:latin typeface="Cambria"/>
              </a:rPr>
              <a:t>gets() and puts() function</a:t>
            </a:r>
          </a:p>
        </p:txBody>
      </p:sp>
      <p:sp>
        <p:nvSpPr>
          <p:cNvPr id="3" name="Text Placeholder 2"/>
          <p:cNvSpPr>
            <a:spLocks noGrp="1"/>
          </p:cNvSpPr>
          <p:nvPr>
            <p:ph type="body" idx="1"/>
          </p:nvPr>
        </p:nvSpPr>
        <p:spPr>
          <a:xfrm>
            <a:off x="-228600" y="1600200"/>
            <a:ext cx="8915400" cy="4525963"/>
          </a:xfrm>
        </p:spPr>
        <p:txBody>
          <a:bodyPr/>
          <a:lstStyle/>
          <a:p>
            <a:pPr marR="0" lvl="0" rtl="0"/>
            <a:r>
              <a:rPr lang="en-US" b="1" baseline="0" dirty="0" smtClean="0">
                <a:solidFill>
                  <a:srgbClr val="4F81BD"/>
                </a:solidFill>
                <a:latin typeface="Cambria"/>
              </a:rPr>
              <a:t>Situation :</a:t>
            </a:r>
          </a:p>
          <a:p>
            <a:pPr marR="0" lvl="1" algn="just" rtl="0">
              <a:buFont typeface="Wingdings" pitchFamily="2" charset="2"/>
              <a:buChar char="Ø"/>
            </a:pPr>
            <a:r>
              <a:rPr lang="en-US" b="1" baseline="0" dirty="0" smtClean="0">
                <a:solidFill>
                  <a:srgbClr val="4F81BD"/>
                </a:solidFill>
                <a:latin typeface="Cambria"/>
              </a:rPr>
              <a:t>Suppose we have list of students. And we need to enter their name. As normal no. of character in each name varies. So we can’t use looping for storing value in string because looping runs till string size.</a:t>
            </a:r>
          </a:p>
          <a:p>
            <a:pPr marR="0" lvl="1" algn="just" rtl="0">
              <a:buFont typeface="Wingdings" pitchFamily="2" charset="2"/>
              <a:buChar char="Ø"/>
            </a:pPr>
            <a:r>
              <a:rPr lang="en-US" b="1" baseline="0" dirty="0" smtClean="0">
                <a:solidFill>
                  <a:srgbClr val="4F81BD"/>
                </a:solidFill>
                <a:latin typeface="Cambria"/>
              </a:rPr>
              <a:t>Similarly we want to enter space among different words, using normal input/ output function ( </a:t>
            </a:r>
            <a:r>
              <a:rPr lang="en-US" b="1" baseline="0" dirty="0" err="1" smtClean="0">
                <a:solidFill>
                  <a:srgbClr val="4F81BD"/>
                </a:solidFill>
                <a:latin typeface="Cambria"/>
              </a:rPr>
              <a:t>e.g</a:t>
            </a:r>
            <a:r>
              <a:rPr lang="en-US" b="1" baseline="0" dirty="0" smtClean="0">
                <a:solidFill>
                  <a:srgbClr val="4F81BD"/>
                </a:solidFill>
                <a:latin typeface="Cambria"/>
              </a:rPr>
              <a:t> </a:t>
            </a:r>
            <a:r>
              <a:rPr lang="en-US" b="1" baseline="0" dirty="0" err="1" smtClean="0">
                <a:solidFill>
                  <a:srgbClr val="4F81BD"/>
                </a:solidFill>
                <a:latin typeface="Cambria"/>
              </a:rPr>
              <a:t>printf</a:t>
            </a:r>
            <a:r>
              <a:rPr lang="en-US" b="1" baseline="0" dirty="0" smtClean="0">
                <a:solidFill>
                  <a:srgbClr val="4F81BD"/>
                </a:solidFill>
                <a:latin typeface="Cambria"/>
              </a:rPr>
              <a:t>, </a:t>
            </a:r>
            <a:r>
              <a:rPr lang="en-US" b="1" baseline="0" dirty="0" err="1" smtClean="0">
                <a:solidFill>
                  <a:srgbClr val="4F81BD"/>
                </a:solidFill>
                <a:latin typeface="Cambria"/>
              </a:rPr>
              <a:t>scanf</a:t>
            </a:r>
            <a:r>
              <a:rPr lang="en-US" b="1" baseline="0" dirty="0" smtClean="0">
                <a:solidFill>
                  <a:srgbClr val="4F81BD"/>
                </a:solidFill>
                <a:latin typeface="Cambria"/>
              </a:rPr>
              <a:t> ) its not possible.</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dirty="0" smtClean="0">
                <a:solidFill>
                  <a:srgbClr val="365F91"/>
                </a:solidFill>
                <a:latin typeface="Cambria"/>
              </a:rPr>
              <a:t>Continue…</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0" y="1600200"/>
            <a:ext cx="8686800" cy="4525963"/>
          </a:xfrm>
        </p:spPr>
        <p:txBody>
          <a:bodyPr/>
          <a:lstStyle/>
          <a:p>
            <a:pPr marR="0" lvl="1" algn="just" rtl="0">
              <a:buFont typeface="Wingdings" pitchFamily="2" charset="2"/>
              <a:buChar char="Ø"/>
            </a:pPr>
            <a:r>
              <a:rPr lang="en-US" b="1" baseline="0" dirty="0" smtClean="0">
                <a:solidFill>
                  <a:srgbClr val="4F81BD"/>
                </a:solidFill>
                <a:latin typeface="Cambria"/>
              </a:rPr>
              <a:t>If we want to enter a </a:t>
            </a:r>
            <a:r>
              <a:rPr lang="en-US" b="1" baseline="0" dirty="0" err="1" smtClean="0">
                <a:solidFill>
                  <a:srgbClr val="4F81BD"/>
                </a:solidFill>
                <a:latin typeface="Cambria"/>
              </a:rPr>
              <a:t>paragrapgh</a:t>
            </a:r>
            <a:r>
              <a:rPr lang="en-US" b="1" baseline="0" dirty="0" smtClean="0">
                <a:solidFill>
                  <a:srgbClr val="4F81BD"/>
                </a:solidFill>
                <a:latin typeface="Cambria"/>
              </a:rPr>
              <a:t> where we don’t know expected word length then formatted input function we can’t use.</a:t>
            </a:r>
          </a:p>
          <a:p>
            <a:pPr marR="0" lvl="1" algn="just" rtl="0">
              <a:buFont typeface="Wingdings" pitchFamily="2" charset="2"/>
              <a:buChar char="Ø"/>
            </a:pPr>
            <a:r>
              <a:rPr lang="en-US" b="1" baseline="0" dirty="0" smtClean="0">
                <a:solidFill>
                  <a:srgbClr val="4F81BD"/>
                </a:solidFill>
                <a:latin typeface="Cambria"/>
              </a:rPr>
              <a:t>For this purpose we have following function.</a:t>
            </a:r>
          </a:p>
          <a:p>
            <a:pPr marR="0" lvl="2" algn="just" rtl="0">
              <a:buFont typeface="Wingdings" pitchFamily="2" charset="2"/>
              <a:buChar char="Ø"/>
            </a:pPr>
            <a:r>
              <a:rPr lang="en-US" b="1" i="1" baseline="0" dirty="0" smtClean="0">
                <a:solidFill>
                  <a:srgbClr val="4F81BD"/>
                </a:solidFill>
                <a:latin typeface="Cambria"/>
              </a:rPr>
              <a:t>gets() for input</a:t>
            </a:r>
          </a:p>
          <a:p>
            <a:pPr marR="0" lvl="2" algn="just" rtl="0">
              <a:buFont typeface="Wingdings" pitchFamily="2" charset="2"/>
              <a:buChar char="Ø"/>
            </a:pPr>
            <a:r>
              <a:rPr lang="en-US" b="1" i="1" baseline="0" dirty="0" smtClean="0">
                <a:solidFill>
                  <a:srgbClr val="4F81BD"/>
                </a:solidFill>
                <a:latin typeface="Cambria"/>
              </a:rPr>
              <a:t>puts() for output</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gets() function : </a:t>
            </a:r>
          </a:p>
        </p:txBody>
      </p:sp>
      <p:sp>
        <p:nvSpPr>
          <p:cNvPr id="3" name="Text Placeholder 2"/>
          <p:cNvSpPr>
            <a:spLocks noGrp="1"/>
          </p:cNvSpPr>
          <p:nvPr>
            <p:ph type="body" idx="1"/>
          </p:nvPr>
        </p:nvSpPr>
        <p:spPr/>
        <p:txBody>
          <a:bodyPr/>
          <a:lstStyle/>
          <a:p>
            <a:pPr marR="0" lvl="0" algn="just" rtl="0">
              <a:buNone/>
            </a:pPr>
            <a:r>
              <a:rPr lang="en-US" b="1" baseline="0" dirty="0" smtClean="0">
                <a:solidFill>
                  <a:srgbClr val="4F81BD"/>
                </a:solidFill>
                <a:latin typeface="Cambria"/>
              </a:rPr>
              <a:t>	We use this function for storing a string value in memory, using this we don’t need to use looping and this function </a:t>
            </a:r>
            <a:r>
              <a:rPr lang="en-US" b="1" baseline="0" dirty="0" err="1" smtClean="0">
                <a:solidFill>
                  <a:srgbClr val="4F81BD"/>
                </a:solidFill>
                <a:latin typeface="Cambria"/>
              </a:rPr>
              <a:t>does’nt</a:t>
            </a:r>
            <a:r>
              <a:rPr lang="en-US" b="1" baseline="0" dirty="0" smtClean="0">
                <a:solidFill>
                  <a:srgbClr val="4F81BD"/>
                </a:solidFill>
                <a:latin typeface="Cambria"/>
              </a:rPr>
              <a:t> bound us about memory.</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puts() function :</a:t>
            </a:r>
          </a:p>
        </p:txBody>
      </p:sp>
      <p:sp>
        <p:nvSpPr>
          <p:cNvPr id="3" name="Text Placeholder 2"/>
          <p:cNvSpPr>
            <a:spLocks noGrp="1"/>
          </p:cNvSpPr>
          <p:nvPr>
            <p:ph type="body" idx="1"/>
          </p:nvPr>
        </p:nvSpPr>
        <p:spPr/>
        <p:txBody>
          <a:bodyPr/>
          <a:lstStyle/>
          <a:p>
            <a:pPr marR="0" lvl="0" algn="just" rtl="0">
              <a:buNone/>
            </a:pPr>
            <a:r>
              <a:rPr lang="en-US" b="1" baseline="0" dirty="0" smtClean="0">
                <a:solidFill>
                  <a:srgbClr val="4F81BD"/>
                </a:solidFill>
                <a:latin typeface="Cambria"/>
              </a:rPr>
              <a:t>	It is used to display string on standard output devise, This function automatically insert a newline character at the end of each string it displays.</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pPr marR="0" rtl="0"/>
            <a:r>
              <a:rPr lang="en-US" sz="3600" b="1" baseline="0" dirty="0" smtClean="0">
                <a:solidFill>
                  <a:srgbClr val="365F91"/>
                </a:solidFill>
                <a:latin typeface="Cambria"/>
              </a:rPr>
              <a:t>ASCII and Unicode</a:t>
            </a:r>
            <a:endParaRPr lang="en-US" sz="3600" b="1" baseline="0" dirty="0" smtClean="0">
              <a:solidFill>
                <a:srgbClr val="365F91"/>
              </a:solidFill>
              <a:latin typeface="Times New Roman"/>
            </a:endParaRPr>
          </a:p>
        </p:txBody>
      </p:sp>
      <p:sp>
        <p:nvSpPr>
          <p:cNvPr id="3" name="Text Placeholder 2"/>
          <p:cNvSpPr>
            <a:spLocks noGrp="1"/>
          </p:cNvSpPr>
          <p:nvPr>
            <p:ph type="body" idx="1"/>
          </p:nvPr>
        </p:nvSpPr>
        <p:spPr>
          <a:xfrm>
            <a:off x="152400" y="838200"/>
            <a:ext cx="8534400" cy="5791200"/>
          </a:xfrm>
        </p:spPr>
        <p:txBody>
          <a:bodyPr>
            <a:normAutofit fontScale="92500" lnSpcReduction="10000"/>
          </a:bodyPr>
          <a:lstStyle/>
          <a:p>
            <a:pPr marR="0" lvl="0" algn="ctr" rtl="0">
              <a:buNone/>
            </a:pPr>
            <a:r>
              <a:rPr lang="en-US" b="1" baseline="0" dirty="0" smtClean="0">
                <a:solidFill>
                  <a:srgbClr val="4F81BD"/>
                </a:solidFill>
                <a:latin typeface="Cambria"/>
              </a:rPr>
              <a:t>ASCII</a:t>
            </a:r>
            <a:endParaRPr lang="en-US" baseline="0" dirty="0" smtClean="0">
              <a:solidFill>
                <a:schemeClr val="tx2">
                  <a:lumMod val="60000"/>
                  <a:lumOff val="40000"/>
                </a:schemeClr>
              </a:solidFill>
            </a:endParaRPr>
          </a:p>
          <a:p>
            <a:pPr lvl="1" algn="just">
              <a:buFont typeface="Wingdings" pitchFamily="2" charset="2"/>
              <a:buChar char="Ø"/>
            </a:pPr>
            <a:r>
              <a:rPr lang="en-US" b="1" dirty="0" smtClean="0">
                <a:solidFill>
                  <a:schemeClr val="accent1"/>
                </a:solidFill>
              </a:rPr>
              <a:t>American standard code for Information Interchange.  is a character encoding standard (the Internet Assigned Numbers Authority (IANA) prefers the name US-ASCII[2]). ASCII codes represent text in computers, telecommunications equipment, and other devices. Most modern character-encoding schemes are based on ASCII, although they support many additional characters</a:t>
            </a:r>
            <a:r>
              <a:rPr lang="en-US" b="1" u="sng" baseline="0" dirty="0" smtClean="0">
                <a:solidFill>
                  <a:schemeClr val="accent1"/>
                </a:solidFill>
                <a:hlinkClick r:id="rId2" tooltip="Telecommunications equipment"/>
              </a:rPr>
              <a:t>.</a:t>
            </a:r>
          </a:p>
          <a:p>
            <a:pPr lvl="2">
              <a:buFont typeface="Wingdings" pitchFamily="2" charset="2"/>
              <a:buChar char="Ø"/>
            </a:pPr>
            <a:r>
              <a:rPr lang="en-US" b="1" i="1" baseline="0" dirty="0" smtClean="0">
                <a:solidFill>
                  <a:schemeClr val="accent1"/>
                </a:solidFill>
              </a:rPr>
              <a:t>Alphanumeric character</a:t>
            </a:r>
          </a:p>
          <a:p>
            <a:pPr lvl="2">
              <a:buFont typeface="Wingdings" pitchFamily="2" charset="2"/>
              <a:buChar char="Ø"/>
            </a:pPr>
            <a:r>
              <a:rPr lang="en-US" b="1" i="1" baseline="0" dirty="0" smtClean="0">
                <a:solidFill>
                  <a:schemeClr val="accent1"/>
                </a:solidFill>
              </a:rPr>
              <a:t>7 bits</a:t>
            </a:r>
          </a:p>
          <a:p>
            <a:pPr lvl="2">
              <a:buFont typeface="Wingdings" pitchFamily="2" charset="2"/>
              <a:buChar char="Ø"/>
            </a:pPr>
            <a:r>
              <a:rPr lang="en-US" b="1" i="1" baseline="0" dirty="0" smtClean="0">
                <a:solidFill>
                  <a:schemeClr val="accent1"/>
                </a:solidFill>
              </a:rPr>
              <a:t>Total 128 characters</a:t>
            </a:r>
          </a:p>
          <a:p>
            <a:pPr lvl="1">
              <a:buFont typeface="Wingdings" pitchFamily="2" charset="2"/>
              <a:buChar char="Ø"/>
            </a:pPr>
            <a:r>
              <a:rPr lang="en-US" b="1" baseline="0" dirty="0" smtClean="0">
                <a:solidFill>
                  <a:schemeClr val="accent1"/>
                </a:solidFill>
              </a:rPr>
              <a:t>Problem : cannot be used to represent all characters.(Other </a:t>
            </a:r>
            <a:r>
              <a:rPr lang="en-US" b="1" baseline="0" dirty="0" err="1" smtClean="0">
                <a:solidFill>
                  <a:schemeClr val="accent1"/>
                </a:solidFill>
              </a:rPr>
              <a:t>lang</a:t>
            </a:r>
            <a:r>
              <a:rPr lang="en-US" b="1" baseline="0" dirty="0" smtClean="0">
                <a:solidFill>
                  <a:schemeClr val="accent1"/>
                </a:solidFill>
              </a:rPr>
              <a:t> except </a:t>
            </a:r>
            <a:r>
              <a:rPr lang="en-US" b="1" baseline="0" dirty="0" err="1" smtClean="0">
                <a:solidFill>
                  <a:schemeClr val="accent1"/>
                </a:solidFill>
              </a:rPr>
              <a:t>english</a:t>
            </a:r>
            <a:r>
              <a:rPr lang="en-US" b="1" baseline="0" dirty="0" smtClean="0">
                <a:solidFill>
                  <a:schemeClr val="accent1"/>
                </a:solidFill>
              </a:rPr>
              <a:t>)</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pPr marR="0" rtl="0"/>
            <a:r>
              <a:rPr lang="en-US" b="1" baseline="0" dirty="0" smtClean="0">
                <a:solidFill>
                  <a:srgbClr val="365F91"/>
                </a:solidFill>
                <a:latin typeface="Cambria"/>
              </a:rPr>
              <a:t>UNICODE</a:t>
            </a:r>
          </a:p>
        </p:txBody>
      </p:sp>
      <p:sp>
        <p:nvSpPr>
          <p:cNvPr id="3" name="Text Placeholder 2"/>
          <p:cNvSpPr>
            <a:spLocks noGrp="1"/>
          </p:cNvSpPr>
          <p:nvPr>
            <p:ph type="body" idx="1"/>
          </p:nvPr>
        </p:nvSpPr>
        <p:spPr>
          <a:xfrm>
            <a:off x="0" y="838200"/>
            <a:ext cx="8839200" cy="5867400"/>
          </a:xfrm>
        </p:spPr>
        <p:txBody>
          <a:bodyPr>
            <a:normAutofit fontScale="77500" lnSpcReduction="20000"/>
          </a:bodyPr>
          <a:lstStyle/>
          <a:p>
            <a:pPr lvl="1" algn="just">
              <a:buFont typeface="Wingdings" pitchFamily="2" charset="2"/>
              <a:buChar char="Ø"/>
            </a:pPr>
            <a:r>
              <a:rPr lang="en-US" b="1" dirty="0" smtClean="0">
                <a:solidFill>
                  <a:srgbClr val="4F81BD"/>
                </a:solidFill>
                <a:latin typeface="Cambria"/>
              </a:rPr>
              <a:t>Unicode provides a unique number for every character, no matter what the platform, no matter what the program, no matter what the language. The Unicode Standard has been adopted by such industry leaders as Apple, HP, IBM, </a:t>
            </a:r>
            <a:r>
              <a:rPr lang="en-US" b="1" dirty="0" err="1" smtClean="0">
                <a:solidFill>
                  <a:srgbClr val="4F81BD"/>
                </a:solidFill>
                <a:latin typeface="Cambria"/>
              </a:rPr>
              <a:t>JustSystems</a:t>
            </a:r>
            <a:r>
              <a:rPr lang="en-US" b="1" dirty="0" smtClean="0">
                <a:solidFill>
                  <a:srgbClr val="4F81BD"/>
                </a:solidFill>
                <a:latin typeface="Cambria"/>
              </a:rPr>
              <a:t>, Microsoft, Oracle, SAP, Sun, Sybase, Unisys and many others. Unicode is required by modern standards such as XML, Java, </a:t>
            </a:r>
            <a:r>
              <a:rPr lang="en-US" b="1" dirty="0" err="1" smtClean="0">
                <a:solidFill>
                  <a:srgbClr val="4F81BD"/>
                </a:solidFill>
                <a:latin typeface="Cambria"/>
              </a:rPr>
              <a:t>ECMAScript</a:t>
            </a:r>
            <a:r>
              <a:rPr lang="en-US" b="1" dirty="0" smtClean="0">
                <a:solidFill>
                  <a:srgbClr val="4F81BD"/>
                </a:solidFill>
                <a:latin typeface="Cambria"/>
              </a:rPr>
              <a:t> (JavaScript), LDAP, CORBA 3.0, WML, etc., and is the official way to implement ISO/IEC 10646. It is supported in many operating systems, all modern browsers, and many other products. The emergence of the Unicode Standard, and the availability of tools supporting it, are among the most significant recent global software technology trends.</a:t>
            </a:r>
            <a:endParaRPr lang="en-US" b="1" baseline="0" dirty="0" smtClean="0">
              <a:solidFill>
                <a:srgbClr val="4F81BD"/>
              </a:solidFill>
              <a:latin typeface="Cambria"/>
            </a:endParaRPr>
          </a:p>
          <a:p>
            <a:pPr marR="0" lvl="1" algn="just" rtl="0">
              <a:buFont typeface="Wingdings" pitchFamily="2" charset="2"/>
              <a:buChar char="Ø"/>
            </a:pPr>
            <a:r>
              <a:rPr lang="en-US" b="1" baseline="0" dirty="0" smtClean="0">
                <a:solidFill>
                  <a:srgbClr val="4F81BD"/>
                </a:solidFill>
                <a:latin typeface="Cambria"/>
              </a:rPr>
              <a:t>Unicode Consortium</a:t>
            </a:r>
          </a:p>
          <a:p>
            <a:pPr marR="0" lvl="1" algn="just" rtl="0">
              <a:buFont typeface="Wingdings" pitchFamily="2" charset="2"/>
              <a:buChar char="Ø"/>
            </a:pPr>
            <a:r>
              <a:rPr lang="en-US" b="1" baseline="0" dirty="0" smtClean="0">
                <a:solidFill>
                  <a:srgbClr val="4F81BD"/>
                </a:solidFill>
                <a:latin typeface="Cambria"/>
              </a:rPr>
              <a:t>Represent all language</a:t>
            </a:r>
          </a:p>
          <a:p>
            <a:pPr marR="0" lvl="1" algn="just" rtl="0">
              <a:buFont typeface="Wingdings" pitchFamily="2" charset="2"/>
              <a:buChar char="Ø"/>
            </a:pPr>
            <a:r>
              <a:rPr lang="en-US" b="1" baseline="0" dirty="0" smtClean="0">
                <a:solidFill>
                  <a:srgbClr val="4F81BD"/>
                </a:solidFill>
                <a:latin typeface="Cambria"/>
              </a:rPr>
              <a:t>16 bits</a:t>
            </a:r>
          </a:p>
          <a:p>
            <a:pPr marR="0" lvl="1" algn="just" rtl="0">
              <a:buFont typeface="Wingdings" pitchFamily="2" charset="2"/>
              <a:buChar char="Ø"/>
            </a:pPr>
            <a:r>
              <a:rPr lang="en-US" b="1" baseline="0" dirty="0" smtClean="0">
                <a:solidFill>
                  <a:srgbClr val="4F81BD"/>
                </a:solidFill>
                <a:latin typeface="Cambria"/>
              </a:rPr>
              <a:t>65,000</a:t>
            </a:r>
          </a:p>
          <a:p>
            <a:pPr marR="0" lvl="1" algn="just" rtl="0">
              <a:buFont typeface="Wingdings" pitchFamily="2" charset="2"/>
              <a:buChar char="Ø"/>
            </a:pPr>
            <a:r>
              <a:rPr lang="en-US" b="1" baseline="0" dirty="0" smtClean="0">
                <a:solidFill>
                  <a:srgbClr val="4F81BD"/>
                </a:solidFill>
                <a:latin typeface="Cambria"/>
              </a:rPr>
              <a:t>Used to represent all characters</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Which one is better to use</a:t>
            </a:r>
          </a:p>
        </p:txBody>
      </p:sp>
      <p:sp>
        <p:nvSpPr>
          <p:cNvPr id="3" name="Text Placeholder 2"/>
          <p:cNvSpPr>
            <a:spLocks noGrp="1"/>
          </p:cNvSpPr>
          <p:nvPr>
            <p:ph type="body" idx="1"/>
          </p:nvPr>
        </p:nvSpPr>
        <p:spPr/>
        <p:txBody>
          <a:bodyPr/>
          <a:lstStyle/>
          <a:p>
            <a:pPr marR="0" lvl="1" rtl="0"/>
            <a:r>
              <a:rPr lang="en-US" b="1" baseline="0" smtClean="0">
                <a:solidFill>
                  <a:srgbClr val="4F81BD"/>
                </a:solidFill>
                <a:latin typeface="Cambria"/>
              </a:rPr>
              <a:t>Unicode not efficient due to storage and transmission.</a:t>
            </a:r>
          </a:p>
          <a:p>
            <a:pPr marR="0" lvl="1" rtl="0"/>
            <a:r>
              <a:rPr lang="en-US" b="1" baseline="0" smtClean="0">
                <a:solidFill>
                  <a:srgbClr val="4F81BD"/>
                </a:solidFill>
                <a:latin typeface="Cambria"/>
              </a:rPr>
              <a:t>Java mostly uses Ascii and uses Unicode for variable names, comments etc.</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381000"/>
          </a:xfrm>
        </p:spPr>
        <p:txBody>
          <a:bodyPr>
            <a:normAutofit fontScale="90000"/>
          </a:bodyPr>
          <a:lstStyle/>
          <a:p>
            <a:pPr marR="0" rtl="0"/>
            <a:r>
              <a:rPr lang="en-US" b="1" baseline="0" dirty="0" smtClean="0">
                <a:solidFill>
                  <a:srgbClr val="365F91"/>
                </a:solidFill>
                <a:latin typeface="Cambria"/>
              </a:rPr>
              <a:t>Pointer</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457200" y="838200"/>
            <a:ext cx="8229600" cy="6019800"/>
          </a:xfrm>
        </p:spPr>
        <p:txBody>
          <a:bodyPr>
            <a:normAutofit/>
          </a:bodyPr>
          <a:lstStyle/>
          <a:p>
            <a:pPr marR="0" lvl="0" algn="ctr" rtl="0">
              <a:buNone/>
            </a:pPr>
            <a:r>
              <a:rPr lang="en-US" b="1" baseline="0" dirty="0" smtClean="0">
                <a:solidFill>
                  <a:srgbClr val="4F81BD"/>
                </a:solidFill>
                <a:latin typeface="Cambria"/>
              </a:rPr>
              <a:t>Basic of Pointer</a:t>
            </a:r>
          </a:p>
          <a:p>
            <a:pPr marR="0" lvl="0" rtl="0">
              <a:buNone/>
            </a:pPr>
            <a:endParaRPr lang="en-US" b="1" baseline="0" dirty="0" smtClean="0">
              <a:solidFill>
                <a:srgbClr val="4F81BD"/>
              </a:solidFill>
              <a:latin typeface="Cambria"/>
            </a:endParaRPr>
          </a:p>
          <a:p>
            <a:pPr marR="0" lvl="2" rtl="0"/>
            <a:endParaRPr lang="en-US" b="1" i="1" baseline="0" dirty="0" smtClean="0">
              <a:solidFill>
                <a:srgbClr val="4F81BD"/>
              </a:solidFill>
              <a:latin typeface="Cambria"/>
            </a:endParaRPr>
          </a:p>
          <a:p>
            <a:pPr marR="0" lvl="2" rtl="0"/>
            <a:endParaRPr lang="en-US" b="1" i="1" dirty="0" smtClean="0">
              <a:solidFill>
                <a:srgbClr val="4F81BD"/>
              </a:solidFill>
              <a:latin typeface="Cambria"/>
            </a:endParaRPr>
          </a:p>
          <a:p>
            <a:pPr marR="0" lvl="2" rtl="0"/>
            <a:endParaRPr lang="en-US" b="1" i="1" baseline="0" dirty="0" smtClean="0">
              <a:solidFill>
                <a:srgbClr val="4F81BD"/>
              </a:solidFill>
              <a:latin typeface="Cambria"/>
            </a:endParaRPr>
          </a:p>
          <a:p>
            <a:pPr marR="0" lvl="2" rtl="0"/>
            <a:endParaRPr lang="en-US" b="1" i="1" dirty="0" smtClean="0">
              <a:solidFill>
                <a:srgbClr val="4F81BD"/>
              </a:solidFill>
              <a:latin typeface="Cambria"/>
            </a:endParaRPr>
          </a:p>
          <a:p>
            <a:pPr marR="0" lvl="2" rtl="0"/>
            <a:endParaRPr lang="en-US" b="1" i="1" baseline="0" dirty="0" smtClean="0">
              <a:solidFill>
                <a:srgbClr val="4F81BD"/>
              </a:solidFill>
              <a:latin typeface="Cambria"/>
            </a:endParaRPr>
          </a:p>
          <a:p>
            <a:pPr marR="0" lvl="2" rtl="0"/>
            <a:endParaRPr lang="en-US" b="1" i="1" dirty="0" smtClean="0">
              <a:solidFill>
                <a:srgbClr val="4F81BD"/>
              </a:solidFill>
              <a:latin typeface="Cambria"/>
            </a:endParaRPr>
          </a:p>
          <a:p>
            <a:pPr marR="0" lvl="2" rtl="0"/>
            <a:endParaRPr lang="en-US" b="1" i="1" baseline="0" dirty="0" smtClean="0">
              <a:solidFill>
                <a:srgbClr val="4F81BD"/>
              </a:solidFill>
              <a:latin typeface="Cambria"/>
            </a:endParaRPr>
          </a:p>
          <a:p>
            <a:pPr marR="0" lvl="2" rtl="0">
              <a:buNone/>
            </a:pPr>
            <a:r>
              <a:rPr lang="en-US" b="1" i="1" baseline="0" dirty="0" smtClean="0">
                <a:solidFill>
                  <a:srgbClr val="4F81BD"/>
                </a:solidFill>
                <a:latin typeface="Cambria"/>
              </a:rPr>
              <a:t>Where 		</a:t>
            </a:r>
          </a:p>
          <a:p>
            <a:pPr marR="0" lvl="2" rtl="0">
              <a:buFont typeface="Wingdings" pitchFamily="2" charset="2"/>
              <a:buChar char="Ø"/>
            </a:pPr>
            <a:r>
              <a:rPr lang="en-US" b="1" i="1" baseline="0" dirty="0" smtClean="0">
                <a:solidFill>
                  <a:srgbClr val="4F81BD"/>
                </a:solidFill>
                <a:latin typeface="Cambria"/>
              </a:rPr>
              <a:t> </a:t>
            </a:r>
            <a:r>
              <a:rPr lang="en-US" b="1" i="1" baseline="0" dirty="0" err="1" smtClean="0">
                <a:solidFill>
                  <a:srgbClr val="4F81BD"/>
                </a:solidFill>
                <a:latin typeface="Cambria"/>
              </a:rPr>
              <a:t>i</a:t>
            </a:r>
            <a:r>
              <a:rPr lang="en-US" b="1" i="1" baseline="0" dirty="0" smtClean="0">
                <a:solidFill>
                  <a:srgbClr val="4F81BD"/>
                </a:solidFill>
                <a:latin typeface="Cambria"/>
              </a:rPr>
              <a:t> is an ordinary variable</a:t>
            </a:r>
          </a:p>
          <a:p>
            <a:pPr marR="0" lvl="2" rtl="0">
              <a:buFont typeface="Wingdings" pitchFamily="2" charset="2"/>
              <a:buChar char="Ø"/>
            </a:pPr>
            <a:r>
              <a:rPr lang="en-US" b="1" i="1" baseline="0" dirty="0" smtClean="0">
                <a:solidFill>
                  <a:srgbClr val="4F81BD"/>
                </a:solidFill>
                <a:latin typeface="Cambria"/>
              </a:rPr>
              <a:t> j is a pointer variable</a:t>
            </a:r>
          </a:p>
        </p:txBody>
      </p:sp>
      <p:pic>
        <p:nvPicPr>
          <p:cNvPr id="4" name="Picture 3" descr="C:\Users\mohit\Desktop\Pointer-Concept-in-C-Programming-Language.jpg"/>
          <p:cNvPicPr/>
          <p:nvPr/>
        </p:nvPicPr>
        <p:blipFill>
          <a:blip r:embed="rId2" cstate="print"/>
          <a:srcRect/>
          <a:stretch>
            <a:fillRect/>
          </a:stretch>
        </p:blipFill>
        <p:spPr bwMode="auto">
          <a:xfrm>
            <a:off x="381000" y="1600200"/>
            <a:ext cx="8382000" cy="3200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dirty="0" smtClean="0">
                <a:solidFill>
                  <a:srgbClr val="365F91"/>
                </a:solidFill>
                <a:latin typeface="Cambria"/>
              </a:rPr>
              <a:t>continue….</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228600" y="1828800"/>
            <a:ext cx="8915400" cy="4297363"/>
          </a:xfrm>
        </p:spPr>
        <p:txBody>
          <a:bodyPr>
            <a:normAutofit/>
          </a:bodyPr>
          <a:lstStyle/>
          <a:p>
            <a:pPr lvl="2" algn="just">
              <a:buFont typeface="Wingdings" pitchFamily="2" charset="2"/>
              <a:buChar char="Ø"/>
            </a:pPr>
            <a:r>
              <a:rPr lang="en-US" b="1" i="1" baseline="0" dirty="0" smtClean="0">
                <a:solidFill>
                  <a:srgbClr val="4F81BD"/>
                </a:solidFill>
                <a:latin typeface="Cambria"/>
              </a:rPr>
              <a:t>In the basis of DOS Base Architecture when C Program is RUN it takes 64 Kilobytes memory in </a:t>
            </a:r>
            <a:r>
              <a:rPr lang="en-US" b="1" i="1" baseline="0" dirty="0" smtClean="0">
                <a:solidFill>
                  <a:schemeClr val="accent1"/>
                </a:solidFill>
                <a:latin typeface="Cambria" pitchFamily="18" charset="0"/>
              </a:rPr>
              <a:t>RAM.</a:t>
            </a:r>
          </a:p>
          <a:p>
            <a:pPr lvl="2">
              <a:buFont typeface="Wingdings" pitchFamily="2" charset="2"/>
              <a:buChar char="Ø"/>
            </a:pPr>
            <a:r>
              <a:rPr lang="sv-SE" b="1" i="1" baseline="0" dirty="0" smtClean="0">
                <a:solidFill>
                  <a:schemeClr val="accent1"/>
                </a:solidFill>
                <a:latin typeface="Cambria" pitchFamily="18" charset="0"/>
              </a:rPr>
              <a:t>64Kb = 65536 bytes </a:t>
            </a:r>
            <a:r>
              <a:rPr lang="sv-SE" b="1" i="1" dirty="0" smtClean="0">
                <a:solidFill>
                  <a:schemeClr val="accent1"/>
                </a:solidFill>
                <a:latin typeface="Cambria" pitchFamily="18" charset="0"/>
              </a:rPr>
              <a:t>	</a:t>
            </a:r>
            <a:r>
              <a:rPr lang="sv-SE" b="1" i="1" baseline="0" dirty="0" smtClean="0">
                <a:solidFill>
                  <a:schemeClr val="accent1"/>
                </a:solidFill>
                <a:latin typeface="Cambria" pitchFamily="18" charset="0"/>
              </a:rPr>
              <a:t>( 64 * 1024 = 65536 ) </a:t>
            </a:r>
          </a:p>
          <a:p>
            <a:pPr lvl="2">
              <a:buFont typeface="Wingdings" pitchFamily="2" charset="2"/>
              <a:buChar char="Ø"/>
            </a:pPr>
            <a:r>
              <a:rPr lang="en-US" b="1" i="1" baseline="0" dirty="0" smtClean="0">
                <a:solidFill>
                  <a:schemeClr val="accent1"/>
                </a:solidFill>
                <a:latin typeface="Cambria" pitchFamily="18" charset="0"/>
              </a:rPr>
              <a:t>This 65536 bytes assign no. 0 to 65535.</a:t>
            </a:r>
          </a:p>
          <a:p>
            <a:pPr lvl="2">
              <a:buFont typeface="Wingdings" pitchFamily="2" charset="2"/>
              <a:buChar char="Ø"/>
            </a:pPr>
            <a:r>
              <a:rPr lang="en-US" b="1" dirty="0" smtClean="0">
                <a:solidFill>
                  <a:schemeClr val="accent1"/>
                </a:solidFill>
                <a:latin typeface="Cambria" pitchFamily="18" charset="0"/>
              </a:rPr>
              <a:t>This assign value is called : sequence no. or address (logical address</a:t>
            </a:r>
            <a:endParaRPr lang="en-US" b="1" i="1" baseline="0" dirty="0" smtClean="0">
              <a:solidFill>
                <a:schemeClr val="accent1"/>
              </a:solidFill>
              <a:latin typeface="Cambria" pitchFamily="18" charset="0"/>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mohit\Downloads\ram.jpg"/>
          <p:cNvPicPr/>
          <p:nvPr/>
        </p:nvPicPr>
        <p:blipFill>
          <a:blip r:embed="rId2" cstate="print"/>
          <a:srcRect/>
          <a:stretch>
            <a:fillRect/>
          </a:stretch>
        </p:blipFill>
        <p:spPr bwMode="auto">
          <a:xfrm>
            <a:off x="381000" y="762000"/>
            <a:ext cx="8382000"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pPr marR="0" rtl="0"/>
            <a:r>
              <a:rPr lang="en-US" b="1" baseline="0" dirty="0" smtClean="0">
                <a:solidFill>
                  <a:srgbClr val="365F91"/>
                </a:solidFill>
                <a:latin typeface="Cambria"/>
              </a:rPr>
              <a:t>Continue…</a:t>
            </a:r>
          </a:p>
        </p:txBody>
      </p:sp>
      <p:sp>
        <p:nvSpPr>
          <p:cNvPr id="3" name="Text Placeholder 2"/>
          <p:cNvSpPr>
            <a:spLocks noGrp="1"/>
          </p:cNvSpPr>
          <p:nvPr>
            <p:ph type="body" idx="1"/>
          </p:nvPr>
        </p:nvSpPr>
        <p:spPr>
          <a:xfrm>
            <a:off x="457200" y="914400"/>
            <a:ext cx="8229600" cy="5211763"/>
          </a:xfrm>
        </p:spPr>
        <p:txBody>
          <a:bodyPr/>
          <a:lstStyle/>
          <a:p>
            <a:pPr algn="just">
              <a:buFont typeface="Wingdings" pitchFamily="2" charset="2"/>
              <a:buChar char="Ø"/>
            </a:pPr>
            <a:r>
              <a:rPr lang="en-US" b="1" baseline="0" dirty="0" smtClean="0">
                <a:solidFill>
                  <a:srgbClr val="4F81BD"/>
                </a:solidFill>
                <a:latin typeface="Cambria"/>
              </a:rPr>
              <a:t>Pointer is a variable that contains address of another variable of same data type.</a:t>
            </a:r>
            <a:r>
              <a:rPr lang="en-US" b="1" baseline="0" dirty="0" smtClean="0">
                <a:solidFill>
                  <a:srgbClr val="4F81BD"/>
                </a:solidFill>
                <a:latin typeface="Times New Roman"/>
              </a:rPr>
              <a:t>.</a:t>
            </a:r>
            <a:r>
              <a:rPr lang="en-US" b="1" baseline="0" dirty="0" smtClean="0">
                <a:solidFill>
                  <a:srgbClr val="4F81BD"/>
                </a:solidFill>
                <a:latin typeface="Cambria"/>
              </a:rPr>
              <a:t> ( </a:t>
            </a:r>
            <a:r>
              <a:rPr lang="en-US" b="1" baseline="0" dirty="0" err="1" smtClean="0">
                <a:solidFill>
                  <a:srgbClr val="4F81BD"/>
                </a:solidFill>
                <a:latin typeface="Cambria"/>
              </a:rPr>
              <a:t>e.g</a:t>
            </a:r>
            <a:r>
              <a:rPr lang="en-US" b="1" baseline="0" dirty="0" smtClean="0">
                <a:solidFill>
                  <a:srgbClr val="4F81BD"/>
                </a:solidFill>
                <a:latin typeface="Cambria"/>
              </a:rPr>
              <a:t> : </a:t>
            </a:r>
            <a:r>
              <a:rPr lang="en-US" b="1" baseline="0" dirty="0" err="1" smtClean="0">
                <a:solidFill>
                  <a:srgbClr val="4F81BD"/>
                </a:solidFill>
                <a:latin typeface="Cambria"/>
              </a:rPr>
              <a:t>ptr</a:t>
            </a:r>
            <a:r>
              <a:rPr lang="en-US" b="1" baseline="0" dirty="0" smtClean="0">
                <a:solidFill>
                  <a:srgbClr val="4F81BD"/>
                </a:solidFill>
                <a:latin typeface="Cambria"/>
              </a:rPr>
              <a:t>)</a:t>
            </a:r>
          </a:p>
          <a:p>
            <a:pPr algn="just">
              <a:buFont typeface="Wingdings" pitchFamily="2" charset="2"/>
              <a:buChar char="Ø"/>
            </a:pPr>
            <a:r>
              <a:rPr lang="en-US" b="1" baseline="0" dirty="0" smtClean="0">
                <a:solidFill>
                  <a:srgbClr val="4F81BD"/>
                </a:solidFill>
                <a:latin typeface="Cambria"/>
              </a:rPr>
              <a:t>Pointer Variable (</a:t>
            </a:r>
            <a:r>
              <a:rPr lang="en-US" b="1" baseline="0" dirty="0" err="1" smtClean="0">
                <a:solidFill>
                  <a:srgbClr val="4F81BD"/>
                </a:solidFill>
                <a:latin typeface="Cambria"/>
              </a:rPr>
              <a:t>e.g</a:t>
            </a:r>
            <a:r>
              <a:rPr lang="en-US" b="1" baseline="0" dirty="0" smtClean="0">
                <a:solidFill>
                  <a:srgbClr val="4F81BD"/>
                </a:solidFill>
                <a:latin typeface="Cambria"/>
              </a:rPr>
              <a:t> : *</a:t>
            </a:r>
            <a:r>
              <a:rPr lang="en-US" b="1" baseline="0" dirty="0" err="1" smtClean="0">
                <a:solidFill>
                  <a:srgbClr val="4F81BD"/>
                </a:solidFill>
                <a:latin typeface="Cambria"/>
              </a:rPr>
              <a:t>ptr</a:t>
            </a:r>
            <a:r>
              <a:rPr lang="en-US" b="1" baseline="0" dirty="0" smtClean="0">
                <a:solidFill>
                  <a:srgbClr val="4F81BD"/>
                </a:solidFill>
                <a:latin typeface="Cambria"/>
              </a:rPr>
              <a:t>)</a:t>
            </a:r>
          </a:p>
          <a:p>
            <a:pPr algn="just">
              <a:buFont typeface="Wingdings" pitchFamily="2" charset="2"/>
              <a:buChar char="Ø"/>
            </a:pPr>
            <a:r>
              <a:rPr lang="en-US" b="1" baseline="0" dirty="0" smtClean="0">
                <a:solidFill>
                  <a:srgbClr val="4F81BD"/>
                </a:solidFill>
                <a:latin typeface="Cambria"/>
              </a:rPr>
              <a:t>In C declaration if the variable name is preceded by asterisk or * then such a variable is called pointer variable.</a:t>
            </a: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pPr marR="0" rtl="0"/>
            <a:r>
              <a:rPr lang="en-US" b="1" baseline="0" dirty="0" smtClean="0">
                <a:solidFill>
                  <a:srgbClr val="365F91"/>
                </a:solidFill>
                <a:latin typeface="Cambria"/>
              </a:rPr>
              <a:t>Pointer Declaration : </a:t>
            </a:r>
          </a:p>
        </p:txBody>
      </p:sp>
      <p:sp>
        <p:nvSpPr>
          <p:cNvPr id="3" name="Text Placeholder 2"/>
          <p:cNvSpPr>
            <a:spLocks noGrp="1"/>
          </p:cNvSpPr>
          <p:nvPr>
            <p:ph type="body" idx="1"/>
          </p:nvPr>
        </p:nvSpPr>
        <p:spPr>
          <a:xfrm>
            <a:off x="0" y="838200"/>
            <a:ext cx="8915400" cy="5791200"/>
          </a:xfrm>
        </p:spPr>
        <p:txBody>
          <a:bodyPr>
            <a:normAutofit lnSpcReduction="10000"/>
          </a:bodyPr>
          <a:lstStyle/>
          <a:p>
            <a:pPr marR="0" lvl="0" rtl="0">
              <a:buNone/>
            </a:pPr>
            <a:r>
              <a:rPr lang="en-US" b="1" baseline="0" dirty="0" err="1" smtClean="0">
                <a:solidFill>
                  <a:srgbClr val="4F81BD"/>
                </a:solidFill>
                <a:latin typeface="Cambria"/>
              </a:rPr>
              <a:t>int</a:t>
            </a:r>
            <a:r>
              <a:rPr lang="en-US" b="1" baseline="0" dirty="0" smtClean="0">
                <a:solidFill>
                  <a:srgbClr val="4F81BD"/>
                </a:solidFill>
                <a:latin typeface="Cambria"/>
              </a:rPr>
              <a:t> *</a:t>
            </a:r>
            <a:r>
              <a:rPr lang="en-US" b="1" baseline="0" dirty="0" err="1" smtClean="0">
                <a:solidFill>
                  <a:srgbClr val="4F81BD"/>
                </a:solidFill>
                <a:latin typeface="Cambria"/>
              </a:rPr>
              <a:t>ptr</a:t>
            </a:r>
            <a:r>
              <a:rPr lang="en-US" b="1" baseline="0" dirty="0" smtClean="0">
                <a:solidFill>
                  <a:srgbClr val="4F81BD"/>
                </a:solidFill>
                <a:latin typeface="Cambria"/>
              </a:rPr>
              <a:t> ;</a:t>
            </a:r>
          </a:p>
          <a:p>
            <a:pPr marR="0" lvl="1" algn="just" rtl="0">
              <a:buNone/>
            </a:pPr>
            <a:r>
              <a:rPr lang="en-US" b="1" baseline="0" dirty="0" smtClean="0">
                <a:solidFill>
                  <a:srgbClr val="4F81BD"/>
                </a:solidFill>
                <a:latin typeface="Cambria"/>
              </a:rPr>
              <a:t>	Where </a:t>
            </a:r>
            <a:r>
              <a:rPr lang="en-US" b="1" baseline="0" dirty="0" err="1" smtClean="0">
                <a:solidFill>
                  <a:srgbClr val="4F81BD"/>
                </a:solidFill>
                <a:latin typeface="Cambria"/>
              </a:rPr>
              <a:t>ptr</a:t>
            </a:r>
            <a:r>
              <a:rPr lang="en-US" b="1" baseline="0" dirty="0" smtClean="0">
                <a:solidFill>
                  <a:srgbClr val="4F81BD"/>
                </a:solidFill>
                <a:latin typeface="Cambria"/>
              </a:rPr>
              <a:t> is the name of variable. The * informs the compiler that we want a pointer variable. The </a:t>
            </a:r>
            <a:r>
              <a:rPr lang="en-US" b="1" baseline="0" dirty="0" err="1" smtClean="0">
                <a:solidFill>
                  <a:srgbClr val="4F81BD"/>
                </a:solidFill>
                <a:latin typeface="Cambria"/>
              </a:rPr>
              <a:t>int</a:t>
            </a:r>
            <a:r>
              <a:rPr lang="en-US" b="1" baseline="0" dirty="0" smtClean="0">
                <a:solidFill>
                  <a:srgbClr val="4F81BD"/>
                </a:solidFill>
                <a:latin typeface="Cambria"/>
              </a:rPr>
              <a:t> say that we are using pointer variable which will actually store the address of an integer value.</a:t>
            </a:r>
          </a:p>
          <a:p>
            <a:pPr marR="0" lvl="1" algn="just" rtl="0">
              <a:buNone/>
            </a:pPr>
            <a:endParaRPr lang="en-US" b="1" baseline="0" dirty="0" smtClean="0">
              <a:solidFill>
                <a:srgbClr val="4F81BD"/>
              </a:solidFill>
              <a:latin typeface="Cambria"/>
            </a:endParaRPr>
          </a:p>
          <a:p>
            <a:pPr marR="0" lvl="1" rtl="0"/>
            <a:r>
              <a:rPr lang="en-US" b="1" baseline="0" dirty="0" smtClean="0">
                <a:solidFill>
                  <a:srgbClr val="4F81BD"/>
                </a:solidFill>
                <a:latin typeface="Cambria"/>
              </a:rPr>
              <a:t>Note: </a:t>
            </a:r>
          </a:p>
          <a:p>
            <a:pPr marR="0" lvl="2" rtl="0"/>
            <a:r>
              <a:rPr lang="en-US" b="1" i="1" baseline="0" dirty="0" smtClean="0">
                <a:solidFill>
                  <a:srgbClr val="4F81BD"/>
                </a:solidFill>
                <a:latin typeface="Cambria"/>
              </a:rPr>
              <a:t>Pointer always use two bytes in memory.</a:t>
            </a:r>
          </a:p>
          <a:p>
            <a:pPr marR="0" lvl="2" rtl="0"/>
            <a:r>
              <a:rPr lang="en-US" b="1" i="1" baseline="0" dirty="0" smtClean="0">
                <a:solidFill>
                  <a:srgbClr val="4F81BD"/>
                </a:solidFill>
                <a:latin typeface="Cambria"/>
              </a:rPr>
              <a:t>Always store the base address of variable.</a:t>
            </a:r>
          </a:p>
          <a:p>
            <a:pPr marR="0" lvl="2" rtl="0"/>
            <a:r>
              <a:rPr lang="en-US" b="1" i="1" baseline="0" dirty="0" smtClean="0">
                <a:solidFill>
                  <a:srgbClr val="4F81BD"/>
                </a:solidFill>
                <a:latin typeface="Cambria"/>
              </a:rPr>
              <a:t>Pointer always point  or store the address of block which have same type as pointer have.</a:t>
            </a:r>
          </a:p>
          <a:p>
            <a:pPr marR="0" lvl="2" rtl="0"/>
            <a:r>
              <a:rPr lang="en-US" b="1" i="1" baseline="0" dirty="0" smtClean="0">
                <a:solidFill>
                  <a:srgbClr val="4F81BD"/>
                </a:solidFill>
                <a:latin typeface="Cambria"/>
              </a:rPr>
              <a:t>Pointer type should be necessary.</a:t>
            </a: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fontScale="90000"/>
          </a:bodyPr>
          <a:lstStyle/>
          <a:p>
            <a:pPr marR="0" rtl="0"/>
            <a:r>
              <a:rPr lang="en-US" b="1" baseline="0" dirty="0" smtClean="0">
                <a:solidFill>
                  <a:srgbClr val="365F91"/>
                </a:solidFill>
                <a:latin typeface="Cambria"/>
              </a:rPr>
              <a:t>Remember :</a:t>
            </a:r>
          </a:p>
        </p:txBody>
      </p:sp>
      <p:sp>
        <p:nvSpPr>
          <p:cNvPr id="3" name="Text Placeholder 2"/>
          <p:cNvSpPr>
            <a:spLocks noGrp="1"/>
          </p:cNvSpPr>
          <p:nvPr>
            <p:ph type="body" idx="1"/>
          </p:nvPr>
        </p:nvSpPr>
        <p:spPr>
          <a:xfrm>
            <a:off x="-457200" y="1600200"/>
            <a:ext cx="9372600" cy="5257800"/>
          </a:xfrm>
        </p:spPr>
        <p:txBody>
          <a:bodyPr>
            <a:normAutofit/>
          </a:bodyPr>
          <a:lstStyle/>
          <a:p>
            <a:pPr marR="0" lvl="2" algn="just" rtl="0">
              <a:buFont typeface="Wingdings" pitchFamily="2" charset="2"/>
              <a:buChar char="Ø"/>
            </a:pPr>
            <a:r>
              <a:rPr lang="en-US" sz="2800" b="1" i="1" baseline="0" dirty="0" smtClean="0">
                <a:solidFill>
                  <a:srgbClr val="4F81BD"/>
                </a:solidFill>
                <a:latin typeface="Cambria" pitchFamily="18" charset="0"/>
              </a:rPr>
              <a:t>When put an ampersand (“&amp;”) in front of a variable it will return address of that variable.</a:t>
            </a:r>
          </a:p>
          <a:p>
            <a:pPr marR="0" lvl="2" algn="just" rtl="0">
              <a:buFont typeface="Wingdings" pitchFamily="2" charset="2"/>
              <a:buChar char="Ø"/>
            </a:pPr>
            <a:r>
              <a:rPr lang="en-US" sz="2800" b="1" i="1" baseline="0" dirty="0" smtClean="0">
                <a:solidFill>
                  <a:srgbClr val="4F81BD"/>
                </a:solidFill>
                <a:latin typeface="Cambria" pitchFamily="18" charset="0"/>
              </a:rPr>
              <a:t>When put an asterisk (“*”) in front of a address variable(&amp;a or </a:t>
            </a:r>
            <a:r>
              <a:rPr lang="en-US" sz="2800" b="1" i="1" baseline="0" dirty="0" err="1" smtClean="0">
                <a:solidFill>
                  <a:srgbClr val="4F81BD"/>
                </a:solidFill>
                <a:latin typeface="Cambria" pitchFamily="18" charset="0"/>
              </a:rPr>
              <a:t>ptr</a:t>
            </a:r>
            <a:r>
              <a:rPr lang="en-US" sz="2800" b="1" i="1" baseline="0" dirty="0" smtClean="0">
                <a:solidFill>
                  <a:srgbClr val="4F81BD"/>
                </a:solidFill>
                <a:latin typeface="Cambria" pitchFamily="18" charset="0"/>
              </a:rPr>
              <a:t>) it will return value of that variable.</a:t>
            </a:r>
          </a:p>
          <a:p>
            <a:pPr marR="0" lvl="2" algn="just" rtl="0">
              <a:buFont typeface="Wingdings" pitchFamily="2" charset="2"/>
              <a:buChar char="Ø"/>
            </a:pPr>
            <a:r>
              <a:rPr lang="en-US" sz="2800" b="1" baseline="0" dirty="0" smtClean="0">
                <a:solidFill>
                  <a:srgbClr val="4F81BD"/>
                </a:solidFill>
                <a:latin typeface="Cambria" pitchFamily="18" charset="0"/>
              </a:rPr>
              <a:t>Pointer always return containing address ( </a:t>
            </a:r>
            <a:r>
              <a:rPr lang="en-US" sz="2800" b="1" baseline="0" dirty="0" err="1" smtClean="0">
                <a:solidFill>
                  <a:srgbClr val="4F81BD"/>
                </a:solidFill>
                <a:latin typeface="Cambria" pitchFamily="18" charset="0"/>
              </a:rPr>
              <a:t>e.g</a:t>
            </a:r>
            <a:r>
              <a:rPr lang="en-US" sz="2800" b="1" baseline="0" dirty="0" smtClean="0">
                <a:solidFill>
                  <a:srgbClr val="4F81BD"/>
                </a:solidFill>
                <a:latin typeface="Cambria" pitchFamily="18" charset="0"/>
              </a:rPr>
              <a:t> : </a:t>
            </a:r>
            <a:r>
              <a:rPr lang="en-US" sz="2800" b="1" baseline="0" dirty="0" err="1" smtClean="0">
                <a:solidFill>
                  <a:srgbClr val="4F81BD"/>
                </a:solidFill>
                <a:latin typeface="Cambria" pitchFamily="18" charset="0"/>
              </a:rPr>
              <a:t>printf</a:t>
            </a:r>
            <a:r>
              <a:rPr lang="en-US" sz="2800" b="1" baseline="0" dirty="0" smtClean="0">
                <a:solidFill>
                  <a:srgbClr val="4F81BD"/>
                </a:solidFill>
                <a:latin typeface="Cambria" pitchFamily="18" charset="0"/>
              </a:rPr>
              <a:t>(“%</a:t>
            </a:r>
            <a:r>
              <a:rPr lang="en-US" sz="2800" b="1" baseline="0" dirty="0" err="1" smtClean="0">
                <a:solidFill>
                  <a:srgbClr val="4F81BD"/>
                </a:solidFill>
                <a:latin typeface="Cambria" pitchFamily="18" charset="0"/>
              </a:rPr>
              <a:t>u”,ptr</a:t>
            </a:r>
            <a:r>
              <a:rPr lang="en-US" sz="2800" b="1" baseline="0" dirty="0" smtClean="0">
                <a:solidFill>
                  <a:srgbClr val="4F81BD"/>
                </a:solidFill>
                <a:latin typeface="Cambria" pitchFamily="18" charset="0"/>
              </a:rPr>
              <a:t>); ).</a:t>
            </a:r>
            <a:endParaRPr lang="en-US" sz="2800" b="1" i="1" baseline="0" dirty="0" smtClean="0">
              <a:solidFill>
                <a:srgbClr val="4F81BD"/>
              </a:solidFill>
              <a:latin typeface="Cambria" pitchFamily="18" charset="0"/>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pPr marR="0" rtl="0"/>
            <a:r>
              <a:rPr lang="en-US" b="1" baseline="0" dirty="0" smtClean="0">
                <a:solidFill>
                  <a:srgbClr val="365F91"/>
                </a:solidFill>
                <a:latin typeface="Cambria"/>
              </a:rPr>
              <a:t>Base Address</a:t>
            </a:r>
          </a:p>
        </p:txBody>
      </p:sp>
      <p:pic>
        <p:nvPicPr>
          <p:cNvPr id="4" name="Picture 3" descr="C:\Users\mohit\Desktop\Pointer_Arithmetics.jpg"/>
          <p:cNvPicPr/>
          <p:nvPr/>
        </p:nvPicPr>
        <p:blipFill>
          <a:blip r:embed="rId2" cstate="print"/>
          <a:srcRect/>
          <a:stretch>
            <a:fillRect/>
          </a:stretch>
        </p:blipFill>
        <p:spPr bwMode="auto">
          <a:xfrm>
            <a:off x="0" y="1295400"/>
            <a:ext cx="9144000" cy="4876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pPr marR="0" rtl="0"/>
            <a:r>
              <a:rPr lang="en-US" b="1" baseline="0" dirty="0" smtClean="0">
                <a:solidFill>
                  <a:srgbClr val="365F91"/>
                </a:solidFill>
                <a:latin typeface="Cambria"/>
              </a:rPr>
              <a:t>Example :</a:t>
            </a:r>
          </a:p>
        </p:txBody>
      </p:sp>
      <p:sp>
        <p:nvSpPr>
          <p:cNvPr id="3" name="Text Placeholder 2"/>
          <p:cNvSpPr>
            <a:spLocks noGrp="1"/>
          </p:cNvSpPr>
          <p:nvPr>
            <p:ph type="body" idx="1"/>
          </p:nvPr>
        </p:nvSpPr>
        <p:spPr>
          <a:xfrm>
            <a:off x="457200" y="1143000"/>
            <a:ext cx="8229600" cy="4983163"/>
          </a:xfrm>
        </p:spPr>
        <p:txBody>
          <a:bodyPr/>
          <a:lstStyle/>
          <a:p>
            <a:pPr marR="0" lvl="0" rtl="0">
              <a:buNone/>
            </a:pPr>
            <a:r>
              <a:rPr lang="en-US" b="1" baseline="0" dirty="0" err="1" smtClean="0">
                <a:solidFill>
                  <a:srgbClr val="4F81BD"/>
                </a:solidFill>
                <a:latin typeface="Cambria"/>
              </a:rPr>
              <a:t>int</a:t>
            </a:r>
            <a:r>
              <a:rPr lang="en-US" b="1" baseline="0" dirty="0" smtClean="0">
                <a:solidFill>
                  <a:srgbClr val="4F81BD"/>
                </a:solidFill>
                <a:latin typeface="Cambria"/>
              </a:rPr>
              <a:t> </a:t>
            </a:r>
            <a:r>
              <a:rPr lang="en-US" b="1" baseline="0" dirty="0" err="1" smtClean="0">
                <a:solidFill>
                  <a:srgbClr val="4F81BD"/>
                </a:solidFill>
                <a:latin typeface="Cambria"/>
              </a:rPr>
              <a:t>var</a:t>
            </a:r>
            <a:r>
              <a:rPr lang="en-US" b="1" baseline="0" dirty="0" smtClean="0">
                <a:solidFill>
                  <a:srgbClr val="4F81BD"/>
                </a:solidFill>
                <a:latin typeface="Cambria"/>
              </a:rPr>
              <a:t>=50 , * </a:t>
            </a:r>
            <a:r>
              <a:rPr lang="en-US" b="1" baseline="0" dirty="0" err="1" smtClean="0">
                <a:solidFill>
                  <a:srgbClr val="4F81BD"/>
                </a:solidFill>
                <a:latin typeface="Cambria"/>
              </a:rPr>
              <a:t>ptr</a:t>
            </a:r>
            <a:r>
              <a:rPr lang="en-US" b="1" baseline="0" dirty="0" smtClean="0">
                <a:solidFill>
                  <a:srgbClr val="4F81BD"/>
                </a:solidFill>
                <a:latin typeface="Cambria"/>
              </a:rPr>
              <a:t> ;</a:t>
            </a:r>
          </a:p>
          <a:p>
            <a:pPr marR="0" lvl="0" rtl="0">
              <a:buNone/>
            </a:pPr>
            <a:r>
              <a:rPr lang="en-US" b="1" baseline="0" dirty="0" err="1" smtClean="0">
                <a:solidFill>
                  <a:srgbClr val="4F81BD"/>
                </a:solidFill>
                <a:latin typeface="Cambria"/>
              </a:rPr>
              <a:t>ptr</a:t>
            </a:r>
            <a:r>
              <a:rPr lang="en-US" b="1" baseline="0" dirty="0" smtClean="0">
                <a:solidFill>
                  <a:srgbClr val="4F81BD"/>
                </a:solidFill>
                <a:latin typeface="Cambria"/>
              </a:rPr>
              <a:t>= &amp;</a:t>
            </a:r>
            <a:r>
              <a:rPr lang="en-US" b="1" baseline="0" dirty="0" err="1" smtClean="0">
                <a:solidFill>
                  <a:srgbClr val="4F81BD"/>
                </a:solidFill>
                <a:latin typeface="Cambria"/>
              </a:rPr>
              <a:t>var</a:t>
            </a:r>
            <a:r>
              <a:rPr lang="en-US" b="1" baseline="0" dirty="0" smtClean="0">
                <a:solidFill>
                  <a:srgbClr val="4F81BD"/>
                </a:solidFill>
                <a:latin typeface="Cambria"/>
              </a:rPr>
              <a:t> ;</a:t>
            </a:r>
          </a:p>
        </p:txBody>
      </p:sp>
      <p:pic>
        <p:nvPicPr>
          <p:cNvPr id="4" name="Picture 3" descr="C:\Users\mohit\Desktop\c-var-ptr.png"/>
          <p:cNvPicPr/>
          <p:nvPr/>
        </p:nvPicPr>
        <p:blipFill>
          <a:blip r:embed="rId2" cstate="print"/>
          <a:srcRect/>
          <a:stretch>
            <a:fillRect/>
          </a:stretch>
        </p:blipFill>
        <p:spPr bwMode="auto">
          <a:xfrm>
            <a:off x="1524000" y="2819400"/>
            <a:ext cx="6096000" cy="2895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pPr marR="0" rtl="0"/>
            <a:r>
              <a:rPr lang="en-US" b="1" baseline="0" dirty="0" smtClean="0">
                <a:solidFill>
                  <a:srgbClr val="365F91"/>
                </a:solidFill>
                <a:latin typeface="Cambria"/>
              </a:rPr>
              <a:t>Example : </a:t>
            </a:r>
          </a:p>
        </p:txBody>
      </p:sp>
      <p:sp>
        <p:nvSpPr>
          <p:cNvPr id="3" name="Text Placeholder 2"/>
          <p:cNvSpPr>
            <a:spLocks noGrp="1"/>
          </p:cNvSpPr>
          <p:nvPr>
            <p:ph type="body" idx="1"/>
          </p:nvPr>
        </p:nvSpPr>
        <p:spPr>
          <a:xfrm>
            <a:off x="0" y="685800"/>
            <a:ext cx="8991600" cy="5943600"/>
          </a:xfrm>
        </p:spPr>
        <p:txBody>
          <a:bodyPr>
            <a:normAutofit fontScale="92500" lnSpcReduction="20000"/>
          </a:bodyPr>
          <a:lstStyle/>
          <a:p>
            <a:pPr marR="0" lvl="2" rtl="0">
              <a:buNone/>
            </a:pPr>
            <a:r>
              <a:rPr lang="en-US" b="1" i="1" baseline="0" dirty="0" smtClean="0">
                <a:solidFill>
                  <a:srgbClr val="4F81BD"/>
                </a:solidFill>
                <a:latin typeface="Cambria"/>
              </a:rPr>
              <a:t>main()</a:t>
            </a:r>
          </a:p>
          <a:p>
            <a:pPr marR="0" lvl="2" rtl="0">
              <a:buNone/>
            </a:pPr>
            <a:r>
              <a:rPr lang="en-US" b="1" i="1" baseline="0" dirty="0" smtClean="0">
                <a:solidFill>
                  <a:srgbClr val="4F81BD"/>
                </a:solidFill>
                <a:latin typeface="Cambria"/>
              </a:rPr>
              <a:t>{</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a:t>
            </a:r>
            <a:r>
              <a:rPr lang="en-US" b="1" i="1" baseline="0" dirty="0" err="1" smtClean="0">
                <a:solidFill>
                  <a:srgbClr val="4F81BD"/>
                </a:solidFill>
                <a:latin typeface="Cambria"/>
              </a:rPr>
              <a:t>var</a:t>
            </a:r>
            <a:r>
              <a:rPr lang="en-US" b="1" i="1" baseline="0" dirty="0" smtClean="0">
                <a:solidFill>
                  <a:srgbClr val="4F81BD"/>
                </a:solidFill>
                <a:latin typeface="Cambria"/>
              </a:rPr>
              <a:t>=50, *</a:t>
            </a:r>
            <a:r>
              <a:rPr lang="en-US" b="1" i="1" baseline="0" dirty="0" err="1" smtClean="0">
                <a:solidFill>
                  <a:srgbClr val="4F81BD"/>
                </a:solidFill>
                <a:latin typeface="Cambria"/>
              </a:rPr>
              <a:t>ptr</a:t>
            </a:r>
            <a:r>
              <a:rPr lang="en-US" b="1" i="1" baseline="0" dirty="0" smtClean="0">
                <a:solidFill>
                  <a:srgbClr val="4F81BD"/>
                </a:solidFill>
                <a:latin typeface="Cambria"/>
              </a:rPr>
              <a:t> , *p ;</a:t>
            </a:r>
          </a:p>
          <a:p>
            <a:pPr marR="0" lvl="2" rtl="0">
              <a:buNone/>
            </a:pPr>
            <a:r>
              <a:rPr lang="en-US" b="1" i="1" baseline="0" dirty="0" err="1" smtClean="0">
                <a:solidFill>
                  <a:srgbClr val="4F81BD"/>
                </a:solidFill>
                <a:latin typeface="Cambria"/>
              </a:rPr>
              <a:t>ptr</a:t>
            </a:r>
            <a:r>
              <a:rPr lang="en-US" b="1" i="1" baseline="0" dirty="0" smtClean="0">
                <a:solidFill>
                  <a:srgbClr val="4F81BD"/>
                </a:solidFill>
                <a:latin typeface="Cambria"/>
              </a:rPr>
              <a:t>= &amp;</a:t>
            </a:r>
            <a:r>
              <a:rPr lang="en-US" b="1" i="1" baseline="0" dirty="0" err="1" smtClean="0">
                <a:solidFill>
                  <a:srgbClr val="4F81BD"/>
                </a:solidFill>
                <a:latin typeface="Cambria"/>
              </a:rPr>
              <a:t>var</a:t>
            </a:r>
            <a:r>
              <a:rPr lang="en-US" b="1" i="1" baseline="0" dirty="0" smtClean="0">
                <a:solidFill>
                  <a:srgbClr val="4F81BD"/>
                </a:solidFill>
                <a:latin typeface="Cambria"/>
              </a:rPr>
              <a:t> ;</a:t>
            </a:r>
          </a:p>
          <a:p>
            <a:pPr marR="0" lvl="2" rtl="0">
              <a:buNone/>
            </a:pPr>
            <a:r>
              <a:rPr lang="en-US" b="1" i="1" baseline="0" dirty="0" smtClean="0">
                <a:solidFill>
                  <a:srgbClr val="4F81BD"/>
                </a:solidFill>
                <a:latin typeface="Cambria"/>
              </a:rPr>
              <a:t>*p = 6 ;</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%d ”, </a:t>
            </a:r>
            <a:r>
              <a:rPr lang="en-US" b="1" i="1" baseline="0" dirty="0" err="1" smtClean="0">
                <a:solidFill>
                  <a:srgbClr val="4F81BD"/>
                </a:solidFill>
                <a:latin typeface="Cambria"/>
              </a:rPr>
              <a:t>var</a:t>
            </a:r>
            <a:r>
              <a:rPr lang="en-US" b="1" i="1" baseline="0" dirty="0" smtClean="0">
                <a:solidFill>
                  <a:srgbClr val="4F81BD"/>
                </a:solidFill>
                <a:latin typeface="Cambria"/>
              </a:rPr>
              <a:t> ) ;    	</a:t>
            </a:r>
            <a:r>
              <a:rPr lang="en-US" b="1" i="1" baseline="0" dirty="0" smtClean="0">
                <a:solidFill>
                  <a:srgbClr val="C00000"/>
                </a:solidFill>
                <a:latin typeface="Cambria"/>
              </a:rPr>
              <a:t>// 50</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%d ” , </a:t>
            </a:r>
            <a:r>
              <a:rPr lang="en-US" b="1" i="1" baseline="0" dirty="0" err="1" smtClean="0">
                <a:solidFill>
                  <a:srgbClr val="4F81BD"/>
                </a:solidFill>
                <a:latin typeface="Cambria"/>
              </a:rPr>
              <a:t>ptr</a:t>
            </a:r>
            <a:r>
              <a:rPr lang="en-US" b="1" i="1" baseline="0" dirty="0" smtClean="0">
                <a:solidFill>
                  <a:srgbClr val="4F81BD"/>
                </a:solidFill>
                <a:latin typeface="Cambria"/>
              </a:rPr>
              <a:t> ) ; 	</a:t>
            </a:r>
            <a:r>
              <a:rPr lang="en-US" b="1" i="1" baseline="0" dirty="0" smtClean="0">
                <a:solidFill>
                  <a:srgbClr val="C00000"/>
                </a:solidFill>
                <a:latin typeface="Cambria"/>
              </a:rPr>
              <a:t>// 1001</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%d ” , *</a:t>
            </a:r>
            <a:r>
              <a:rPr lang="en-US" b="1" i="1" baseline="0" dirty="0" err="1" smtClean="0">
                <a:solidFill>
                  <a:srgbClr val="4F81BD"/>
                </a:solidFill>
                <a:latin typeface="Cambria"/>
              </a:rPr>
              <a:t>ptr</a:t>
            </a:r>
            <a:r>
              <a:rPr lang="en-US" b="1" i="1" baseline="0" dirty="0" smtClean="0">
                <a:solidFill>
                  <a:srgbClr val="4F81BD"/>
                </a:solidFill>
                <a:latin typeface="Cambria"/>
              </a:rPr>
              <a:t> ) ;	</a:t>
            </a:r>
            <a:r>
              <a:rPr lang="en-US" b="1" i="1" baseline="0" dirty="0" smtClean="0">
                <a:solidFill>
                  <a:srgbClr val="C00000"/>
                </a:solidFill>
                <a:latin typeface="Cambria"/>
              </a:rPr>
              <a:t>// 50</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%u  ” , &amp;</a:t>
            </a:r>
            <a:r>
              <a:rPr lang="en-US" b="1" i="1" baseline="0" dirty="0" err="1" smtClean="0">
                <a:solidFill>
                  <a:srgbClr val="4F81BD"/>
                </a:solidFill>
                <a:latin typeface="Cambria"/>
              </a:rPr>
              <a:t>var</a:t>
            </a:r>
            <a:r>
              <a:rPr lang="en-US" b="1" i="1" baseline="0" dirty="0" smtClean="0">
                <a:solidFill>
                  <a:srgbClr val="4F81BD"/>
                </a:solidFill>
                <a:latin typeface="Cambria"/>
              </a:rPr>
              <a:t> ) ;	</a:t>
            </a:r>
            <a:r>
              <a:rPr lang="en-US" b="1" i="1" baseline="0" dirty="0" smtClean="0">
                <a:solidFill>
                  <a:srgbClr val="C00000"/>
                </a:solidFill>
                <a:latin typeface="Cambria"/>
              </a:rPr>
              <a:t>// 1001</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%u  ” , &amp;</a:t>
            </a:r>
            <a:r>
              <a:rPr lang="en-US" b="1" i="1" baseline="0" dirty="0" err="1" smtClean="0">
                <a:solidFill>
                  <a:srgbClr val="4F81BD"/>
                </a:solidFill>
                <a:latin typeface="Cambria"/>
              </a:rPr>
              <a:t>ptr</a:t>
            </a:r>
            <a:r>
              <a:rPr lang="en-US" b="1" i="1" baseline="0" dirty="0" smtClean="0">
                <a:solidFill>
                  <a:srgbClr val="4F81BD"/>
                </a:solidFill>
                <a:latin typeface="Cambria"/>
              </a:rPr>
              <a:t> ) ;	</a:t>
            </a:r>
            <a:r>
              <a:rPr lang="en-US" b="1" i="1" baseline="0" dirty="0" smtClean="0">
                <a:solidFill>
                  <a:srgbClr val="C00000"/>
                </a:solidFill>
                <a:latin typeface="Cambria"/>
              </a:rPr>
              <a:t>// 2047</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%u  ” , *&amp;</a:t>
            </a:r>
            <a:r>
              <a:rPr lang="en-US" b="1" i="1" baseline="0" dirty="0" err="1" smtClean="0">
                <a:solidFill>
                  <a:srgbClr val="4F81BD"/>
                </a:solidFill>
                <a:latin typeface="Cambria"/>
              </a:rPr>
              <a:t>ptr</a:t>
            </a:r>
            <a:r>
              <a:rPr lang="en-US" b="1" i="1" baseline="0" dirty="0" smtClean="0">
                <a:solidFill>
                  <a:srgbClr val="4F81BD"/>
                </a:solidFill>
                <a:latin typeface="Cambria"/>
              </a:rPr>
              <a:t>) ;	</a:t>
            </a:r>
            <a:r>
              <a:rPr lang="en-US" b="1" i="1" baseline="0" dirty="0" smtClean="0">
                <a:solidFill>
                  <a:srgbClr val="C00000"/>
                </a:solidFill>
                <a:latin typeface="Cambria"/>
              </a:rPr>
              <a:t>// 1001</a:t>
            </a:r>
            <a:r>
              <a:rPr lang="en-US" b="1" i="1" baseline="0" dirty="0" smtClean="0">
                <a:solidFill>
                  <a:srgbClr val="4F81BD"/>
                </a:solidFill>
                <a:latin typeface="Cambria"/>
              </a:rPr>
              <a:t>	</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%d  ” , *p ) ;	</a:t>
            </a:r>
            <a:r>
              <a:rPr lang="en-US" b="1" i="1" baseline="0" dirty="0" smtClean="0">
                <a:solidFill>
                  <a:srgbClr val="C00000"/>
                </a:solidFill>
                <a:latin typeface="Cambria"/>
              </a:rPr>
              <a:t>// 6  (6 store at invalid 					     address, wild pointer)</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%u  ” , p ) ;		</a:t>
            </a:r>
            <a:r>
              <a:rPr lang="en-US" b="1" i="1" baseline="0" dirty="0" smtClean="0">
                <a:solidFill>
                  <a:srgbClr val="C00000"/>
                </a:solidFill>
                <a:latin typeface="Cambria"/>
              </a:rPr>
              <a:t>// garbage address or invalid 			</a:t>
            </a:r>
            <a:r>
              <a:rPr lang="en-US" b="1" i="1" dirty="0">
                <a:solidFill>
                  <a:srgbClr val="C00000"/>
                </a:solidFill>
                <a:latin typeface="Cambria"/>
              </a:rPr>
              <a:t> </a:t>
            </a:r>
            <a:r>
              <a:rPr lang="en-US" b="1" i="1" dirty="0" smtClean="0">
                <a:solidFill>
                  <a:srgbClr val="C00000"/>
                </a:solidFill>
                <a:latin typeface="Cambria"/>
              </a:rPr>
              <a:t>  	     </a:t>
            </a:r>
            <a:r>
              <a:rPr lang="en-US" b="1" i="1" baseline="0" dirty="0" smtClean="0">
                <a:solidFill>
                  <a:srgbClr val="C00000"/>
                </a:solidFill>
                <a:latin typeface="Cambria"/>
              </a:rPr>
              <a:t>address</a:t>
            </a:r>
          </a:p>
          <a:p>
            <a:pPr marR="0" lvl="2" rtl="0">
              <a:buNone/>
            </a:pP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Note : Address always return with format string %u</a:t>
            </a: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dirty="0" smtClean="0">
                <a:solidFill>
                  <a:srgbClr val="365F91"/>
                </a:solidFill>
                <a:latin typeface="Cambria"/>
              </a:rPr>
              <a:t>Objective </a:t>
            </a:r>
          </a:p>
        </p:txBody>
      </p:sp>
      <p:sp>
        <p:nvSpPr>
          <p:cNvPr id="3" name="Text Placeholder 2"/>
          <p:cNvSpPr>
            <a:spLocks noGrp="1"/>
          </p:cNvSpPr>
          <p:nvPr>
            <p:ph type="body" idx="1"/>
          </p:nvPr>
        </p:nvSpPr>
        <p:spPr/>
        <p:txBody>
          <a:bodyPr/>
          <a:lstStyle/>
          <a:p>
            <a:pPr marR="0" lvl="0" rtl="0">
              <a:buFont typeface="Wingdings" pitchFamily="2" charset="2"/>
              <a:buChar char="Ø"/>
            </a:pPr>
            <a:r>
              <a:rPr lang="en-US" b="1" baseline="0" dirty="0" err="1" smtClean="0">
                <a:solidFill>
                  <a:srgbClr val="4F81BD"/>
                </a:solidFill>
                <a:latin typeface="Cambria"/>
              </a:rPr>
              <a:t>Extendedd</a:t>
            </a:r>
            <a:r>
              <a:rPr lang="en-US" b="1" baseline="0" dirty="0" smtClean="0">
                <a:solidFill>
                  <a:srgbClr val="4F81BD"/>
                </a:solidFill>
                <a:latin typeface="Cambria"/>
              </a:rPr>
              <a:t> Concept of Pointers</a:t>
            </a:r>
          </a:p>
          <a:p>
            <a:pPr marR="0" lvl="0" rtl="0">
              <a:buFont typeface="Wingdings" pitchFamily="2" charset="2"/>
              <a:buChar char="Ø"/>
            </a:pPr>
            <a:r>
              <a:rPr lang="en-US" b="1" baseline="0" dirty="0" smtClean="0">
                <a:solidFill>
                  <a:srgbClr val="4F81BD"/>
                </a:solidFill>
                <a:latin typeface="Cambria"/>
              </a:rPr>
              <a:t>Pointer’s Arithmetic</a:t>
            </a:r>
          </a:p>
          <a:p>
            <a:pPr marR="0" lvl="0" rtl="0">
              <a:buFont typeface="Wingdings" pitchFamily="2" charset="2"/>
              <a:buChar char="Ø"/>
            </a:pPr>
            <a:r>
              <a:rPr lang="en-US" b="1" baseline="0" dirty="0" smtClean="0">
                <a:solidFill>
                  <a:srgbClr val="4F81BD"/>
                </a:solidFill>
                <a:latin typeface="Cambria"/>
              </a:rPr>
              <a:t>Application of Pointers</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fontScale="90000"/>
          </a:bodyPr>
          <a:lstStyle/>
          <a:p>
            <a:pPr marR="0" rtl="0"/>
            <a:r>
              <a:rPr lang="en-US" b="1" baseline="0" dirty="0" smtClean="0">
                <a:solidFill>
                  <a:srgbClr val="365F91"/>
                </a:solidFill>
                <a:latin typeface="Cambria"/>
              </a:rPr>
              <a:t>Extended Concept of pointers</a:t>
            </a:r>
          </a:p>
        </p:txBody>
      </p:sp>
      <p:sp>
        <p:nvSpPr>
          <p:cNvPr id="3" name="Text Placeholder 2"/>
          <p:cNvSpPr>
            <a:spLocks noGrp="1"/>
          </p:cNvSpPr>
          <p:nvPr>
            <p:ph type="body" idx="1"/>
          </p:nvPr>
        </p:nvSpPr>
        <p:spPr>
          <a:xfrm>
            <a:off x="-609600" y="5181600"/>
            <a:ext cx="9296400" cy="1524000"/>
          </a:xfrm>
        </p:spPr>
        <p:txBody>
          <a:bodyPr>
            <a:normAutofit fontScale="92500" lnSpcReduction="10000"/>
          </a:bodyPr>
          <a:lstStyle/>
          <a:p>
            <a:pPr marR="0" lvl="2" rtl="0">
              <a:buNone/>
            </a:pPr>
            <a:r>
              <a:rPr lang="en-US" b="1" i="1" baseline="0" dirty="0" smtClean="0">
                <a:solidFill>
                  <a:srgbClr val="4F81BD"/>
                </a:solidFill>
                <a:latin typeface="Cambria"/>
              </a:rPr>
              <a:t>Note : </a:t>
            </a:r>
          </a:p>
          <a:p>
            <a:pPr marR="0" lvl="2" rtl="0"/>
            <a:r>
              <a:rPr lang="en-US" b="1" i="1" baseline="0" dirty="0" smtClean="0">
                <a:solidFill>
                  <a:srgbClr val="4F81BD"/>
                </a:solidFill>
                <a:latin typeface="Cambria"/>
              </a:rPr>
              <a:t>Number of Asterisk (*) represent the level of pointer.</a:t>
            </a:r>
          </a:p>
          <a:p>
            <a:pPr marR="0" lvl="2" rtl="0"/>
            <a:r>
              <a:rPr lang="en-US" b="1" i="1" baseline="0" dirty="0" smtClean="0">
                <a:solidFill>
                  <a:srgbClr val="4F81BD"/>
                </a:solidFill>
                <a:latin typeface="Cambria"/>
              </a:rPr>
              <a:t>“Always greater level of pointer contain/ hold the address of less than 1 level of pointer”</a:t>
            </a:r>
          </a:p>
          <a:p>
            <a:pPr marR="0" lvl="2" rtl="0"/>
            <a:endParaRPr lang="en-US" b="1" i="1" baseline="0" dirty="0" smtClean="0">
              <a:solidFill>
                <a:srgbClr val="4F81BD"/>
              </a:solidFill>
              <a:latin typeface="Cambria"/>
            </a:endParaRPr>
          </a:p>
        </p:txBody>
      </p:sp>
      <p:pic>
        <p:nvPicPr>
          <p:cNvPr id="4" name="Picture 3" descr="C:\Users\mohit\Desktop\ponitr1.jpg"/>
          <p:cNvPicPr/>
          <p:nvPr/>
        </p:nvPicPr>
        <p:blipFill>
          <a:blip r:embed="rId2" cstate="print"/>
          <a:srcRect/>
          <a:stretch>
            <a:fillRect/>
          </a:stretch>
        </p:blipFill>
        <p:spPr bwMode="auto">
          <a:xfrm>
            <a:off x="381000" y="1066800"/>
            <a:ext cx="8382000" cy="3657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pPr marR="0" rtl="0"/>
            <a:r>
              <a:rPr lang="en-US" b="1" baseline="0" dirty="0" smtClean="0">
                <a:solidFill>
                  <a:srgbClr val="365F91"/>
                </a:solidFill>
                <a:latin typeface="Cambria"/>
              </a:rPr>
              <a:t>Example :</a:t>
            </a:r>
          </a:p>
        </p:txBody>
      </p:sp>
      <p:sp>
        <p:nvSpPr>
          <p:cNvPr id="3" name="Text Placeholder 2"/>
          <p:cNvSpPr>
            <a:spLocks noGrp="1"/>
          </p:cNvSpPr>
          <p:nvPr>
            <p:ph type="body" idx="1"/>
          </p:nvPr>
        </p:nvSpPr>
        <p:spPr>
          <a:xfrm>
            <a:off x="0" y="762000"/>
            <a:ext cx="8991600" cy="5867400"/>
          </a:xfrm>
        </p:spPr>
        <p:txBody>
          <a:bodyPr>
            <a:normAutofit fontScale="92500" lnSpcReduction="10000"/>
          </a:bodyPr>
          <a:lstStyle/>
          <a:p>
            <a:pPr marR="0" lvl="2" rtl="0">
              <a:buNone/>
            </a:pPr>
            <a:r>
              <a:rPr lang="en-US" b="1" i="1" baseline="0" dirty="0" smtClean="0">
                <a:solidFill>
                  <a:srgbClr val="4F81BD"/>
                </a:solidFill>
                <a:latin typeface="Cambria"/>
              </a:rPr>
              <a:t>void main ()</a:t>
            </a:r>
          </a:p>
          <a:p>
            <a:pPr marR="0" lvl="2" rtl="0">
              <a:buNone/>
            </a:pPr>
            <a:r>
              <a:rPr lang="en-US" b="1" i="1" baseline="0" dirty="0" smtClean="0">
                <a:solidFill>
                  <a:srgbClr val="4F81BD"/>
                </a:solidFill>
                <a:latin typeface="Cambria"/>
              </a:rPr>
              <a:t>{</a:t>
            </a:r>
          </a:p>
          <a:p>
            <a:pPr marR="0" lvl="2" rtl="0">
              <a:buNone/>
            </a:pPr>
            <a:r>
              <a:rPr lang="pt-BR" b="1" i="1" dirty="0">
                <a:solidFill>
                  <a:srgbClr val="4F81BD"/>
                </a:solidFill>
                <a:latin typeface="Cambria"/>
              </a:rPr>
              <a:t>i</a:t>
            </a:r>
            <a:r>
              <a:rPr lang="pt-BR" b="1" i="1" baseline="0" dirty="0" smtClean="0">
                <a:solidFill>
                  <a:srgbClr val="4F81BD"/>
                </a:solidFill>
                <a:latin typeface="Cambria"/>
              </a:rPr>
              <a:t>nt x =5 , *p , **q , ***r ;</a:t>
            </a:r>
          </a:p>
          <a:p>
            <a:pPr marR="0" lvl="2" rtl="0">
              <a:buNone/>
            </a:pPr>
            <a:r>
              <a:rPr lang="en-US" b="1" i="1" dirty="0">
                <a:solidFill>
                  <a:srgbClr val="4F81BD"/>
                </a:solidFill>
                <a:latin typeface="Cambria"/>
              </a:rPr>
              <a:t>p</a:t>
            </a:r>
            <a:r>
              <a:rPr lang="en-US" b="1" i="1" baseline="0" dirty="0" smtClean="0">
                <a:solidFill>
                  <a:srgbClr val="4F81BD"/>
                </a:solidFill>
                <a:latin typeface="Cambria"/>
              </a:rPr>
              <a:t> = &amp;x ;</a:t>
            </a:r>
          </a:p>
          <a:p>
            <a:pPr marR="0" lvl="2" rtl="0">
              <a:buNone/>
            </a:pPr>
            <a:r>
              <a:rPr lang="en-US" b="1" i="1" baseline="0" dirty="0" smtClean="0">
                <a:solidFill>
                  <a:srgbClr val="4F81BD"/>
                </a:solidFill>
                <a:latin typeface="Cambria"/>
              </a:rPr>
              <a:t>q = &amp;p ;</a:t>
            </a:r>
          </a:p>
          <a:p>
            <a:pPr marR="0" lvl="2" rtl="0">
              <a:buNone/>
            </a:pPr>
            <a:r>
              <a:rPr lang="en-US" b="1" i="1" baseline="0" dirty="0" smtClean="0">
                <a:solidFill>
                  <a:srgbClr val="4F81BD"/>
                </a:solidFill>
                <a:latin typeface="Cambria"/>
              </a:rPr>
              <a:t>r = &amp;q ;</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%d ” , x ) ;			</a:t>
            </a:r>
            <a:r>
              <a:rPr lang="en-US" b="1" i="1" baseline="0" dirty="0" smtClean="0">
                <a:solidFill>
                  <a:srgbClr val="C00000"/>
                </a:solidFill>
                <a:latin typeface="Cambria"/>
              </a:rPr>
              <a:t>// 5</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%u ” , p ) ;			</a:t>
            </a:r>
            <a:r>
              <a:rPr lang="en-US" b="1" i="1" baseline="0" dirty="0" smtClean="0">
                <a:solidFill>
                  <a:srgbClr val="C00000"/>
                </a:solidFill>
                <a:latin typeface="Cambria"/>
              </a:rPr>
              <a:t>// 1024</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%u ” , q ) ;			</a:t>
            </a:r>
            <a:r>
              <a:rPr lang="en-US" b="1" i="1" baseline="0" dirty="0" smtClean="0">
                <a:solidFill>
                  <a:srgbClr val="C00000"/>
                </a:solidFill>
                <a:latin typeface="Cambria"/>
              </a:rPr>
              <a:t>// 1048</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%u ” , r ) ;			</a:t>
            </a:r>
            <a:r>
              <a:rPr lang="en-US" b="1" i="1" baseline="0" dirty="0" smtClean="0">
                <a:solidFill>
                  <a:srgbClr val="C00000"/>
                </a:solidFill>
                <a:latin typeface="Cambria"/>
              </a:rPr>
              <a:t>// 2056</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%d ” , *p ) ;		</a:t>
            </a:r>
            <a:r>
              <a:rPr lang="en-US" b="1" i="1" baseline="0" dirty="0" smtClean="0">
                <a:solidFill>
                  <a:srgbClr val="C00000"/>
                </a:solidFill>
                <a:latin typeface="Cambria"/>
              </a:rPr>
              <a:t>// 5</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%d ” , **q ) ;		</a:t>
            </a:r>
            <a:r>
              <a:rPr lang="en-US" b="1" i="1" baseline="0" dirty="0" smtClean="0">
                <a:solidFill>
                  <a:srgbClr val="C00000"/>
                </a:solidFill>
                <a:latin typeface="Cambria"/>
              </a:rPr>
              <a:t>// 5</a:t>
            </a:r>
          </a:p>
          <a:p>
            <a:pPr marR="0" lvl="2" rtl="0"/>
            <a:r>
              <a:rPr lang="en-US" b="1" i="1" baseline="0" dirty="0" err="1" smtClean="0">
                <a:solidFill>
                  <a:srgbClr val="4F81BD"/>
                </a:solidFill>
                <a:latin typeface="Cambria"/>
              </a:rPr>
              <a:t>printf</a:t>
            </a:r>
            <a:r>
              <a:rPr lang="en-US" b="1" i="1" baseline="0" dirty="0" smtClean="0">
                <a:solidFill>
                  <a:srgbClr val="4F81BD"/>
                </a:solidFill>
                <a:latin typeface="Cambria"/>
              </a:rPr>
              <a:t> ( “ %d ” , ***r ) ;		</a:t>
            </a:r>
            <a:r>
              <a:rPr lang="en-US" b="1" i="1" baseline="0" dirty="0" smtClean="0">
                <a:solidFill>
                  <a:srgbClr val="C00000"/>
                </a:solidFill>
                <a:latin typeface="Cambria"/>
              </a:rPr>
              <a:t>// 5</a:t>
            </a:r>
          </a:p>
          <a:p>
            <a:pPr marR="0" lvl="2" rtl="0">
              <a:buNone/>
            </a:pPr>
            <a:r>
              <a:rPr lang="en-US" b="1" i="1" baseline="0" dirty="0" err="1" smtClean="0">
                <a:solidFill>
                  <a:srgbClr val="4F81BD"/>
                </a:solidFill>
                <a:latin typeface="Cambria"/>
              </a:rPr>
              <a:t>getch</a:t>
            </a:r>
            <a:r>
              <a:rPr lang="en-US" b="1" i="1" baseline="0" dirty="0" smtClean="0">
                <a:solidFill>
                  <a:srgbClr val="4F81BD"/>
                </a:solidFill>
                <a:latin typeface="Cambria"/>
              </a:rPr>
              <a:t> ( );</a:t>
            </a:r>
          </a:p>
          <a:p>
            <a:pPr marR="0" lvl="2" rtl="0">
              <a:buNone/>
            </a:pPr>
            <a:r>
              <a:rPr lang="en-US" b="1" i="1" baseline="0" dirty="0" smtClean="0">
                <a:solidFill>
                  <a:srgbClr val="4F81BD"/>
                </a:solidFill>
                <a:latin typeface="Cambria"/>
              </a:rPr>
              <a:t>}</a:t>
            </a: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667000"/>
            <a:ext cx="9296400" cy="1015663"/>
          </a:xfrm>
          <a:prstGeom prst="rect">
            <a:avLst/>
          </a:prstGeom>
        </p:spPr>
        <p:txBody>
          <a:bodyPr wrap="square">
            <a:spAutoFit/>
          </a:bodyPr>
          <a:lstStyle/>
          <a:p>
            <a:pPr algn="ctr"/>
            <a:r>
              <a:rPr lang="en-US" sz="6000" b="1" baseline="0" dirty="0" smtClean="0">
                <a:solidFill>
                  <a:srgbClr val="365F91"/>
                </a:solidFill>
                <a:latin typeface="Cambria"/>
              </a:rPr>
              <a:t>Pointer Arithmetic</a:t>
            </a:r>
            <a:endParaRPr lang="en-US" sz="6000" dirty="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371600"/>
            <a:ext cx="8229600" cy="5486400"/>
          </a:xfrm>
        </p:spPr>
        <p:txBody>
          <a:bodyPr>
            <a:normAutofit fontScale="92500" lnSpcReduction="20000"/>
          </a:bodyPr>
          <a:lstStyle/>
          <a:p>
            <a:pPr marR="0" lvl="0" rtl="0">
              <a:buNone/>
            </a:pPr>
            <a:r>
              <a:rPr lang="en-US" b="1" baseline="0" dirty="0" smtClean="0">
                <a:solidFill>
                  <a:srgbClr val="4F81BD"/>
                </a:solidFill>
                <a:latin typeface="Cambria"/>
              </a:rPr>
              <a:t>	</a:t>
            </a:r>
            <a:r>
              <a:rPr lang="en-US" b="1" i="1" baseline="0" dirty="0" smtClean="0">
                <a:solidFill>
                  <a:srgbClr val="4F81BD"/>
                </a:solidFill>
                <a:latin typeface="Cambria"/>
              </a:rPr>
              <a:t>Example :</a:t>
            </a:r>
          </a:p>
          <a:p>
            <a:pPr marR="0" lvl="2" rtl="0">
              <a:buNone/>
            </a:pPr>
            <a:r>
              <a:rPr lang="en-US" b="1" i="1" baseline="0" dirty="0" smtClean="0">
                <a:solidFill>
                  <a:srgbClr val="4F81BD"/>
                </a:solidFill>
                <a:latin typeface="Cambria"/>
              </a:rPr>
              <a:t>void main()</a:t>
            </a:r>
          </a:p>
          <a:p>
            <a:pPr marR="0" lvl="2" rtl="0">
              <a:buNone/>
            </a:pPr>
            <a:r>
              <a:rPr lang="en-US" b="1" i="1" baseline="0" dirty="0" smtClean="0">
                <a:solidFill>
                  <a:srgbClr val="4F81BD"/>
                </a:solidFill>
                <a:latin typeface="Cambria"/>
              </a:rPr>
              <a:t>{</a:t>
            </a:r>
          </a:p>
          <a:p>
            <a:pPr marR="0" lvl="2" rtl="0">
              <a:buNone/>
            </a:pPr>
            <a:r>
              <a:rPr lang="pl-PL" b="1" i="1" baseline="0" dirty="0" smtClean="0">
                <a:solidFill>
                  <a:srgbClr val="4F81BD"/>
                </a:solidFill>
                <a:latin typeface="Cambria"/>
              </a:rPr>
              <a:t>int a, b , x, y, z ;</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*p, *q ;</a:t>
            </a:r>
          </a:p>
          <a:p>
            <a:pPr marR="0" lvl="2" rtl="0">
              <a:buNone/>
            </a:pPr>
            <a:r>
              <a:rPr lang="en-US" b="1" i="1" baseline="0" dirty="0" smtClean="0">
                <a:solidFill>
                  <a:srgbClr val="4F81BD"/>
                </a:solidFill>
                <a:latin typeface="Cambria"/>
              </a:rPr>
              <a:t>p = &amp;a ;</a:t>
            </a:r>
          </a:p>
          <a:p>
            <a:pPr marR="0" lvl="2" rtl="0">
              <a:buNone/>
            </a:pPr>
            <a:r>
              <a:rPr lang="en-US" b="1" i="1" baseline="0" dirty="0" smtClean="0">
                <a:solidFill>
                  <a:srgbClr val="4F81BD"/>
                </a:solidFill>
                <a:latin typeface="Cambria"/>
              </a:rPr>
              <a:t>q = &amp;b ;</a:t>
            </a:r>
          </a:p>
          <a:p>
            <a:pPr marR="0" lvl="2" rtl="0">
              <a:buNone/>
            </a:pPr>
            <a:r>
              <a:rPr lang="en-US" b="1" i="1" baseline="0" dirty="0" smtClean="0">
                <a:solidFill>
                  <a:srgbClr val="4F81BD"/>
                </a:solidFill>
                <a:latin typeface="Cambria"/>
              </a:rPr>
              <a:t>x  = p*q ;</a:t>
            </a:r>
          </a:p>
          <a:p>
            <a:pPr marR="0" lvl="2" rtl="0">
              <a:buNone/>
            </a:pPr>
            <a:r>
              <a:rPr lang="en-US" b="1" i="1" baseline="0" dirty="0" smtClean="0">
                <a:solidFill>
                  <a:srgbClr val="4F81BD"/>
                </a:solidFill>
                <a:latin typeface="Cambria"/>
              </a:rPr>
              <a:t>y = p / q ;</a:t>
            </a:r>
          </a:p>
          <a:p>
            <a:pPr marR="0" lvl="2" rtl="0">
              <a:buNone/>
            </a:pPr>
            <a:r>
              <a:rPr lang="en-US" b="1" i="1" baseline="0" dirty="0" smtClean="0">
                <a:solidFill>
                  <a:srgbClr val="4F81BD"/>
                </a:solidFill>
                <a:latin typeface="Cambria"/>
              </a:rPr>
              <a:t>z = p + q ;</a:t>
            </a:r>
          </a:p>
          <a:p>
            <a:pPr marR="0" lvl="2" rtl="0">
              <a:buNone/>
            </a:pPr>
            <a:r>
              <a:rPr lang="en-US" b="1" i="1" baseline="0" dirty="0" smtClean="0">
                <a:solidFill>
                  <a:srgbClr val="4F81BD"/>
                </a:solidFill>
                <a:latin typeface="Cambria"/>
              </a:rPr>
              <a:t>	Or</a:t>
            </a:r>
          </a:p>
          <a:p>
            <a:pPr marR="0" lvl="2" rtl="0">
              <a:buNone/>
            </a:pPr>
            <a:r>
              <a:rPr lang="en-US" b="1" i="1" baseline="0" dirty="0" smtClean="0">
                <a:solidFill>
                  <a:srgbClr val="4F81BD"/>
                </a:solidFill>
                <a:latin typeface="Cambria"/>
              </a:rPr>
              <a:t>x = &amp;a * &amp;b ;		</a:t>
            </a:r>
            <a:r>
              <a:rPr lang="en-US" b="1" i="1" baseline="0" dirty="0" smtClean="0">
                <a:solidFill>
                  <a:srgbClr val="C00000"/>
                </a:solidFill>
                <a:latin typeface="Cambria"/>
              </a:rPr>
              <a:t>// error</a:t>
            </a:r>
          </a:p>
          <a:p>
            <a:pPr marR="0" lvl="2" rtl="0">
              <a:buNone/>
            </a:pPr>
            <a:r>
              <a:rPr lang="en-US" b="1" i="1" baseline="0" dirty="0" smtClean="0">
                <a:solidFill>
                  <a:srgbClr val="4F81BD"/>
                </a:solidFill>
                <a:latin typeface="Cambria"/>
              </a:rPr>
              <a:t>y = &amp;a / &amp;b ;		</a:t>
            </a:r>
            <a:r>
              <a:rPr lang="en-US" b="1" i="1" baseline="0" dirty="0" smtClean="0">
                <a:solidFill>
                  <a:srgbClr val="C00000"/>
                </a:solidFill>
                <a:latin typeface="Cambria"/>
              </a:rPr>
              <a:t>// error</a:t>
            </a:r>
          </a:p>
          <a:p>
            <a:pPr marR="0" lvl="2" rtl="0">
              <a:buNone/>
            </a:pPr>
            <a:r>
              <a:rPr lang="en-US" b="1" i="1" baseline="0" dirty="0" smtClean="0">
                <a:solidFill>
                  <a:srgbClr val="4F81BD"/>
                </a:solidFill>
                <a:latin typeface="Cambria"/>
              </a:rPr>
              <a:t>z = &amp;a + &amp;b ;		</a:t>
            </a:r>
            <a:r>
              <a:rPr lang="en-US" b="1" i="1" baseline="0" dirty="0" smtClean="0">
                <a:solidFill>
                  <a:srgbClr val="C00000"/>
                </a:solidFill>
                <a:latin typeface="Cambria"/>
              </a:rPr>
              <a:t>// error</a:t>
            </a:r>
          </a:p>
          <a:p>
            <a:pPr marR="0" lvl="2" rtl="0">
              <a:buNone/>
            </a:pPr>
            <a:r>
              <a:rPr lang="en-US" b="1" i="1" baseline="0" dirty="0" smtClean="0">
                <a:solidFill>
                  <a:srgbClr val="4F81BD"/>
                </a:solidFill>
                <a:latin typeface="Cambria"/>
              </a:rPr>
              <a:t>}</a:t>
            </a:r>
          </a:p>
        </p:txBody>
      </p:sp>
      <p:sp>
        <p:nvSpPr>
          <p:cNvPr id="4" name="Rectangle 3"/>
          <p:cNvSpPr/>
          <p:nvPr/>
        </p:nvSpPr>
        <p:spPr>
          <a:xfrm>
            <a:off x="0" y="228600"/>
            <a:ext cx="9144000" cy="954107"/>
          </a:xfrm>
          <a:prstGeom prst="rect">
            <a:avLst/>
          </a:prstGeom>
        </p:spPr>
        <p:txBody>
          <a:bodyPr wrap="square">
            <a:spAutoFit/>
          </a:bodyPr>
          <a:lstStyle/>
          <a:p>
            <a:pPr algn="ctr"/>
            <a:r>
              <a:rPr lang="en-US" sz="2800" b="1" dirty="0" smtClean="0">
                <a:solidFill>
                  <a:srgbClr val="4F81BD"/>
                </a:solidFill>
                <a:latin typeface="Cambria"/>
              </a:rPr>
              <a:t>We cannot add, multiply or divide two addresses </a:t>
            </a:r>
          </a:p>
          <a:p>
            <a:pPr algn="ctr"/>
            <a:r>
              <a:rPr lang="en-US" sz="2800" b="1" dirty="0" smtClean="0">
                <a:solidFill>
                  <a:srgbClr val="4F81BD"/>
                </a:solidFill>
                <a:latin typeface="Cambria"/>
              </a:rPr>
              <a:t>( Subtraction is Possible)</a:t>
            </a:r>
            <a:endParaRPr lang="en-US" sz="2800"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763000" cy="838200"/>
          </a:xfrm>
        </p:spPr>
        <p:txBody>
          <a:bodyPr>
            <a:noAutofit/>
          </a:bodyPr>
          <a:lstStyle/>
          <a:p>
            <a:pPr lvl="0" algn="just"/>
            <a:r>
              <a:rPr lang="en-US" sz="2400" b="1" baseline="0" dirty="0" smtClean="0">
                <a:solidFill>
                  <a:srgbClr val="4F81BD"/>
                </a:solidFill>
                <a:latin typeface="Cambria"/>
              </a:rPr>
              <a:t>We cannot multiply an integer to an address and similarly we cannot divide an address with an integer value.:</a:t>
            </a:r>
            <a:br>
              <a:rPr lang="en-US" sz="2400" b="1" baseline="0" dirty="0" smtClean="0">
                <a:solidFill>
                  <a:srgbClr val="4F81BD"/>
                </a:solidFill>
                <a:latin typeface="Cambria"/>
              </a:rPr>
            </a:br>
            <a:endParaRPr lang="en-US" sz="2400" baseline="0" dirty="0" smtClean="0">
              <a:latin typeface="Times New Roman"/>
            </a:endParaRPr>
          </a:p>
        </p:txBody>
      </p:sp>
      <p:sp>
        <p:nvSpPr>
          <p:cNvPr id="3" name="Text Placeholder 2"/>
          <p:cNvSpPr>
            <a:spLocks noGrp="1"/>
          </p:cNvSpPr>
          <p:nvPr>
            <p:ph type="body" idx="1"/>
          </p:nvPr>
        </p:nvSpPr>
        <p:spPr>
          <a:xfrm>
            <a:off x="304800" y="1066800"/>
            <a:ext cx="8382000" cy="5791200"/>
          </a:xfrm>
        </p:spPr>
        <p:txBody>
          <a:bodyPr>
            <a:normAutofit lnSpcReduction="10000"/>
          </a:bodyPr>
          <a:lstStyle/>
          <a:p>
            <a:pPr marR="0" lvl="2" rtl="0">
              <a:buNone/>
            </a:pPr>
            <a:r>
              <a:rPr lang="en-US" b="1" i="1" baseline="0" dirty="0" smtClean="0">
                <a:solidFill>
                  <a:srgbClr val="4F81BD"/>
                </a:solidFill>
                <a:latin typeface="Cambria"/>
              </a:rPr>
              <a:t>Example :</a:t>
            </a:r>
          </a:p>
          <a:p>
            <a:pPr marR="0" lvl="2" rtl="0">
              <a:buNone/>
            </a:pPr>
            <a:r>
              <a:rPr lang="en-US" b="1" i="1" baseline="0" dirty="0" smtClean="0">
                <a:solidFill>
                  <a:srgbClr val="4F81BD"/>
                </a:solidFill>
                <a:latin typeface="Cambria"/>
              </a:rPr>
              <a:t>void main () </a:t>
            </a:r>
          </a:p>
          <a:p>
            <a:pPr marR="0" lvl="2" rtl="0">
              <a:buNone/>
            </a:pPr>
            <a:r>
              <a:rPr lang="en-US" b="1" i="1" baseline="0" dirty="0" smtClean="0">
                <a:solidFill>
                  <a:srgbClr val="4F81BD"/>
                </a:solidFill>
                <a:latin typeface="Cambria"/>
              </a:rPr>
              <a:t>{</a:t>
            </a:r>
          </a:p>
          <a:p>
            <a:pPr marR="0" lvl="2" rtl="0">
              <a:buNone/>
            </a:pPr>
            <a:r>
              <a:rPr lang="es-ES" b="1" i="1" baseline="0" dirty="0" err="1" smtClean="0">
                <a:solidFill>
                  <a:srgbClr val="4F81BD"/>
                </a:solidFill>
                <a:latin typeface="Cambria"/>
              </a:rPr>
              <a:t>int</a:t>
            </a:r>
            <a:r>
              <a:rPr lang="es-ES" b="1" i="1" baseline="0" dirty="0" smtClean="0">
                <a:solidFill>
                  <a:srgbClr val="4F81BD"/>
                </a:solidFill>
                <a:latin typeface="Cambria"/>
              </a:rPr>
              <a:t> x, y, m, n ;</a:t>
            </a:r>
          </a:p>
          <a:p>
            <a:pPr marR="0" lvl="2" rtl="0">
              <a:buNone/>
            </a:pPr>
            <a:r>
              <a:rPr lang="en-US" b="1" i="1" baseline="0" dirty="0" smtClean="0">
                <a:solidFill>
                  <a:srgbClr val="4F81BD"/>
                </a:solidFill>
                <a:latin typeface="Cambria"/>
              </a:rPr>
              <a:t>float a, b ;</a:t>
            </a:r>
          </a:p>
          <a:p>
            <a:pPr marR="0" lvl="2" rtl="0">
              <a:buNone/>
            </a:pPr>
            <a:r>
              <a:rPr lang="en-US" b="1" i="1" baseline="0" dirty="0" smtClean="0">
                <a:solidFill>
                  <a:srgbClr val="4F81BD"/>
                </a:solidFill>
                <a:latin typeface="Cambria"/>
              </a:rPr>
              <a:t>float *p, *q ;</a:t>
            </a:r>
          </a:p>
          <a:p>
            <a:pPr marR="0" lvl="2" rtl="0"/>
            <a:endParaRPr lang="en-US" b="1" i="1" baseline="0" dirty="0" smtClean="0">
              <a:solidFill>
                <a:srgbClr val="4F81BD"/>
              </a:solidFill>
              <a:latin typeface="Cambria"/>
            </a:endParaRPr>
          </a:p>
          <a:p>
            <a:pPr marR="0" lvl="2" rtl="0"/>
            <a:r>
              <a:rPr lang="en-US" b="1" i="1" baseline="0" dirty="0" smtClean="0">
                <a:solidFill>
                  <a:srgbClr val="4F81BD"/>
                </a:solidFill>
                <a:latin typeface="Cambria"/>
              </a:rPr>
              <a:t>p = &amp;a ;</a:t>
            </a:r>
          </a:p>
          <a:p>
            <a:pPr marR="0" lvl="2" rtl="0"/>
            <a:r>
              <a:rPr lang="en-US" b="1" i="1" baseline="0" dirty="0" smtClean="0">
                <a:solidFill>
                  <a:srgbClr val="4F81BD"/>
                </a:solidFill>
                <a:latin typeface="Cambria"/>
              </a:rPr>
              <a:t>q = &amp;b ;</a:t>
            </a:r>
          </a:p>
          <a:p>
            <a:pPr marR="0" lvl="2" rtl="0"/>
            <a:r>
              <a:rPr lang="en-US" b="1" i="1" baseline="0" dirty="0" smtClean="0">
                <a:solidFill>
                  <a:srgbClr val="4F81BD"/>
                </a:solidFill>
                <a:latin typeface="Cambria"/>
              </a:rPr>
              <a:t>x = p * 5 ;		</a:t>
            </a:r>
            <a:r>
              <a:rPr lang="en-US" b="1" i="1" baseline="0" dirty="0" smtClean="0">
                <a:solidFill>
                  <a:srgbClr val="C00000"/>
                </a:solidFill>
                <a:latin typeface="Cambria"/>
              </a:rPr>
              <a:t>// &amp;a * 5 ;</a:t>
            </a:r>
          </a:p>
          <a:p>
            <a:pPr marR="0" lvl="2" rtl="0"/>
            <a:r>
              <a:rPr lang="es-ES" b="1" i="1" baseline="0" dirty="0" smtClean="0">
                <a:solidFill>
                  <a:srgbClr val="4F81BD"/>
                </a:solidFill>
                <a:latin typeface="Cambria"/>
              </a:rPr>
              <a:t>y = q * 6 ;		</a:t>
            </a:r>
            <a:r>
              <a:rPr lang="es-ES" b="1" i="1" baseline="0" dirty="0" smtClean="0">
                <a:solidFill>
                  <a:srgbClr val="C00000"/>
                </a:solidFill>
                <a:latin typeface="Cambria"/>
              </a:rPr>
              <a:t>// &amp;b * 6 ;</a:t>
            </a:r>
          </a:p>
          <a:p>
            <a:pPr marR="0" lvl="2" rtl="0"/>
            <a:r>
              <a:rPr lang="en-US" b="1" i="1" baseline="0" dirty="0" smtClean="0">
                <a:solidFill>
                  <a:srgbClr val="4F81BD"/>
                </a:solidFill>
                <a:latin typeface="Cambria"/>
              </a:rPr>
              <a:t>m  = p/2 ;		</a:t>
            </a:r>
            <a:r>
              <a:rPr lang="en-US" b="1" i="1" baseline="0" dirty="0" smtClean="0">
                <a:solidFill>
                  <a:srgbClr val="C00000"/>
                </a:solidFill>
                <a:latin typeface="Cambria"/>
              </a:rPr>
              <a:t>// &amp;a / 3 ;</a:t>
            </a:r>
          </a:p>
          <a:p>
            <a:pPr marR="0" lvl="2" rtl="0"/>
            <a:r>
              <a:rPr lang="pt-BR" b="1" i="1" baseline="0" dirty="0" smtClean="0">
                <a:solidFill>
                  <a:srgbClr val="4F81BD"/>
                </a:solidFill>
                <a:latin typeface="Cambria"/>
              </a:rPr>
              <a:t> n =  q / 3 ;		</a:t>
            </a:r>
            <a:r>
              <a:rPr lang="pt-BR" b="1" i="1" baseline="0" dirty="0" smtClean="0">
                <a:solidFill>
                  <a:srgbClr val="C00000"/>
                </a:solidFill>
                <a:latin typeface="Cambria"/>
              </a:rPr>
              <a:t>// &amp;b / 4 ;</a:t>
            </a:r>
          </a:p>
          <a:p>
            <a:pPr marR="0" lvl="2" rtl="0">
              <a:buNone/>
            </a:pPr>
            <a:r>
              <a:rPr lang="en-US" b="1" i="1" baseline="0" dirty="0" smtClean="0">
                <a:solidFill>
                  <a:srgbClr val="4F81BD"/>
                </a:solidFill>
                <a:latin typeface="Cambria"/>
              </a:rPr>
              <a:t>}</a:t>
            </a: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pPr marR="0" rtl="0"/>
            <a:r>
              <a:rPr lang="en-US" sz="3200" b="1" baseline="0" dirty="0" smtClean="0">
                <a:solidFill>
                  <a:srgbClr val="365F91"/>
                </a:solidFill>
                <a:latin typeface="Cambria"/>
              </a:rPr>
              <a:t>We can add or sub or subtract integer to an address ( return address)</a:t>
            </a:r>
            <a:br>
              <a:rPr lang="en-US" sz="3200" b="1" baseline="0" dirty="0" smtClean="0">
                <a:solidFill>
                  <a:srgbClr val="365F91"/>
                </a:solidFill>
                <a:latin typeface="Cambria"/>
              </a:rPr>
            </a:br>
            <a:endParaRPr lang="en-US" sz="3200" b="1" baseline="0" dirty="0" smtClean="0">
              <a:solidFill>
                <a:srgbClr val="365F91"/>
              </a:solidFill>
              <a:latin typeface="Cambria"/>
            </a:endParaRPr>
          </a:p>
        </p:txBody>
      </p:sp>
      <p:sp>
        <p:nvSpPr>
          <p:cNvPr id="4" name="Rectangle 3"/>
          <p:cNvSpPr/>
          <p:nvPr/>
        </p:nvSpPr>
        <p:spPr>
          <a:xfrm>
            <a:off x="304800" y="1066800"/>
            <a:ext cx="6553200" cy="923330"/>
          </a:xfrm>
          <a:prstGeom prst="rect">
            <a:avLst/>
          </a:prstGeom>
        </p:spPr>
        <p:txBody>
          <a:bodyPr wrap="square">
            <a:spAutoFit/>
          </a:bodyPr>
          <a:lstStyle/>
          <a:p>
            <a:pPr lvl="2"/>
            <a:r>
              <a:rPr lang="en-US" b="1" i="1" baseline="0" dirty="0" smtClean="0">
                <a:solidFill>
                  <a:srgbClr val="4F81BD"/>
                </a:solidFill>
                <a:latin typeface="Cambria"/>
              </a:rPr>
              <a:t>Example :</a:t>
            </a:r>
          </a:p>
          <a:p>
            <a:pPr lvl="2"/>
            <a:r>
              <a:rPr lang="en-US" b="1" i="1" baseline="0" dirty="0" err="1" smtClean="0">
                <a:solidFill>
                  <a:srgbClr val="4F81BD"/>
                </a:solidFill>
                <a:latin typeface="Cambria"/>
              </a:rPr>
              <a:t>int</a:t>
            </a:r>
            <a:r>
              <a:rPr lang="en-US" b="1" i="1" baseline="0" dirty="0" smtClean="0">
                <a:solidFill>
                  <a:srgbClr val="4F81BD"/>
                </a:solidFill>
                <a:latin typeface="Cambria"/>
              </a:rPr>
              <a:t> x ,  *p ;</a:t>
            </a:r>
          </a:p>
          <a:p>
            <a:pPr lvl="2"/>
            <a:r>
              <a:rPr lang="en-US" b="1" i="1" baseline="0" dirty="0" smtClean="0">
                <a:solidFill>
                  <a:srgbClr val="4F81BD"/>
                </a:solidFill>
                <a:latin typeface="Cambria"/>
              </a:rPr>
              <a:t>p = &amp;x ;</a:t>
            </a:r>
          </a:p>
        </p:txBody>
      </p:sp>
      <p:pic>
        <p:nvPicPr>
          <p:cNvPr id="5" name="Picture 4" descr="C:\Users\mohit\Desktop\Untitled.jpg"/>
          <p:cNvPicPr/>
          <p:nvPr/>
        </p:nvPicPr>
        <p:blipFill>
          <a:blip r:embed="rId2" cstate="print"/>
          <a:srcRect/>
          <a:stretch>
            <a:fillRect/>
          </a:stretch>
        </p:blipFill>
        <p:spPr bwMode="auto">
          <a:xfrm>
            <a:off x="1295400" y="2209800"/>
            <a:ext cx="6934200" cy="2667000"/>
          </a:xfrm>
          <a:prstGeom prst="rect">
            <a:avLst/>
          </a:prstGeom>
          <a:noFill/>
          <a:ln w="9525">
            <a:noFill/>
            <a:miter lim="800000"/>
            <a:headEnd/>
            <a:tailEnd/>
          </a:ln>
        </p:spPr>
      </p:pic>
      <p:sp>
        <p:nvSpPr>
          <p:cNvPr id="6" name="Rectangle 5"/>
          <p:cNvSpPr/>
          <p:nvPr/>
        </p:nvSpPr>
        <p:spPr>
          <a:xfrm>
            <a:off x="381000" y="5334000"/>
            <a:ext cx="8229600" cy="1200329"/>
          </a:xfrm>
          <a:prstGeom prst="rect">
            <a:avLst/>
          </a:prstGeom>
        </p:spPr>
        <p:txBody>
          <a:bodyPr wrap="square">
            <a:spAutoFit/>
          </a:bodyPr>
          <a:lstStyle/>
          <a:p>
            <a:pPr lvl="2"/>
            <a:r>
              <a:rPr lang="en-US" b="1" i="1" baseline="0" dirty="0" smtClean="0">
                <a:solidFill>
                  <a:srgbClr val="4F81BD"/>
                </a:solidFill>
                <a:latin typeface="Cambria"/>
              </a:rPr>
              <a:t>p + 1 ; 			// 1004 ( return next block base address of same type)</a:t>
            </a:r>
          </a:p>
          <a:p>
            <a:pPr lvl="2"/>
            <a:r>
              <a:rPr lang="en-US" b="1" i="1" baseline="0" dirty="0" smtClean="0">
                <a:solidFill>
                  <a:srgbClr val="4F81BD"/>
                </a:solidFill>
                <a:latin typeface="Cambria"/>
              </a:rPr>
              <a:t>p - 1 ;			// 1001 ( return previous block address of same type)</a:t>
            </a: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baseline="0" dirty="0" smtClean="0">
                <a:solidFill>
                  <a:srgbClr val="365F91"/>
                </a:solidFill>
                <a:latin typeface="Cambria"/>
              </a:rPr>
              <a:t>Formulae : </a:t>
            </a:r>
            <a:endParaRPr lang="en-US" baseline="0" dirty="0" smtClean="0">
              <a:latin typeface="Times New Roman"/>
            </a:endParaRPr>
          </a:p>
        </p:txBody>
      </p:sp>
      <p:sp>
        <p:nvSpPr>
          <p:cNvPr id="3" name="Text Placeholder 2"/>
          <p:cNvSpPr>
            <a:spLocks noGrp="1"/>
          </p:cNvSpPr>
          <p:nvPr>
            <p:ph type="body" idx="1"/>
          </p:nvPr>
        </p:nvSpPr>
        <p:spPr>
          <a:xfrm>
            <a:off x="228600" y="1905000"/>
            <a:ext cx="8915400" cy="4221163"/>
          </a:xfrm>
        </p:spPr>
        <p:txBody>
          <a:bodyPr>
            <a:normAutofit/>
          </a:bodyPr>
          <a:lstStyle/>
          <a:p>
            <a:pPr marR="0" lvl="0" rtl="0">
              <a:buNone/>
            </a:pPr>
            <a:r>
              <a:rPr lang="en-US" sz="3000" b="1" baseline="0" dirty="0" smtClean="0">
                <a:solidFill>
                  <a:srgbClr val="4F81BD"/>
                </a:solidFill>
                <a:latin typeface="Cambria"/>
              </a:rPr>
              <a:t>Pointer + n = Pointer + </a:t>
            </a:r>
            <a:r>
              <a:rPr lang="en-US" sz="3000" b="1" baseline="0" dirty="0" err="1" smtClean="0">
                <a:solidFill>
                  <a:srgbClr val="4F81BD"/>
                </a:solidFill>
                <a:latin typeface="Cambria"/>
              </a:rPr>
              <a:t>sizeof</a:t>
            </a:r>
            <a:r>
              <a:rPr lang="en-US" sz="3000" b="1" baseline="0" dirty="0" smtClean="0">
                <a:solidFill>
                  <a:srgbClr val="4F81BD"/>
                </a:solidFill>
                <a:latin typeface="Cambria"/>
              </a:rPr>
              <a:t> (</a:t>
            </a:r>
            <a:r>
              <a:rPr lang="en-US" sz="3000" b="1" baseline="0" dirty="0" err="1" smtClean="0">
                <a:solidFill>
                  <a:srgbClr val="4F81BD"/>
                </a:solidFill>
                <a:latin typeface="Cambria"/>
              </a:rPr>
              <a:t>typeof</a:t>
            </a:r>
            <a:r>
              <a:rPr lang="en-US" sz="3000" b="1" baseline="0" dirty="0" smtClean="0">
                <a:solidFill>
                  <a:srgbClr val="4F81BD"/>
                </a:solidFill>
                <a:latin typeface="Cambria"/>
              </a:rPr>
              <a:t> pointer ) * n</a:t>
            </a: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1371600"/>
            <a:ext cx="8534400" cy="5257800"/>
          </a:xfrm>
        </p:spPr>
        <p:txBody>
          <a:bodyPr>
            <a:normAutofit/>
          </a:bodyPr>
          <a:lstStyle/>
          <a:p>
            <a:pPr marR="0" lvl="2" rtl="0">
              <a:buNone/>
            </a:pPr>
            <a:r>
              <a:rPr lang="en-US" b="1" i="1" baseline="0" dirty="0" smtClean="0">
                <a:solidFill>
                  <a:srgbClr val="4F81BD"/>
                </a:solidFill>
                <a:latin typeface="Cambria"/>
              </a:rPr>
              <a:t>void main()</a:t>
            </a:r>
          </a:p>
          <a:p>
            <a:pPr marR="0" lvl="2" rtl="0">
              <a:buNone/>
            </a:pPr>
            <a:r>
              <a:rPr lang="en-US" b="1" i="1" baseline="0" dirty="0" smtClean="0">
                <a:solidFill>
                  <a:srgbClr val="4F81BD"/>
                </a:solidFill>
                <a:latin typeface="Cambria"/>
              </a:rPr>
              <a:t>{</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a , b ;</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*p , *q ;</a:t>
            </a:r>
          </a:p>
          <a:p>
            <a:pPr marR="0" lvl="2" rtl="0">
              <a:buNone/>
            </a:pPr>
            <a:r>
              <a:rPr lang="en-US" b="1" i="1" baseline="0" dirty="0" smtClean="0">
                <a:solidFill>
                  <a:srgbClr val="4F81BD"/>
                </a:solidFill>
                <a:latin typeface="Cambria"/>
              </a:rPr>
              <a:t>p= &amp;a ;</a:t>
            </a:r>
          </a:p>
          <a:p>
            <a:pPr marR="0" lvl="2" rtl="0">
              <a:buNone/>
            </a:pPr>
            <a:r>
              <a:rPr lang="en-US" b="1" i="1" baseline="0" dirty="0" smtClean="0">
                <a:solidFill>
                  <a:srgbClr val="4F81BD"/>
                </a:solidFill>
                <a:latin typeface="Cambria"/>
              </a:rPr>
              <a:t>q = &amp;b ;</a:t>
            </a:r>
          </a:p>
          <a:p>
            <a:pPr marR="0" lvl="2" rtl="0">
              <a:buNone/>
            </a:pPr>
            <a:r>
              <a:rPr lang="nn-NO" b="1" i="1" baseline="0" dirty="0" smtClean="0">
                <a:solidFill>
                  <a:srgbClr val="4F81BD"/>
                </a:solidFill>
                <a:latin typeface="Cambria"/>
              </a:rPr>
              <a:t>p = p + 1 ;		</a:t>
            </a:r>
            <a:r>
              <a:rPr lang="nn-NO" b="1" i="1" baseline="0" dirty="0" smtClean="0">
                <a:solidFill>
                  <a:srgbClr val="C00000"/>
                </a:solidFill>
                <a:latin typeface="Cambria"/>
              </a:rPr>
              <a:t>// p = p -1 ;</a:t>
            </a:r>
          </a:p>
          <a:p>
            <a:pPr marR="0" lvl="2" rtl="0">
              <a:buNone/>
            </a:pPr>
            <a:r>
              <a:rPr lang="fr-FR" b="1" i="1" baseline="0" dirty="0" smtClean="0">
                <a:solidFill>
                  <a:srgbClr val="4F81BD"/>
                </a:solidFill>
                <a:latin typeface="Cambria"/>
              </a:rPr>
              <a:t>q = q - 1 ; 		</a:t>
            </a:r>
            <a:r>
              <a:rPr lang="fr-FR" b="1" i="1" baseline="0" dirty="0" smtClean="0">
                <a:solidFill>
                  <a:srgbClr val="C00000"/>
                </a:solidFill>
                <a:latin typeface="Cambria"/>
              </a:rPr>
              <a:t>// q = q -1 ;</a:t>
            </a:r>
          </a:p>
          <a:p>
            <a:pPr marR="0" lvl="2" rtl="0">
              <a:buNone/>
            </a:pPr>
            <a:r>
              <a:rPr lang="en-US" b="1" i="1" baseline="0" dirty="0" smtClean="0">
                <a:solidFill>
                  <a:srgbClr val="4F81BD"/>
                </a:solidFill>
                <a:latin typeface="Cambria"/>
              </a:rPr>
              <a:t>}</a:t>
            </a:r>
          </a:p>
          <a:p>
            <a:pPr marR="0" lvl="2" rtl="0">
              <a:buNone/>
            </a:pPr>
            <a:endParaRPr lang="en-US" b="1" i="1" dirty="0">
              <a:solidFill>
                <a:srgbClr val="4F81BD"/>
              </a:solidFill>
              <a:latin typeface="Cambria"/>
            </a:endParaRPr>
          </a:p>
          <a:p>
            <a:pPr marR="0" lvl="2" algn="just" rtl="0">
              <a:buNone/>
            </a:pPr>
            <a:r>
              <a:rPr lang="en-US" b="1" i="1" baseline="0" dirty="0" smtClean="0">
                <a:solidFill>
                  <a:srgbClr val="4F81BD"/>
                </a:solidFill>
                <a:latin typeface="Cambria"/>
              </a:rPr>
              <a:t>Note : they return address so must be store in pointer.  </a:t>
            </a:r>
          </a:p>
        </p:txBody>
      </p:sp>
      <p:sp>
        <p:nvSpPr>
          <p:cNvPr id="4" name="Rectangle 3"/>
          <p:cNvSpPr/>
          <p:nvPr/>
        </p:nvSpPr>
        <p:spPr>
          <a:xfrm>
            <a:off x="2133600" y="304800"/>
            <a:ext cx="3480832" cy="707886"/>
          </a:xfrm>
          <a:prstGeom prst="rect">
            <a:avLst/>
          </a:prstGeom>
        </p:spPr>
        <p:txBody>
          <a:bodyPr wrap="square">
            <a:spAutoFit/>
          </a:bodyPr>
          <a:lstStyle/>
          <a:p>
            <a:pPr lvl="2" algn="ctr"/>
            <a:r>
              <a:rPr lang="en-US" sz="4000" b="1" baseline="0" dirty="0" smtClean="0">
                <a:solidFill>
                  <a:srgbClr val="4F81BD"/>
                </a:solidFill>
                <a:latin typeface="Cambria"/>
              </a:rPr>
              <a:t>Example :</a:t>
            </a: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pPr marR="0" rtl="0"/>
            <a:r>
              <a:rPr lang="en-US" sz="2800" b="1" baseline="0" dirty="0" smtClean="0">
                <a:solidFill>
                  <a:srgbClr val="365F91"/>
                </a:solidFill>
                <a:latin typeface="Cambria"/>
              </a:rPr>
              <a:t>We can subtract to addresses of same type which have same level of pointer.</a:t>
            </a:r>
          </a:p>
        </p:txBody>
      </p:sp>
      <p:sp>
        <p:nvSpPr>
          <p:cNvPr id="3" name="Text Placeholder 2"/>
          <p:cNvSpPr>
            <a:spLocks noGrp="1"/>
          </p:cNvSpPr>
          <p:nvPr>
            <p:ph type="body" idx="1"/>
          </p:nvPr>
        </p:nvSpPr>
        <p:spPr>
          <a:xfrm>
            <a:off x="-685800" y="1524000"/>
            <a:ext cx="9829800" cy="5334000"/>
          </a:xfrm>
        </p:spPr>
        <p:txBody>
          <a:bodyPr>
            <a:normAutofit/>
          </a:bodyPr>
          <a:lstStyle/>
          <a:p>
            <a:pPr marR="0" lvl="2" rtl="0">
              <a:buNone/>
            </a:pPr>
            <a:endParaRPr lang="en-US" b="1" i="1" baseline="0" dirty="0" smtClean="0">
              <a:solidFill>
                <a:srgbClr val="4F81BD"/>
              </a:solidFill>
              <a:latin typeface="Cambria"/>
            </a:endParaRPr>
          </a:p>
          <a:p>
            <a:pPr marR="0" lvl="2" rtl="0">
              <a:buNone/>
            </a:pPr>
            <a:endParaRPr lang="en-US" b="1" i="1" dirty="0">
              <a:solidFill>
                <a:srgbClr val="4F81BD"/>
              </a:solidFill>
              <a:latin typeface="Cambria"/>
            </a:endParaRPr>
          </a:p>
          <a:p>
            <a:pPr marR="0" lvl="2" rtl="0">
              <a:buNone/>
            </a:pPr>
            <a:r>
              <a:rPr lang="en-US" b="1" i="1" baseline="0" dirty="0" smtClean="0">
                <a:solidFill>
                  <a:srgbClr val="4F81BD"/>
                </a:solidFill>
                <a:latin typeface="Cambria"/>
              </a:rPr>
              <a:t>Formulae :</a:t>
            </a:r>
          </a:p>
          <a:p>
            <a:pPr marR="0" lvl="2" rtl="0">
              <a:buNone/>
            </a:pPr>
            <a:endParaRPr lang="en-US" b="1" i="1" baseline="0" dirty="0" smtClean="0">
              <a:solidFill>
                <a:srgbClr val="4F81BD"/>
              </a:solidFill>
              <a:latin typeface="Cambria"/>
            </a:endParaRPr>
          </a:p>
          <a:p>
            <a:pPr marR="0" lvl="2" algn="just" rtl="0">
              <a:buNone/>
            </a:pPr>
            <a:r>
              <a:rPr lang="en-US" sz="2300" b="1" i="1" baseline="0" dirty="0" smtClean="0">
                <a:solidFill>
                  <a:srgbClr val="4F81BD"/>
                </a:solidFill>
                <a:latin typeface="Cambria"/>
              </a:rPr>
              <a:t>Pointer1 – Pointer2 = Literal Subtraction / </a:t>
            </a:r>
            <a:r>
              <a:rPr lang="en-US" sz="2300" b="1" i="1" baseline="0" dirty="0" err="1" smtClean="0">
                <a:solidFill>
                  <a:srgbClr val="4F81BD"/>
                </a:solidFill>
                <a:latin typeface="Cambria"/>
              </a:rPr>
              <a:t>sizeof</a:t>
            </a:r>
            <a:r>
              <a:rPr lang="en-US" sz="2300" b="1" i="1" baseline="0" dirty="0" smtClean="0">
                <a:solidFill>
                  <a:srgbClr val="4F81BD"/>
                </a:solidFill>
                <a:latin typeface="Cambria"/>
              </a:rPr>
              <a:t>( type of pointer) </a:t>
            </a:r>
          </a:p>
          <a:p>
            <a:pPr marR="0" lvl="2" rtl="0"/>
            <a:endParaRPr lang="en-US" b="1" i="1" baseline="0" dirty="0" smtClean="0">
              <a:solidFill>
                <a:srgbClr val="4F81BD"/>
              </a:solidFill>
              <a:latin typeface="Cambria"/>
            </a:endParaRP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228600"/>
            <a:ext cx="8001000" cy="6629400"/>
          </a:xfrm>
          <a:prstGeom prst="rect">
            <a:avLst/>
          </a:prstGeom>
        </p:spPr>
        <p:txBody>
          <a:bodyPr wrap="square">
            <a:spAutoFit/>
          </a:bodyPr>
          <a:lstStyle/>
          <a:p>
            <a:pPr lvl="2"/>
            <a:r>
              <a:rPr lang="en-US" b="1" i="1" baseline="0" dirty="0" smtClean="0">
                <a:solidFill>
                  <a:srgbClr val="4F81BD"/>
                </a:solidFill>
                <a:latin typeface="Cambria"/>
              </a:rPr>
              <a:t>Example :</a:t>
            </a:r>
          </a:p>
          <a:p>
            <a:pPr lvl="2"/>
            <a:r>
              <a:rPr lang="en-US" b="1" i="1" baseline="0" dirty="0" smtClean="0">
                <a:solidFill>
                  <a:srgbClr val="4F81BD"/>
                </a:solidFill>
                <a:latin typeface="Cambria"/>
              </a:rPr>
              <a:t>#include&lt;</a:t>
            </a:r>
            <a:r>
              <a:rPr lang="en-US" b="1" i="1" baseline="0" dirty="0" err="1" smtClean="0">
                <a:solidFill>
                  <a:srgbClr val="4F81BD"/>
                </a:solidFill>
                <a:latin typeface="Cambria"/>
              </a:rPr>
              <a:t>stdio.h</a:t>
            </a:r>
            <a:r>
              <a:rPr lang="en-US" b="1" i="1" baseline="0" dirty="0" smtClean="0">
                <a:solidFill>
                  <a:srgbClr val="4F81BD"/>
                </a:solidFill>
                <a:latin typeface="Cambria"/>
              </a:rPr>
              <a:t>&gt;</a:t>
            </a:r>
          </a:p>
          <a:p>
            <a:pPr lvl="2"/>
            <a:r>
              <a:rPr lang="en-US" b="1" i="1" baseline="0" dirty="0" smtClean="0">
                <a:solidFill>
                  <a:srgbClr val="4F81BD"/>
                </a:solidFill>
                <a:latin typeface="Cambria"/>
              </a:rPr>
              <a:t>#include&lt;</a:t>
            </a:r>
            <a:r>
              <a:rPr lang="en-US" b="1" i="1" baseline="0" dirty="0" err="1" smtClean="0">
                <a:solidFill>
                  <a:srgbClr val="4F81BD"/>
                </a:solidFill>
                <a:latin typeface="Cambria"/>
              </a:rPr>
              <a:t>conio.h</a:t>
            </a:r>
            <a:r>
              <a:rPr lang="en-US" b="1" i="1" baseline="0" dirty="0" smtClean="0">
                <a:solidFill>
                  <a:srgbClr val="4F81BD"/>
                </a:solidFill>
                <a:latin typeface="Cambria"/>
              </a:rPr>
              <a:t>&gt;</a:t>
            </a:r>
          </a:p>
          <a:p>
            <a:pPr lvl="2"/>
            <a:r>
              <a:rPr lang="en-US" b="1" i="1" baseline="0" dirty="0" smtClean="0">
                <a:solidFill>
                  <a:srgbClr val="4F81BD"/>
                </a:solidFill>
                <a:latin typeface="Cambria"/>
              </a:rPr>
              <a:t>void main()</a:t>
            </a:r>
          </a:p>
          <a:p>
            <a:pPr lvl="2"/>
            <a:r>
              <a:rPr lang="en-US" b="1" i="1" baseline="0" dirty="0" smtClean="0">
                <a:solidFill>
                  <a:srgbClr val="4F81BD"/>
                </a:solidFill>
                <a:latin typeface="Cambria"/>
              </a:rPr>
              <a:t>{</a:t>
            </a:r>
          </a:p>
          <a:p>
            <a:pPr lvl="2"/>
            <a:r>
              <a:rPr lang="en-US" b="1" i="1" baseline="0" dirty="0" err="1" smtClean="0">
                <a:solidFill>
                  <a:srgbClr val="4F81BD"/>
                </a:solidFill>
                <a:latin typeface="Cambria"/>
              </a:rPr>
              <a:t>int</a:t>
            </a:r>
            <a:r>
              <a:rPr lang="en-US" b="1" i="1" baseline="0" dirty="0" smtClean="0">
                <a:solidFill>
                  <a:srgbClr val="4F81BD"/>
                </a:solidFill>
                <a:latin typeface="Cambria"/>
              </a:rPr>
              <a:t> x , y , z ;</a:t>
            </a:r>
          </a:p>
          <a:p>
            <a:pPr lvl="2"/>
            <a:r>
              <a:rPr lang="en-US" b="1" i="1" baseline="0" dirty="0" smtClean="0">
                <a:solidFill>
                  <a:srgbClr val="4F81BD"/>
                </a:solidFill>
                <a:latin typeface="Cambria"/>
              </a:rPr>
              <a:t>float a, b , c ;</a:t>
            </a:r>
          </a:p>
          <a:p>
            <a:pPr lvl="2"/>
            <a:r>
              <a:rPr lang="en-US" b="1" i="1" baseline="0" dirty="0" smtClean="0">
                <a:solidFill>
                  <a:srgbClr val="4F81BD"/>
                </a:solidFill>
                <a:latin typeface="Cambria"/>
              </a:rPr>
              <a:t>float *p , *q ,*r ;</a:t>
            </a:r>
          </a:p>
          <a:p>
            <a:pPr lvl="2"/>
            <a:r>
              <a:rPr lang="en-US" b="1" i="1" baseline="0" dirty="0" err="1" smtClean="0">
                <a:solidFill>
                  <a:srgbClr val="4F81BD"/>
                </a:solidFill>
                <a:latin typeface="Cambria"/>
              </a:rPr>
              <a:t>clrscr</a:t>
            </a:r>
            <a:r>
              <a:rPr lang="en-US" b="1" i="1" baseline="0" dirty="0" smtClean="0">
                <a:solidFill>
                  <a:srgbClr val="4F81BD"/>
                </a:solidFill>
                <a:latin typeface="Cambria"/>
              </a:rPr>
              <a:t>();</a:t>
            </a:r>
          </a:p>
          <a:p>
            <a:pPr lvl="2"/>
            <a:r>
              <a:rPr lang="en-US" b="1" i="1" baseline="0" dirty="0" smtClean="0">
                <a:solidFill>
                  <a:srgbClr val="4F81BD"/>
                </a:solidFill>
                <a:latin typeface="Cambria"/>
              </a:rPr>
              <a:t>p = &amp;a ;</a:t>
            </a:r>
          </a:p>
          <a:p>
            <a:pPr lvl="2"/>
            <a:r>
              <a:rPr lang="en-US" b="1" i="1" baseline="0" dirty="0" smtClean="0">
                <a:solidFill>
                  <a:srgbClr val="4F81BD"/>
                </a:solidFill>
                <a:latin typeface="Cambria"/>
              </a:rPr>
              <a:t>q = &amp;b ;</a:t>
            </a:r>
          </a:p>
          <a:p>
            <a:pPr lvl="2"/>
            <a:r>
              <a:rPr lang="en-US" b="1" i="1" baseline="0" dirty="0" smtClean="0">
                <a:solidFill>
                  <a:srgbClr val="4F81BD"/>
                </a:solidFill>
                <a:latin typeface="Cambria"/>
              </a:rPr>
              <a:t>r = &amp;c ;</a:t>
            </a:r>
          </a:p>
          <a:p>
            <a:pPr lvl="2"/>
            <a:r>
              <a:rPr lang="en-US" b="1" i="1" baseline="0" dirty="0" smtClean="0">
                <a:solidFill>
                  <a:srgbClr val="4F81BD"/>
                </a:solidFill>
                <a:latin typeface="Cambria"/>
              </a:rPr>
              <a:t>x = p – q ;    	or    	// x = &amp;a - &amp;b ;</a:t>
            </a:r>
          </a:p>
          <a:p>
            <a:pPr lvl="2"/>
            <a:r>
              <a:rPr lang="es-ES" b="1" i="1" baseline="0" dirty="0" smtClean="0">
                <a:solidFill>
                  <a:srgbClr val="4F81BD"/>
                </a:solidFill>
                <a:latin typeface="Cambria"/>
              </a:rPr>
              <a:t>y = p – r ;    	</a:t>
            </a:r>
            <a:r>
              <a:rPr lang="es-ES" b="1" i="1" baseline="0" dirty="0" err="1" smtClean="0">
                <a:solidFill>
                  <a:srgbClr val="4F81BD"/>
                </a:solidFill>
                <a:latin typeface="Cambria"/>
              </a:rPr>
              <a:t>or</a:t>
            </a:r>
            <a:r>
              <a:rPr lang="es-ES" b="1" i="1" baseline="0" dirty="0" smtClean="0">
                <a:solidFill>
                  <a:srgbClr val="4F81BD"/>
                </a:solidFill>
                <a:latin typeface="Cambria"/>
              </a:rPr>
              <a:t>   	// y = &amp;a - &amp;c ;</a:t>
            </a:r>
          </a:p>
          <a:p>
            <a:pPr lvl="2"/>
            <a:r>
              <a:rPr lang="pl-PL" b="1" i="1" baseline="0" dirty="0" smtClean="0">
                <a:solidFill>
                  <a:srgbClr val="4F81BD"/>
                </a:solidFill>
                <a:latin typeface="Cambria"/>
              </a:rPr>
              <a:t>z = r – p ;   	or  	 // z = &amp;c - &amp;a ;</a:t>
            </a:r>
          </a:p>
          <a:p>
            <a:pPr lvl="2"/>
            <a:r>
              <a:rPr lang="en-US" b="1" i="1" baseline="0" dirty="0" err="1" smtClean="0">
                <a:solidFill>
                  <a:srgbClr val="4F81BD"/>
                </a:solidFill>
                <a:latin typeface="Cambria"/>
              </a:rPr>
              <a:t>printf</a:t>
            </a:r>
            <a:r>
              <a:rPr lang="en-US" b="1" i="1" baseline="0" dirty="0" smtClean="0">
                <a:solidFill>
                  <a:srgbClr val="4F81BD"/>
                </a:solidFill>
                <a:latin typeface="Cambria"/>
              </a:rPr>
              <a:t> ( “%u” , p ) ;</a:t>
            </a:r>
          </a:p>
          <a:p>
            <a:pPr lvl="2"/>
            <a:r>
              <a:rPr lang="en-US" b="1" i="1" baseline="0" dirty="0" err="1" smtClean="0">
                <a:solidFill>
                  <a:srgbClr val="4F81BD"/>
                </a:solidFill>
                <a:latin typeface="Cambria"/>
              </a:rPr>
              <a:t>printf</a:t>
            </a:r>
            <a:r>
              <a:rPr lang="en-US" b="1" i="1" baseline="0" dirty="0" smtClean="0">
                <a:solidFill>
                  <a:srgbClr val="4F81BD"/>
                </a:solidFill>
                <a:latin typeface="Cambria"/>
              </a:rPr>
              <a:t> ( “%u” , q ) ;</a:t>
            </a:r>
          </a:p>
          <a:p>
            <a:pPr lvl="2"/>
            <a:r>
              <a:rPr lang="en-US" b="1" i="1" baseline="0" dirty="0" err="1" smtClean="0">
                <a:solidFill>
                  <a:srgbClr val="4F81BD"/>
                </a:solidFill>
                <a:latin typeface="Cambria"/>
              </a:rPr>
              <a:t>printf</a:t>
            </a:r>
            <a:r>
              <a:rPr lang="en-US" b="1" i="1" baseline="0" dirty="0" smtClean="0">
                <a:solidFill>
                  <a:srgbClr val="4F81BD"/>
                </a:solidFill>
                <a:latin typeface="Cambria"/>
              </a:rPr>
              <a:t> ( “%u” , r ) ;</a:t>
            </a:r>
          </a:p>
          <a:p>
            <a:pPr lvl="2"/>
            <a:r>
              <a:rPr lang="en-US" b="1" i="1" baseline="0" dirty="0" err="1" smtClean="0">
                <a:solidFill>
                  <a:srgbClr val="4F81BD"/>
                </a:solidFill>
                <a:latin typeface="Cambria"/>
              </a:rPr>
              <a:t>printf</a:t>
            </a:r>
            <a:r>
              <a:rPr lang="en-US" b="1" i="1" baseline="0" dirty="0" smtClean="0">
                <a:solidFill>
                  <a:srgbClr val="4F81BD"/>
                </a:solidFill>
                <a:latin typeface="Cambria"/>
              </a:rPr>
              <a:t> ( “%d” , x ) ;</a:t>
            </a:r>
          </a:p>
          <a:p>
            <a:pPr lvl="2"/>
            <a:r>
              <a:rPr lang="en-US" b="1" i="1" baseline="0" dirty="0" err="1" smtClean="0">
                <a:solidFill>
                  <a:srgbClr val="4F81BD"/>
                </a:solidFill>
                <a:latin typeface="Cambria"/>
              </a:rPr>
              <a:t>printf</a:t>
            </a:r>
            <a:r>
              <a:rPr lang="en-US" b="1" i="1" baseline="0" dirty="0" smtClean="0">
                <a:solidFill>
                  <a:srgbClr val="4F81BD"/>
                </a:solidFill>
                <a:latin typeface="Cambria"/>
              </a:rPr>
              <a:t> ( “%d” , y ) ;</a:t>
            </a:r>
          </a:p>
          <a:p>
            <a:pPr lvl="2"/>
            <a:r>
              <a:rPr lang="en-US" b="1" i="1" baseline="0" dirty="0" err="1" smtClean="0">
                <a:solidFill>
                  <a:srgbClr val="4F81BD"/>
                </a:solidFill>
                <a:latin typeface="Cambria"/>
              </a:rPr>
              <a:t>printf</a:t>
            </a:r>
            <a:r>
              <a:rPr lang="en-US" b="1" i="1" baseline="0" dirty="0" smtClean="0">
                <a:solidFill>
                  <a:srgbClr val="4F81BD"/>
                </a:solidFill>
                <a:latin typeface="Cambria"/>
              </a:rPr>
              <a:t> ( “%d” , z ) ;</a:t>
            </a:r>
          </a:p>
          <a:p>
            <a:pPr lvl="2"/>
            <a:r>
              <a:rPr lang="en-US" b="1" i="1" baseline="0" dirty="0" err="1" smtClean="0">
                <a:solidFill>
                  <a:srgbClr val="4F81BD"/>
                </a:solidFill>
                <a:latin typeface="Cambria"/>
              </a:rPr>
              <a:t>getch</a:t>
            </a:r>
            <a:r>
              <a:rPr lang="en-US" b="1" i="1" baseline="0" dirty="0" smtClean="0">
                <a:solidFill>
                  <a:srgbClr val="4F81BD"/>
                </a:solidFill>
                <a:latin typeface="Cambria"/>
              </a:rPr>
              <a:t> ( );</a:t>
            </a:r>
          </a:p>
          <a:p>
            <a:pPr lvl="2"/>
            <a:r>
              <a:rPr lang="en-US" b="1" i="1" baseline="0" dirty="0" smtClean="0">
                <a:solidFill>
                  <a:srgbClr val="4F81BD"/>
                </a:solidFill>
                <a:latin typeface="Cambria"/>
              </a:rPr>
              <a:t>}</a:t>
            </a: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pPr marR="0" rtl="0"/>
            <a:r>
              <a:rPr lang="en-US" sz="3200" b="1" baseline="0" dirty="0" smtClean="0">
                <a:solidFill>
                  <a:srgbClr val="365F91"/>
                </a:solidFill>
                <a:latin typeface="Cambria"/>
              </a:rPr>
              <a:t>Suppose we have float type variable </a:t>
            </a:r>
          </a:p>
        </p:txBody>
      </p:sp>
      <p:sp>
        <p:nvSpPr>
          <p:cNvPr id="3" name="Text Placeholder 2"/>
          <p:cNvSpPr>
            <a:spLocks noGrp="1"/>
          </p:cNvSpPr>
          <p:nvPr>
            <p:ph type="body" idx="1"/>
          </p:nvPr>
        </p:nvSpPr>
        <p:spPr>
          <a:xfrm>
            <a:off x="-533400" y="1066800"/>
            <a:ext cx="9677400" cy="5791200"/>
          </a:xfrm>
        </p:spPr>
        <p:txBody>
          <a:bodyPr>
            <a:normAutofit lnSpcReduction="10000"/>
          </a:bodyPr>
          <a:lstStyle/>
          <a:p>
            <a:pPr lvl="2">
              <a:buFont typeface="Wingdings" pitchFamily="2" charset="2"/>
              <a:buChar char="Ø"/>
            </a:pPr>
            <a:r>
              <a:rPr lang="en-US" b="1" i="1" dirty="0" smtClean="0">
                <a:solidFill>
                  <a:srgbClr val="4F81BD"/>
                </a:solidFill>
                <a:latin typeface="Cambria"/>
              </a:rPr>
              <a:t>float</a:t>
            </a:r>
            <a:r>
              <a:rPr lang="en-US" b="1" i="1" baseline="0" dirty="0" smtClean="0">
                <a:solidFill>
                  <a:srgbClr val="4F81BD"/>
                </a:solidFill>
                <a:latin typeface="Cambria"/>
              </a:rPr>
              <a:t> a, b, c ;</a:t>
            </a:r>
          </a:p>
          <a:p>
            <a:pPr lvl="2">
              <a:buFont typeface="Wingdings" pitchFamily="2" charset="2"/>
              <a:buChar char="Ø"/>
            </a:pPr>
            <a:r>
              <a:rPr lang="en-US" b="1" i="1" baseline="0" dirty="0" smtClean="0">
                <a:solidFill>
                  <a:srgbClr val="4F81BD"/>
                </a:solidFill>
                <a:latin typeface="Cambria"/>
              </a:rPr>
              <a:t>in which address of</a:t>
            </a:r>
          </a:p>
          <a:p>
            <a:pPr marR="0" lvl="2" rtl="0">
              <a:buNone/>
            </a:pPr>
            <a:r>
              <a:rPr lang="en-US" b="1" i="1" baseline="0" dirty="0" smtClean="0">
                <a:solidFill>
                  <a:schemeClr val="tx2">
                    <a:lumMod val="50000"/>
                  </a:schemeClr>
                </a:solidFill>
                <a:latin typeface="Cambria"/>
              </a:rPr>
              <a:t>	</a:t>
            </a:r>
            <a:r>
              <a:rPr lang="en-US" b="1" i="1" baseline="0" dirty="0" smtClean="0">
                <a:solidFill>
                  <a:srgbClr val="FF0000"/>
                </a:solidFill>
                <a:latin typeface="Cambria"/>
              </a:rPr>
              <a:t>a</a:t>
            </a:r>
            <a:r>
              <a:rPr lang="en-US" b="1" i="1" baseline="0" dirty="0" smtClean="0">
                <a:solidFill>
                  <a:schemeClr val="tx2">
                    <a:lumMod val="50000"/>
                  </a:schemeClr>
                </a:solidFill>
                <a:latin typeface="Cambria"/>
              </a:rPr>
              <a:t> is 65522		</a:t>
            </a:r>
          </a:p>
          <a:p>
            <a:pPr marR="0" lvl="2" rtl="0">
              <a:buNone/>
            </a:pPr>
            <a:r>
              <a:rPr lang="en-US" b="1" i="1" baseline="0" dirty="0" smtClean="0">
                <a:solidFill>
                  <a:schemeClr val="tx2">
                    <a:lumMod val="50000"/>
                  </a:schemeClr>
                </a:solidFill>
                <a:latin typeface="Cambria"/>
              </a:rPr>
              <a:t>	</a:t>
            </a:r>
            <a:r>
              <a:rPr lang="en-US" b="1" i="1" baseline="0" dirty="0" smtClean="0">
                <a:solidFill>
                  <a:srgbClr val="FF0000"/>
                </a:solidFill>
                <a:latin typeface="Cambria"/>
              </a:rPr>
              <a:t>b</a:t>
            </a:r>
            <a:r>
              <a:rPr lang="en-US" b="1" i="1" baseline="0" dirty="0" smtClean="0">
                <a:solidFill>
                  <a:schemeClr val="tx2">
                    <a:lumMod val="50000"/>
                  </a:schemeClr>
                </a:solidFill>
                <a:latin typeface="Cambria"/>
              </a:rPr>
              <a:t> is 65518		</a:t>
            </a:r>
          </a:p>
          <a:p>
            <a:pPr marR="0" lvl="2" rtl="0">
              <a:buNone/>
            </a:pPr>
            <a:r>
              <a:rPr lang="en-US" b="1" i="1" baseline="0" dirty="0" smtClean="0">
                <a:solidFill>
                  <a:schemeClr val="tx2">
                    <a:lumMod val="50000"/>
                  </a:schemeClr>
                </a:solidFill>
                <a:latin typeface="Cambria"/>
              </a:rPr>
              <a:t>	</a:t>
            </a:r>
            <a:r>
              <a:rPr lang="en-US" b="1" i="1" baseline="0" dirty="0" smtClean="0">
                <a:solidFill>
                  <a:srgbClr val="FF0000"/>
                </a:solidFill>
                <a:latin typeface="Cambria"/>
              </a:rPr>
              <a:t>c</a:t>
            </a:r>
            <a:r>
              <a:rPr lang="en-US" b="1" i="1" baseline="0" dirty="0" smtClean="0">
                <a:solidFill>
                  <a:schemeClr val="tx2">
                    <a:lumMod val="50000"/>
                  </a:schemeClr>
                </a:solidFill>
                <a:latin typeface="Cambria"/>
              </a:rPr>
              <a:t> is 65514</a:t>
            </a:r>
          </a:p>
          <a:p>
            <a:pPr marR="0" lvl="2" rtl="0">
              <a:buNone/>
            </a:pPr>
            <a:endParaRPr lang="en-US" b="1" i="1" dirty="0">
              <a:solidFill>
                <a:schemeClr val="tx2">
                  <a:lumMod val="50000"/>
                </a:schemeClr>
              </a:solidFill>
              <a:latin typeface="Cambria"/>
            </a:endParaRPr>
          </a:p>
          <a:p>
            <a:pPr marR="0" lvl="2" rtl="0">
              <a:buNone/>
            </a:pPr>
            <a:endParaRPr lang="en-US" b="1" i="1" baseline="0" dirty="0" smtClean="0">
              <a:solidFill>
                <a:schemeClr val="tx2">
                  <a:lumMod val="50000"/>
                </a:schemeClr>
              </a:solidFill>
              <a:latin typeface="Cambria"/>
            </a:endParaRPr>
          </a:p>
          <a:p>
            <a:pPr marR="0" lvl="2" rtl="0">
              <a:buNone/>
            </a:pPr>
            <a:endParaRPr lang="en-US" b="1" i="1" dirty="0">
              <a:solidFill>
                <a:schemeClr val="tx2">
                  <a:lumMod val="50000"/>
                </a:schemeClr>
              </a:solidFill>
              <a:latin typeface="Cambria"/>
            </a:endParaRPr>
          </a:p>
          <a:p>
            <a:pPr marR="0" lvl="2" rtl="0">
              <a:buNone/>
            </a:pPr>
            <a:endParaRPr lang="en-US" b="1" i="1" baseline="0" dirty="0" smtClean="0">
              <a:solidFill>
                <a:schemeClr val="tx2">
                  <a:lumMod val="50000"/>
                </a:schemeClr>
              </a:solidFill>
              <a:latin typeface="Cambria"/>
            </a:endParaRPr>
          </a:p>
          <a:p>
            <a:pPr marR="0" lvl="2" rtl="0">
              <a:buNone/>
            </a:pPr>
            <a:endParaRPr lang="en-US" b="1" i="1" dirty="0">
              <a:solidFill>
                <a:schemeClr val="tx2">
                  <a:lumMod val="50000"/>
                </a:schemeClr>
              </a:solidFill>
              <a:latin typeface="Cambria"/>
            </a:endParaRPr>
          </a:p>
          <a:p>
            <a:pPr marR="0" lvl="2" rtl="0">
              <a:buNone/>
            </a:pPr>
            <a:endParaRPr lang="en-US" b="1" i="1" baseline="0" dirty="0" smtClean="0">
              <a:solidFill>
                <a:schemeClr val="tx2">
                  <a:lumMod val="50000"/>
                </a:schemeClr>
              </a:solidFill>
              <a:latin typeface="Cambria"/>
            </a:endParaRPr>
          </a:p>
          <a:p>
            <a:pPr lvl="2"/>
            <a:r>
              <a:rPr lang="en-US" sz="1800" b="1" i="1" baseline="0" dirty="0" smtClean="0">
                <a:solidFill>
                  <a:srgbClr val="4F81BD"/>
                </a:solidFill>
                <a:latin typeface="Cambria"/>
              </a:rPr>
              <a:t>p-q =&gt; (65522 – 65518) / 4 =&gt;  Literal Subtraction / </a:t>
            </a:r>
            <a:r>
              <a:rPr lang="en-US" sz="1800" b="1" i="1" baseline="0" dirty="0" err="1" smtClean="0">
                <a:solidFill>
                  <a:srgbClr val="4F81BD"/>
                </a:solidFill>
                <a:latin typeface="Cambria"/>
              </a:rPr>
              <a:t>Sizeof</a:t>
            </a:r>
            <a:r>
              <a:rPr lang="en-US" sz="1800" b="1" i="1" baseline="0" dirty="0" smtClean="0">
                <a:solidFill>
                  <a:srgbClr val="4F81BD"/>
                </a:solidFill>
                <a:latin typeface="Cambria"/>
              </a:rPr>
              <a:t> (</a:t>
            </a:r>
            <a:r>
              <a:rPr lang="en-US" sz="1800" b="1" i="1" baseline="0" dirty="0" err="1" smtClean="0">
                <a:solidFill>
                  <a:srgbClr val="4F81BD"/>
                </a:solidFill>
                <a:latin typeface="Cambria"/>
              </a:rPr>
              <a:t>typeof</a:t>
            </a:r>
            <a:r>
              <a:rPr lang="en-US" sz="1800" b="1" i="1" baseline="0" dirty="0" smtClean="0">
                <a:solidFill>
                  <a:srgbClr val="4F81BD"/>
                </a:solidFill>
                <a:latin typeface="Cambria"/>
              </a:rPr>
              <a:t> pointer) = &gt; 1</a:t>
            </a:r>
          </a:p>
          <a:p>
            <a:pPr lvl="2"/>
            <a:r>
              <a:rPr lang="en-US" sz="1800" b="1" i="1" baseline="0" dirty="0" smtClean="0">
                <a:solidFill>
                  <a:srgbClr val="4F81BD"/>
                </a:solidFill>
                <a:latin typeface="Cambria"/>
              </a:rPr>
              <a:t>p-r =&gt; (65522 – 65514) / 4 =&gt; Literal Subtraction / </a:t>
            </a:r>
            <a:r>
              <a:rPr lang="en-US" sz="1800" b="1" i="1" baseline="0" dirty="0" err="1" smtClean="0">
                <a:solidFill>
                  <a:srgbClr val="4F81BD"/>
                </a:solidFill>
                <a:latin typeface="Cambria"/>
              </a:rPr>
              <a:t>Sizeof</a:t>
            </a:r>
            <a:r>
              <a:rPr lang="en-US" sz="1800" b="1" i="1" baseline="0" dirty="0" smtClean="0">
                <a:solidFill>
                  <a:srgbClr val="4F81BD"/>
                </a:solidFill>
                <a:latin typeface="Cambria"/>
              </a:rPr>
              <a:t> (</a:t>
            </a:r>
            <a:r>
              <a:rPr lang="en-US" sz="1800" b="1" i="1" baseline="0" dirty="0" err="1" smtClean="0">
                <a:solidFill>
                  <a:srgbClr val="4F81BD"/>
                </a:solidFill>
                <a:latin typeface="Cambria"/>
              </a:rPr>
              <a:t>typeof</a:t>
            </a:r>
            <a:r>
              <a:rPr lang="en-US" sz="1800" b="1" i="1" baseline="0" dirty="0" smtClean="0">
                <a:solidFill>
                  <a:srgbClr val="4F81BD"/>
                </a:solidFill>
                <a:latin typeface="Cambria"/>
              </a:rPr>
              <a:t> pointer) =&gt; 2</a:t>
            </a:r>
          </a:p>
          <a:p>
            <a:pPr lvl="2"/>
            <a:r>
              <a:rPr lang="en-US" sz="1800" b="1" i="1" baseline="0" dirty="0" smtClean="0">
                <a:solidFill>
                  <a:srgbClr val="4F81BD"/>
                </a:solidFill>
                <a:latin typeface="Cambria"/>
              </a:rPr>
              <a:t>p-q =&gt; (65514 – 65522) / 4 =&gt; Literal Subtraction / </a:t>
            </a:r>
            <a:r>
              <a:rPr lang="en-US" sz="1800" b="1" i="1" baseline="0" dirty="0" err="1" smtClean="0">
                <a:solidFill>
                  <a:srgbClr val="4F81BD"/>
                </a:solidFill>
                <a:latin typeface="Cambria"/>
              </a:rPr>
              <a:t>Sizeof</a:t>
            </a:r>
            <a:r>
              <a:rPr lang="en-US" sz="1800" b="1" i="1" baseline="0" dirty="0" smtClean="0">
                <a:solidFill>
                  <a:srgbClr val="4F81BD"/>
                </a:solidFill>
                <a:latin typeface="Cambria"/>
              </a:rPr>
              <a:t> (</a:t>
            </a:r>
            <a:r>
              <a:rPr lang="en-US" sz="1800" b="1" i="1" baseline="0" dirty="0" err="1" smtClean="0">
                <a:solidFill>
                  <a:srgbClr val="4F81BD"/>
                </a:solidFill>
                <a:latin typeface="Cambria"/>
              </a:rPr>
              <a:t>typeof</a:t>
            </a:r>
            <a:r>
              <a:rPr lang="en-US" sz="1800" b="1" i="1" baseline="0" dirty="0" smtClean="0">
                <a:solidFill>
                  <a:srgbClr val="4F81BD"/>
                </a:solidFill>
                <a:latin typeface="Cambria"/>
              </a:rPr>
              <a:t> pointer) =&gt; -2</a:t>
            </a:r>
          </a:p>
        </p:txBody>
      </p:sp>
      <p:pic>
        <p:nvPicPr>
          <p:cNvPr id="4" name="Picture 3" descr="C:\Users\mohit\Desktop\C Notes\pointr.jpg"/>
          <p:cNvPicPr/>
          <p:nvPr/>
        </p:nvPicPr>
        <p:blipFill>
          <a:blip r:embed="rId2" cstate="print"/>
          <a:srcRect/>
          <a:stretch>
            <a:fillRect/>
          </a:stretch>
        </p:blipFill>
        <p:spPr bwMode="auto">
          <a:xfrm>
            <a:off x="3505200" y="762000"/>
            <a:ext cx="4876800" cy="4267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Application of Pointer in C</a:t>
            </a:r>
          </a:p>
        </p:txBody>
      </p:sp>
      <p:sp>
        <p:nvSpPr>
          <p:cNvPr id="3" name="Text Placeholder 2"/>
          <p:cNvSpPr>
            <a:spLocks noGrp="1"/>
          </p:cNvSpPr>
          <p:nvPr>
            <p:ph type="body" idx="1"/>
          </p:nvPr>
        </p:nvSpPr>
        <p:spPr/>
        <p:txBody>
          <a:bodyPr/>
          <a:lstStyle/>
          <a:p>
            <a:pPr marR="0" lvl="0" algn="just" rtl="0">
              <a:buFont typeface="Wingdings" pitchFamily="2" charset="2"/>
              <a:buChar char="Ø"/>
            </a:pPr>
            <a:r>
              <a:rPr lang="en-US" b="1" baseline="0" dirty="0" smtClean="0">
                <a:solidFill>
                  <a:srgbClr val="4F81BD"/>
                </a:solidFill>
                <a:latin typeface="Cambria"/>
              </a:rPr>
              <a:t>In Function using Call by address.</a:t>
            </a:r>
          </a:p>
          <a:p>
            <a:pPr marR="0" lvl="0" algn="just" rtl="0">
              <a:buFont typeface="Wingdings" pitchFamily="2" charset="2"/>
              <a:buChar char="Ø"/>
            </a:pPr>
            <a:r>
              <a:rPr lang="en-US" b="1" baseline="0" dirty="0" smtClean="0">
                <a:solidFill>
                  <a:srgbClr val="4F81BD"/>
                </a:solidFill>
                <a:latin typeface="Cambria"/>
              </a:rPr>
              <a:t>In an Array ( we can print scan value through pointer)</a:t>
            </a:r>
          </a:p>
          <a:p>
            <a:pPr marR="0" lvl="0" algn="just" rtl="0">
              <a:buFont typeface="Wingdings" pitchFamily="2" charset="2"/>
              <a:buChar char="Ø"/>
            </a:pPr>
            <a:r>
              <a:rPr lang="en-US" b="1" baseline="0" dirty="0" smtClean="0">
                <a:solidFill>
                  <a:srgbClr val="4F81BD"/>
                </a:solidFill>
                <a:latin typeface="Cambria"/>
              </a:rPr>
              <a:t>In Dynamic </a:t>
            </a:r>
            <a:r>
              <a:rPr lang="en-US" b="1" baseline="0" dirty="0" err="1" smtClean="0">
                <a:solidFill>
                  <a:srgbClr val="4F81BD"/>
                </a:solidFill>
                <a:latin typeface="Cambria"/>
              </a:rPr>
              <a:t>Memroy</a:t>
            </a:r>
            <a:r>
              <a:rPr lang="en-US" b="1" baseline="0" dirty="0" smtClean="0">
                <a:solidFill>
                  <a:srgbClr val="4F81BD"/>
                </a:solidFill>
                <a:latin typeface="Cambria"/>
              </a:rPr>
              <a:t> </a:t>
            </a:r>
            <a:r>
              <a:rPr lang="en-US" b="1" baseline="0" dirty="0" err="1" smtClean="0">
                <a:solidFill>
                  <a:srgbClr val="4F81BD"/>
                </a:solidFill>
                <a:latin typeface="Cambria"/>
              </a:rPr>
              <a:t>Alloation</a:t>
            </a:r>
            <a:endParaRPr lang="en-US" b="1" baseline="0" dirty="0" smtClean="0">
              <a:solidFill>
                <a:srgbClr val="4F81BD"/>
              </a:solidFill>
              <a:latin typeface="Cambria"/>
            </a:endParaRP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pPr marR="0" rtl="0"/>
            <a:r>
              <a:rPr lang="en-US" b="1" baseline="0" dirty="0" smtClean="0">
                <a:solidFill>
                  <a:srgbClr val="365F91"/>
                </a:solidFill>
                <a:latin typeface="Cambria"/>
              </a:rPr>
              <a:t>What is Wild Pointer</a:t>
            </a:r>
          </a:p>
        </p:txBody>
      </p:sp>
      <p:sp>
        <p:nvSpPr>
          <p:cNvPr id="3" name="Text Placeholder 2"/>
          <p:cNvSpPr>
            <a:spLocks noGrp="1"/>
          </p:cNvSpPr>
          <p:nvPr>
            <p:ph type="body" idx="1"/>
          </p:nvPr>
        </p:nvSpPr>
        <p:spPr>
          <a:xfrm>
            <a:off x="0" y="990600"/>
            <a:ext cx="9144000" cy="5135563"/>
          </a:xfrm>
        </p:spPr>
        <p:txBody>
          <a:bodyPr>
            <a:normAutofit lnSpcReduction="10000"/>
          </a:bodyPr>
          <a:lstStyle/>
          <a:p>
            <a:pPr marR="0" lvl="1" algn="just" rtl="0">
              <a:buNone/>
            </a:pPr>
            <a:r>
              <a:rPr lang="en-US" b="1" dirty="0">
                <a:solidFill>
                  <a:srgbClr val="4F81BD"/>
                </a:solidFill>
                <a:latin typeface="Cambria"/>
              </a:rPr>
              <a:t>v</a:t>
            </a:r>
            <a:r>
              <a:rPr lang="en-US" b="1" baseline="0" dirty="0" smtClean="0">
                <a:solidFill>
                  <a:srgbClr val="4F81BD"/>
                </a:solidFill>
                <a:latin typeface="Cambria"/>
              </a:rPr>
              <a:t>oid main()</a:t>
            </a:r>
          </a:p>
          <a:p>
            <a:pPr marR="0" lvl="1" algn="just" rtl="0">
              <a:buNone/>
            </a:pPr>
            <a:r>
              <a:rPr lang="en-US" b="1" baseline="0" dirty="0" smtClean="0">
                <a:solidFill>
                  <a:srgbClr val="4F81BD"/>
                </a:solidFill>
                <a:latin typeface="Cambria"/>
              </a:rPr>
              <a:t>{</a:t>
            </a:r>
          </a:p>
          <a:p>
            <a:pPr marR="0" lvl="1" algn="just" rtl="0">
              <a:buNone/>
            </a:pPr>
            <a:r>
              <a:rPr lang="en-US" b="1" baseline="0" dirty="0" err="1" smtClean="0">
                <a:solidFill>
                  <a:srgbClr val="4F81BD"/>
                </a:solidFill>
                <a:latin typeface="Cambria"/>
              </a:rPr>
              <a:t>int</a:t>
            </a:r>
            <a:r>
              <a:rPr lang="en-US" b="1" baseline="0" dirty="0" smtClean="0">
                <a:solidFill>
                  <a:srgbClr val="4F81BD"/>
                </a:solidFill>
                <a:latin typeface="Cambria"/>
              </a:rPr>
              <a:t> *p ;</a:t>
            </a:r>
          </a:p>
          <a:p>
            <a:pPr marR="0" lvl="1" algn="just" rtl="0">
              <a:buNone/>
            </a:pPr>
            <a:r>
              <a:rPr lang="en-US" b="1" baseline="0" dirty="0" err="1" smtClean="0">
                <a:solidFill>
                  <a:srgbClr val="4F81BD"/>
                </a:solidFill>
                <a:latin typeface="Cambria"/>
              </a:rPr>
              <a:t>printf</a:t>
            </a:r>
            <a:r>
              <a:rPr lang="en-US" b="1" baseline="0" dirty="0" smtClean="0">
                <a:solidFill>
                  <a:srgbClr val="4F81BD"/>
                </a:solidFill>
                <a:latin typeface="Cambria"/>
              </a:rPr>
              <a:t>(“%u” , p);  </a:t>
            </a:r>
          </a:p>
          <a:p>
            <a:pPr marR="0" lvl="1" algn="just" rtl="0">
              <a:buNone/>
            </a:pPr>
            <a:r>
              <a:rPr lang="en-US" b="1" baseline="0" dirty="0" smtClean="0">
                <a:solidFill>
                  <a:srgbClr val="C00000"/>
                </a:solidFill>
                <a:latin typeface="Cambria"/>
              </a:rPr>
              <a:t>// </a:t>
            </a:r>
            <a:r>
              <a:rPr lang="en-US" b="1" baseline="0" dirty="0" err="1" smtClean="0">
                <a:solidFill>
                  <a:srgbClr val="C00000"/>
                </a:solidFill>
                <a:latin typeface="Cambria"/>
              </a:rPr>
              <a:t>uninitialize</a:t>
            </a:r>
            <a:r>
              <a:rPr lang="en-US" b="1" baseline="0" dirty="0" smtClean="0">
                <a:solidFill>
                  <a:srgbClr val="C00000"/>
                </a:solidFill>
                <a:latin typeface="Cambria"/>
              </a:rPr>
              <a:t> pointer or called wild</a:t>
            </a:r>
            <a:r>
              <a:rPr lang="en-US" b="1" dirty="0" smtClean="0">
                <a:solidFill>
                  <a:srgbClr val="C00000"/>
                </a:solidFill>
                <a:latin typeface="Cambria"/>
              </a:rPr>
              <a:t> </a:t>
            </a:r>
            <a:r>
              <a:rPr lang="en-US" b="1" baseline="0" dirty="0" smtClean="0">
                <a:solidFill>
                  <a:srgbClr val="C00000"/>
                </a:solidFill>
                <a:latin typeface="Cambria"/>
              </a:rPr>
              <a:t>pointer</a:t>
            </a:r>
          </a:p>
          <a:p>
            <a:pPr marR="0" lvl="1" algn="just" rtl="0">
              <a:buNone/>
            </a:pPr>
            <a:r>
              <a:rPr lang="en-US" b="1" baseline="0" dirty="0" smtClean="0">
                <a:solidFill>
                  <a:srgbClr val="C00000"/>
                </a:solidFill>
                <a:latin typeface="Cambria"/>
              </a:rPr>
              <a:t>//print garbage value which means garbage address </a:t>
            </a:r>
            <a:r>
              <a:rPr lang="en-US" b="1" dirty="0" smtClean="0">
                <a:solidFill>
                  <a:srgbClr val="C00000"/>
                </a:solidFill>
                <a:latin typeface="Cambria"/>
              </a:rPr>
              <a:t>of</a:t>
            </a:r>
            <a:r>
              <a:rPr lang="en-US" b="1" baseline="0" dirty="0" smtClean="0">
                <a:solidFill>
                  <a:srgbClr val="C00000"/>
                </a:solidFill>
                <a:latin typeface="Cambria"/>
              </a:rPr>
              <a:t> any location</a:t>
            </a:r>
          </a:p>
          <a:p>
            <a:pPr marR="0" lvl="1" algn="just" rtl="0">
              <a:buNone/>
            </a:pPr>
            <a:r>
              <a:rPr lang="en-US" b="1" baseline="0" dirty="0" smtClean="0">
                <a:solidFill>
                  <a:srgbClr val="4F81BD"/>
                </a:solidFill>
                <a:latin typeface="Cambria"/>
              </a:rPr>
              <a:t>*p=4    </a:t>
            </a:r>
          </a:p>
          <a:p>
            <a:pPr marR="0" lvl="1" algn="just" rtl="0">
              <a:buNone/>
            </a:pPr>
            <a:r>
              <a:rPr lang="en-US" b="1" baseline="0" dirty="0" smtClean="0">
                <a:solidFill>
                  <a:srgbClr val="C00000"/>
                </a:solidFill>
                <a:latin typeface="Cambria"/>
              </a:rPr>
              <a:t>//4 store an unknown location or invalid location (free memory area)</a:t>
            </a:r>
          </a:p>
          <a:p>
            <a:pPr marR="0" lvl="1" algn="just" rtl="0">
              <a:buNone/>
            </a:pPr>
            <a:r>
              <a:rPr lang="en-US" b="1" baseline="0" dirty="0" smtClean="0">
                <a:solidFill>
                  <a:srgbClr val="4F81BD"/>
                </a:solidFill>
                <a:latin typeface="Cambria"/>
              </a:rPr>
              <a:t>}</a:t>
            </a: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rmAutofit fontScale="90000"/>
          </a:bodyPr>
          <a:lstStyle/>
          <a:p>
            <a:pPr marR="0" rtl="0"/>
            <a:r>
              <a:rPr lang="en-US" b="1" baseline="0" dirty="0" smtClean="0">
                <a:solidFill>
                  <a:srgbClr val="365F91"/>
                </a:solidFill>
                <a:latin typeface="Cambria"/>
              </a:rPr>
              <a:t>What is NULL Pointer</a:t>
            </a:r>
          </a:p>
        </p:txBody>
      </p:sp>
      <p:sp>
        <p:nvSpPr>
          <p:cNvPr id="3" name="Text Placeholder 2"/>
          <p:cNvSpPr>
            <a:spLocks noGrp="1"/>
          </p:cNvSpPr>
          <p:nvPr>
            <p:ph type="body" idx="1"/>
          </p:nvPr>
        </p:nvSpPr>
        <p:spPr>
          <a:xfrm>
            <a:off x="-228600" y="990600"/>
            <a:ext cx="9144000" cy="5867400"/>
          </a:xfrm>
        </p:spPr>
        <p:txBody>
          <a:bodyPr>
            <a:normAutofit/>
          </a:bodyPr>
          <a:lstStyle/>
          <a:p>
            <a:pPr marR="0" lvl="1" algn="just" rtl="0">
              <a:buFont typeface="Wingdings" pitchFamily="2" charset="2"/>
              <a:buChar char="Ø"/>
            </a:pPr>
            <a:r>
              <a:rPr lang="en-US" b="1" baseline="0" dirty="0" smtClean="0">
                <a:solidFill>
                  <a:srgbClr val="4F81BD"/>
                </a:solidFill>
                <a:latin typeface="Cambria" pitchFamily="18" charset="0"/>
              </a:rPr>
              <a:t>Pointer which consist NULL value called NULL Pointer.</a:t>
            </a:r>
          </a:p>
          <a:p>
            <a:pPr marR="0" lvl="1" algn="just" rtl="0">
              <a:buFont typeface="Wingdings" pitchFamily="2" charset="2"/>
              <a:buChar char="Ø"/>
            </a:pPr>
            <a:r>
              <a:rPr lang="en-US" b="1" baseline="0" dirty="0" smtClean="0">
                <a:solidFill>
                  <a:srgbClr val="4F81BD"/>
                </a:solidFill>
                <a:latin typeface="Cambria" pitchFamily="18" charset="0"/>
              </a:rPr>
              <a:t>NULL is Predefined MACRO.</a:t>
            </a:r>
          </a:p>
          <a:p>
            <a:pPr marR="0" lvl="1" algn="just" rtl="0">
              <a:buFont typeface="Wingdings" pitchFamily="2" charset="2"/>
              <a:buChar char="Ø"/>
            </a:pPr>
            <a:r>
              <a:rPr lang="en-US" b="1" baseline="0" dirty="0" smtClean="0">
                <a:solidFill>
                  <a:srgbClr val="4F81BD"/>
                </a:solidFill>
                <a:latin typeface="Cambria" pitchFamily="18" charset="0"/>
              </a:rPr>
              <a:t>NULL assign means, pointer hold address 0 which also free memory area but we assume that they does not point to any space in memory.</a:t>
            </a:r>
          </a:p>
          <a:p>
            <a:pPr marR="0" lvl="1" rtl="0">
              <a:buFont typeface="Wingdings" pitchFamily="2" charset="2"/>
              <a:buChar char="Ø"/>
            </a:pPr>
            <a:endParaRPr lang="en-US" b="1" baseline="0" dirty="0" smtClean="0">
              <a:solidFill>
                <a:srgbClr val="4F81BD"/>
              </a:solidFill>
              <a:latin typeface="Calibri"/>
            </a:endParaRPr>
          </a:p>
          <a:p>
            <a:pPr marR="0" lvl="1" rtl="0">
              <a:buNone/>
            </a:pPr>
            <a:r>
              <a:rPr lang="en-US" b="1" baseline="0" dirty="0" smtClean="0">
                <a:solidFill>
                  <a:srgbClr val="4F81BD"/>
                </a:solidFill>
                <a:latin typeface="Calibri"/>
              </a:rPr>
              <a:t>	</a:t>
            </a:r>
            <a:r>
              <a:rPr lang="en-US" b="1" baseline="0" dirty="0" err="1" smtClean="0">
                <a:solidFill>
                  <a:srgbClr val="4F81BD"/>
                </a:solidFill>
                <a:latin typeface="Calibri"/>
              </a:rPr>
              <a:t>int</a:t>
            </a:r>
            <a:r>
              <a:rPr lang="en-US" b="1" baseline="0" dirty="0" smtClean="0">
                <a:solidFill>
                  <a:srgbClr val="4F81BD"/>
                </a:solidFill>
                <a:latin typeface="Calibri"/>
              </a:rPr>
              <a:t> *p= NULL ;</a:t>
            </a:r>
          </a:p>
          <a:p>
            <a:pPr marR="0" lvl="1" rtl="0">
              <a:buNone/>
            </a:pPr>
            <a:r>
              <a:rPr lang="en-US" sz="2400" b="1" baseline="0" dirty="0" smtClean="0">
                <a:solidFill>
                  <a:srgbClr val="4F81BD"/>
                </a:solidFill>
                <a:latin typeface="Calibri"/>
              </a:rPr>
              <a:t>	It is a Solution for  Wild Pointer Problem </a:t>
            </a:r>
          </a:p>
          <a:p>
            <a:pPr marR="0" lvl="1" rtl="0">
              <a:buNone/>
            </a:pPr>
            <a:r>
              <a:rPr lang="en-US" b="1" baseline="0" dirty="0" smtClean="0">
                <a:solidFill>
                  <a:srgbClr val="4F81BD"/>
                </a:solidFill>
                <a:latin typeface="Calibri"/>
              </a:rPr>
              <a:t>	Remember:</a:t>
            </a:r>
          </a:p>
          <a:p>
            <a:pPr marR="0" lvl="1" rtl="0">
              <a:buNone/>
            </a:pPr>
            <a:r>
              <a:rPr lang="en-US" b="1" baseline="0" dirty="0" smtClean="0">
                <a:solidFill>
                  <a:srgbClr val="4F81BD"/>
                </a:solidFill>
                <a:latin typeface="Calibri"/>
              </a:rPr>
              <a:t>	</a:t>
            </a:r>
            <a:r>
              <a:rPr lang="en-US" sz="2400" b="1" baseline="0" dirty="0" smtClean="0">
                <a:solidFill>
                  <a:srgbClr val="4F81BD"/>
                </a:solidFill>
                <a:latin typeface="Calibri"/>
              </a:rPr>
              <a:t>Valid Address are the reserved addresses in Memory by you for your </a:t>
            </a:r>
            <a:r>
              <a:rPr lang="en-US" sz="2400" b="1" baseline="0" dirty="0" err="1" smtClean="0">
                <a:solidFill>
                  <a:srgbClr val="4F81BD"/>
                </a:solidFill>
                <a:latin typeface="Calibri"/>
              </a:rPr>
              <a:t>requirment</a:t>
            </a:r>
            <a:r>
              <a:rPr lang="en-US" sz="2400" b="1" baseline="0" dirty="0" smtClean="0">
                <a:solidFill>
                  <a:srgbClr val="4F81BD"/>
                </a:solidFill>
                <a:latin typeface="Calibri"/>
              </a:rPr>
              <a:t> in your Program.</a:t>
            </a: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baseline="0" dirty="0" smtClean="0">
                <a:solidFill>
                  <a:srgbClr val="365F91"/>
                </a:solidFill>
                <a:latin typeface="Cambria"/>
              </a:rPr>
              <a:t>Dangling Pointer</a:t>
            </a:r>
            <a:endParaRPr lang="en-US" dirty="0"/>
          </a:p>
        </p:txBody>
      </p:sp>
      <p:pic>
        <p:nvPicPr>
          <p:cNvPr id="4" name="Picture 3"/>
          <p:cNvPicPr/>
          <p:nvPr/>
        </p:nvPicPr>
        <p:blipFill>
          <a:blip r:embed="rId2" cstate="print"/>
          <a:srcRect/>
          <a:stretch>
            <a:fillRect/>
          </a:stretch>
        </p:blipFill>
        <p:spPr bwMode="auto">
          <a:xfrm>
            <a:off x="533400" y="1447800"/>
            <a:ext cx="8305799" cy="45719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dirty="0" smtClean="0">
                <a:solidFill>
                  <a:srgbClr val="365F91"/>
                </a:solidFill>
                <a:latin typeface="Cambria"/>
              </a:rPr>
              <a:t>Dangling Pointer</a:t>
            </a:r>
          </a:p>
        </p:txBody>
      </p:sp>
      <p:sp>
        <p:nvSpPr>
          <p:cNvPr id="3" name="Text Placeholder 2"/>
          <p:cNvSpPr>
            <a:spLocks noGrp="1"/>
          </p:cNvSpPr>
          <p:nvPr>
            <p:ph type="body" idx="1"/>
          </p:nvPr>
        </p:nvSpPr>
        <p:spPr>
          <a:xfrm>
            <a:off x="-304800" y="1600200"/>
            <a:ext cx="9220200" cy="4525963"/>
          </a:xfrm>
        </p:spPr>
        <p:txBody>
          <a:bodyPr/>
          <a:lstStyle/>
          <a:p>
            <a:pPr marR="0" lvl="1" algn="just" rtl="0">
              <a:buNone/>
            </a:pPr>
            <a:r>
              <a:rPr lang="en-US" b="1" baseline="0" dirty="0" smtClean="0">
                <a:solidFill>
                  <a:srgbClr val="4F81BD"/>
                </a:solidFill>
                <a:latin typeface="Cambria"/>
              </a:rPr>
              <a:t>	When a program is hold invalid address which before a Valid address in a program. Or when pointer hold the valid address which convert into invalid address</a:t>
            </a: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Autofit/>
          </a:bodyPr>
          <a:lstStyle/>
          <a:p>
            <a:pPr marR="0" rtl="0"/>
            <a:r>
              <a:rPr lang="en-US" sz="3600" b="1" baseline="0" dirty="0" smtClean="0">
                <a:solidFill>
                  <a:srgbClr val="365F91"/>
                </a:solidFill>
                <a:latin typeface="Cambria"/>
              </a:rPr>
              <a:t>What is Dangling Pointer in C language </a:t>
            </a:r>
          </a:p>
        </p:txBody>
      </p:sp>
      <p:sp>
        <p:nvSpPr>
          <p:cNvPr id="3" name="Text Placeholder 2"/>
          <p:cNvSpPr>
            <a:spLocks noGrp="1"/>
          </p:cNvSpPr>
          <p:nvPr>
            <p:ph type="body" idx="1"/>
          </p:nvPr>
        </p:nvSpPr>
        <p:spPr>
          <a:xfrm>
            <a:off x="0" y="914400"/>
            <a:ext cx="9144000" cy="5562600"/>
          </a:xfrm>
        </p:spPr>
        <p:txBody>
          <a:bodyPr>
            <a:normAutofit fontScale="92500" lnSpcReduction="20000"/>
          </a:bodyPr>
          <a:lstStyle/>
          <a:p>
            <a:pPr marR="0" lvl="2" rtl="0">
              <a:buNone/>
            </a:pPr>
            <a:r>
              <a:rPr lang="en-US" b="1" i="1" baseline="0" dirty="0" smtClean="0">
                <a:solidFill>
                  <a:srgbClr val="4F81BD"/>
                </a:solidFill>
                <a:latin typeface="Cambria"/>
              </a:rPr>
              <a:t>void fun(void);</a:t>
            </a:r>
          </a:p>
          <a:p>
            <a:pPr marR="0" lvl="2" rtl="0">
              <a:buNone/>
            </a:pPr>
            <a:r>
              <a:rPr lang="en-US" b="1" i="1" baseline="0" dirty="0" smtClean="0">
                <a:solidFill>
                  <a:srgbClr val="4F81BD"/>
                </a:solidFill>
                <a:latin typeface="Cambria"/>
              </a:rPr>
              <a:t>main()</a:t>
            </a:r>
          </a:p>
          <a:p>
            <a:pPr marR="0" lvl="2" rtl="0">
              <a:buNone/>
            </a:pP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fun();</a:t>
            </a:r>
          </a:p>
          <a:p>
            <a:pPr marR="0" lvl="2" rtl="0">
              <a:buNone/>
            </a:pPr>
            <a:r>
              <a:rPr lang="en-US" b="1" i="1" baseline="0" dirty="0" smtClean="0">
                <a:solidFill>
                  <a:srgbClr val="4F81BD"/>
                </a:solidFill>
                <a:latin typeface="Cambria"/>
              </a:rPr>
              <a:t>}</a:t>
            </a:r>
          </a:p>
          <a:p>
            <a:pPr marR="0" lvl="2" rtl="0"/>
            <a:endParaRPr lang="en-US" b="1" i="1" baseline="0" dirty="0" smtClean="0">
              <a:solidFill>
                <a:srgbClr val="4F81BD"/>
              </a:solidFill>
              <a:latin typeface="Cambria"/>
            </a:endParaRPr>
          </a:p>
          <a:p>
            <a:pPr marR="0" lvl="2" rtl="0">
              <a:buNone/>
            </a:pPr>
            <a:r>
              <a:rPr lang="en-US" b="1" i="1" baseline="0" dirty="0" smtClean="0">
                <a:solidFill>
                  <a:srgbClr val="4F81BD"/>
                </a:solidFill>
                <a:latin typeface="Cambria"/>
              </a:rPr>
              <a:t>void fun()</a:t>
            </a:r>
          </a:p>
          <a:p>
            <a:pPr marR="0" lvl="2" rtl="0">
              <a:buNone/>
            </a:pPr>
            <a:r>
              <a:rPr lang="en-US" b="1" i="1" baseline="0" dirty="0" smtClean="0">
                <a:solidFill>
                  <a:srgbClr val="4F81BD"/>
                </a:solidFill>
                <a:latin typeface="Cambria"/>
              </a:rPr>
              <a:t>{</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*p;</a:t>
            </a:r>
          </a:p>
          <a:p>
            <a:pPr marR="0" lvl="2" rtl="0">
              <a:buNone/>
            </a:pPr>
            <a:r>
              <a:rPr lang="en-US" b="1" i="1" baseline="0" dirty="0" smtClean="0">
                <a:solidFill>
                  <a:srgbClr val="4F81BD"/>
                </a:solidFill>
                <a:latin typeface="Cambria"/>
              </a:rPr>
              <a:t>{</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x=5;</a:t>
            </a:r>
          </a:p>
          <a:p>
            <a:pPr marR="0" lvl="2" rtl="0">
              <a:buNone/>
            </a:pPr>
            <a:r>
              <a:rPr lang="en-US" b="1" i="1" baseline="0" dirty="0" smtClean="0">
                <a:solidFill>
                  <a:srgbClr val="4F81BD"/>
                </a:solidFill>
                <a:latin typeface="Cambria"/>
              </a:rPr>
              <a:t>p=&amp;x;</a:t>
            </a:r>
          </a:p>
          <a:p>
            <a:pPr marR="0" lvl="2" rtl="0">
              <a:buNone/>
            </a:pP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 		</a:t>
            </a:r>
            <a:r>
              <a:rPr lang="en-US" sz="2100" b="1" i="1" baseline="0" dirty="0" smtClean="0">
                <a:solidFill>
                  <a:srgbClr val="C00000"/>
                </a:solidFill>
                <a:latin typeface="Cambria"/>
              </a:rPr>
              <a:t>// After this block is end , p point invalid address ( address of x)</a:t>
            </a:r>
          </a:p>
          <a:p>
            <a:pPr marR="0" lvl="2" rtl="0">
              <a:buNone/>
            </a:pPr>
            <a:r>
              <a:rPr lang="en-US" b="1" i="1" baseline="0" dirty="0" smtClean="0">
                <a:solidFill>
                  <a:srgbClr val="4F81BD"/>
                </a:solidFill>
                <a:latin typeface="Cambria"/>
              </a:rPr>
              <a:t>}</a:t>
            </a: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pPr marR="0" rtl="0"/>
            <a:r>
              <a:rPr lang="en-US" b="1" baseline="0" dirty="0" smtClean="0">
                <a:solidFill>
                  <a:srgbClr val="365F91"/>
                </a:solidFill>
                <a:latin typeface="Cambria"/>
              </a:rPr>
              <a:t>Solution For Dangling</a:t>
            </a:r>
          </a:p>
        </p:txBody>
      </p:sp>
      <p:sp>
        <p:nvSpPr>
          <p:cNvPr id="3" name="Text Placeholder 2"/>
          <p:cNvSpPr>
            <a:spLocks noGrp="1"/>
          </p:cNvSpPr>
          <p:nvPr>
            <p:ph type="body" idx="1"/>
          </p:nvPr>
        </p:nvSpPr>
        <p:spPr>
          <a:xfrm>
            <a:off x="457200" y="990600"/>
            <a:ext cx="8229600" cy="5562600"/>
          </a:xfrm>
        </p:spPr>
        <p:txBody>
          <a:bodyPr/>
          <a:lstStyle/>
          <a:p>
            <a:pPr marR="0" lvl="0" algn="just" rtl="0">
              <a:buFont typeface="Wingdings" pitchFamily="2" charset="2"/>
              <a:buChar char="Ø"/>
            </a:pPr>
            <a:r>
              <a:rPr lang="en-US" b="1" baseline="0" dirty="0" smtClean="0">
                <a:solidFill>
                  <a:srgbClr val="4F81BD"/>
                </a:solidFill>
                <a:latin typeface="Cambria"/>
              </a:rPr>
              <a:t>After use of pointer , assign NULL value in that pointer in current scope</a:t>
            </a:r>
          </a:p>
          <a:p>
            <a:pPr marR="0" lvl="0" algn="just" rtl="0">
              <a:buFont typeface="Wingdings" pitchFamily="2" charset="2"/>
              <a:buChar char="Ø"/>
            </a:pPr>
            <a:r>
              <a:rPr lang="en-US" b="1" baseline="0" dirty="0" smtClean="0">
                <a:solidFill>
                  <a:srgbClr val="4F81BD"/>
                </a:solidFill>
                <a:latin typeface="Cambria"/>
              </a:rPr>
              <a:t>NULL is Predefined MACRO.</a:t>
            </a:r>
          </a:p>
          <a:p>
            <a:pPr marR="0" lvl="0" algn="just" rtl="0">
              <a:buFont typeface="Wingdings" pitchFamily="2" charset="2"/>
              <a:buChar char="Ø"/>
            </a:pPr>
            <a:r>
              <a:rPr lang="en-US" b="1" baseline="0" dirty="0" smtClean="0">
                <a:solidFill>
                  <a:srgbClr val="4F81BD"/>
                </a:solidFill>
                <a:latin typeface="Cambria"/>
              </a:rPr>
              <a:t>NULL assign means, pointer hold address 0 which also free memory area but we assume that they does not point to any space in memory.</a:t>
            </a: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Autofit/>
          </a:bodyPr>
          <a:lstStyle/>
          <a:p>
            <a:pPr marR="0" rtl="0"/>
            <a:r>
              <a:rPr lang="en-US" sz="3600" b="1" baseline="0" dirty="0" smtClean="0">
                <a:solidFill>
                  <a:srgbClr val="365F91"/>
                </a:solidFill>
                <a:latin typeface="Cambria"/>
              </a:rPr>
              <a:t>What is void Pointer Or Generic Pointer</a:t>
            </a:r>
          </a:p>
        </p:txBody>
      </p:sp>
      <p:sp>
        <p:nvSpPr>
          <p:cNvPr id="3" name="Text Placeholder 2"/>
          <p:cNvSpPr>
            <a:spLocks noGrp="1"/>
          </p:cNvSpPr>
          <p:nvPr>
            <p:ph type="body" idx="1"/>
          </p:nvPr>
        </p:nvSpPr>
        <p:spPr>
          <a:xfrm>
            <a:off x="0" y="1066800"/>
            <a:ext cx="9144000" cy="5638800"/>
          </a:xfrm>
        </p:spPr>
        <p:txBody>
          <a:bodyPr/>
          <a:lstStyle/>
          <a:p>
            <a:pPr marR="0" lvl="2" rtl="0">
              <a:buNone/>
            </a:pPr>
            <a:r>
              <a:rPr lang="en-US" b="1" i="1" baseline="0" dirty="0" smtClean="0">
                <a:solidFill>
                  <a:srgbClr val="4F81BD"/>
                </a:solidFill>
                <a:latin typeface="Cambria"/>
              </a:rPr>
              <a:t>void main()</a:t>
            </a:r>
          </a:p>
          <a:p>
            <a:pPr marR="0" lvl="2" rtl="0">
              <a:buNone/>
            </a:pPr>
            <a:r>
              <a:rPr lang="en-US" b="1" i="1" baseline="0" dirty="0" smtClean="0">
                <a:solidFill>
                  <a:srgbClr val="4F81BD"/>
                </a:solidFill>
                <a:latin typeface="Cambria"/>
              </a:rPr>
              <a:t>{</a:t>
            </a:r>
          </a:p>
          <a:p>
            <a:pPr marR="0" lvl="2" rtl="0">
              <a:buNone/>
            </a:pPr>
            <a:r>
              <a:rPr lang="en-US" sz="2000" b="1" i="1" baseline="0" dirty="0" smtClean="0">
                <a:solidFill>
                  <a:srgbClr val="4F81BD"/>
                </a:solidFill>
                <a:latin typeface="Cambria"/>
              </a:rPr>
              <a:t>void *p ;</a:t>
            </a:r>
          </a:p>
          <a:p>
            <a:pPr marR="0" lvl="2" rtl="0">
              <a:buNone/>
            </a:pPr>
            <a:r>
              <a:rPr lang="en-US" sz="2000" b="1" i="1" baseline="0" dirty="0" err="1" smtClean="0">
                <a:solidFill>
                  <a:srgbClr val="4F81BD"/>
                </a:solidFill>
                <a:latin typeface="Cambria"/>
              </a:rPr>
              <a:t>int</a:t>
            </a:r>
            <a:r>
              <a:rPr lang="en-US" sz="2000" b="1" i="1" baseline="0" dirty="0" smtClean="0">
                <a:solidFill>
                  <a:srgbClr val="4F81BD"/>
                </a:solidFill>
                <a:latin typeface="Cambria"/>
              </a:rPr>
              <a:t> x ;</a:t>
            </a:r>
          </a:p>
          <a:p>
            <a:pPr marR="0" lvl="2" rtl="0">
              <a:buNone/>
            </a:pPr>
            <a:r>
              <a:rPr lang="en-US" sz="2000" b="1" i="1" baseline="0" dirty="0" smtClean="0">
                <a:solidFill>
                  <a:srgbClr val="4F81BD"/>
                </a:solidFill>
                <a:latin typeface="Cambria"/>
              </a:rPr>
              <a:t>p=&amp;x;</a:t>
            </a:r>
          </a:p>
          <a:p>
            <a:pPr marR="0" lvl="2" rtl="0">
              <a:buNone/>
            </a:pPr>
            <a:r>
              <a:rPr lang="en-US" sz="2000" b="1" i="1" baseline="0" dirty="0" smtClean="0">
                <a:solidFill>
                  <a:srgbClr val="4F81BD"/>
                </a:solidFill>
                <a:latin typeface="Cambria"/>
              </a:rPr>
              <a:t>*(</a:t>
            </a:r>
            <a:r>
              <a:rPr lang="en-US" sz="2000" b="1" i="1" baseline="0" dirty="0" err="1" smtClean="0">
                <a:solidFill>
                  <a:srgbClr val="4F81BD"/>
                </a:solidFill>
                <a:latin typeface="Cambria"/>
              </a:rPr>
              <a:t>int</a:t>
            </a:r>
            <a:r>
              <a:rPr lang="en-US" sz="2000" b="1" i="1" baseline="0" dirty="0" smtClean="0">
                <a:solidFill>
                  <a:srgbClr val="4F81BD"/>
                </a:solidFill>
                <a:latin typeface="Cambria"/>
              </a:rPr>
              <a:t>*)p = 10 ;  </a:t>
            </a:r>
            <a:r>
              <a:rPr lang="en-US" sz="2000" b="1" i="1" baseline="0" dirty="0" smtClean="0">
                <a:solidFill>
                  <a:srgbClr val="C00000"/>
                </a:solidFill>
                <a:latin typeface="Cambria"/>
              </a:rPr>
              <a:t>//type casting is necessary</a:t>
            </a:r>
          </a:p>
          <a:p>
            <a:pPr marR="0" lvl="2" rtl="0">
              <a:buNone/>
            </a:pPr>
            <a:r>
              <a:rPr lang="en-US" sz="2000" b="1" i="1" baseline="0" dirty="0" err="1" smtClean="0">
                <a:solidFill>
                  <a:srgbClr val="4F81BD"/>
                </a:solidFill>
                <a:latin typeface="Cambria"/>
              </a:rPr>
              <a:t>printf</a:t>
            </a:r>
            <a:r>
              <a:rPr lang="en-US" sz="2000" b="1" i="1" baseline="0" dirty="0" smtClean="0">
                <a:solidFill>
                  <a:srgbClr val="4F81BD"/>
                </a:solidFill>
                <a:latin typeface="Cambria"/>
              </a:rPr>
              <a:t> ( “Address is  %u  and Value at that address is %d” , p , *(</a:t>
            </a:r>
            <a:r>
              <a:rPr lang="en-US" sz="2000" b="1" i="1" baseline="0" dirty="0" err="1" smtClean="0">
                <a:solidFill>
                  <a:srgbClr val="4F81BD"/>
                </a:solidFill>
                <a:latin typeface="Cambria"/>
              </a:rPr>
              <a:t>int</a:t>
            </a:r>
            <a:r>
              <a:rPr lang="en-US" sz="2000" b="1" i="1" baseline="0" dirty="0" smtClean="0">
                <a:solidFill>
                  <a:srgbClr val="4F81BD"/>
                </a:solidFill>
                <a:latin typeface="Cambria"/>
              </a:rPr>
              <a:t>*)p );</a:t>
            </a:r>
          </a:p>
          <a:p>
            <a:pPr marR="0" lvl="2" rtl="0">
              <a:buNone/>
            </a:pPr>
            <a:r>
              <a:rPr lang="en-US" b="1" i="1" baseline="0" dirty="0" smtClean="0">
                <a:solidFill>
                  <a:srgbClr val="4F81BD"/>
                </a:solidFill>
                <a:latin typeface="Cambria"/>
              </a:rPr>
              <a:t>}</a:t>
            </a:r>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pPr marR="0" rtl="0"/>
            <a:r>
              <a:rPr lang="en-US" b="1" baseline="0" dirty="0" smtClean="0">
                <a:solidFill>
                  <a:srgbClr val="365F91"/>
                </a:solidFill>
                <a:latin typeface="Cambria"/>
              </a:rPr>
              <a:t>Continue…</a:t>
            </a:r>
          </a:p>
        </p:txBody>
      </p:sp>
      <p:sp>
        <p:nvSpPr>
          <p:cNvPr id="3" name="Text Placeholder 2"/>
          <p:cNvSpPr>
            <a:spLocks noGrp="1"/>
          </p:cNvSpPr>
          <p:nvPr>
            <p:ph type="body" idx="1"/>
          </p:nvPr>
        </p:nvSpPr>
        <p:spPr>
          <a:xfrm>
            <a:off x="533400" y="1295400"/>
            <a:ext cx="8610600" cy="4830763"/>
          </a:xfrm>
        </p:spPr>
        <p:txBody>
          <a:bodyPr>
            <a:normAutofit/>
          </a:bodyPr>
          <a:lstStyle/>
          <a:p>
            <a:pPr>
              <a:buNone/>
            </a:pPr>
            <a:r>
              <a:rPr lang="en-US" sz="2400" b="1" i="1" dirty="0">
                <a:solidFill>
                  <a:schemeClr val="tx2">
                    <a:lumMod val="60000"/>
                    <a:lumOff val="40000"/>
                  </a:schemeClr>
                </a:solidFill>
                <a:latin typeface="Cambria" pitchFamily="18" charset="0"/>
              </a:rPr>
              <a:t>void main()</a:t>
            </a:r>
          </a:p>
          <a:p>
            <a:pPr>
              <a:buNone/>
            </a:pPr>
            <a:r>
              <a:rPr lang="en-US" sz="2400" b="1" i="1" dirty="0">
                <a:solidFill>
                  <a:schemeClr val="tx2">
                    <a:lumMod val="60000"/>
                    <a:lumOff val="40000"/>
                  </a:schemeClr>
                </a:solidFill>
                <a:latin typeface="Cambria" pitchFamily="18" charset="0"/>
              </a:rPr>
              <a:t>{</a:t>
            </a:r>
          </a:p>
          <a:p>
            <a:pPr>
              <a:buNone/>
            </a:pPr>
            <a:r>
              <a:rPr lang="en-US" sz="2000" b="1" i="1" dirty="0">
                <a:solidFill>
                  <a:schemeClr val="tx2">
                    <a:lumMod val="60000"/>
                    <a:lumOff val="40000"/>
                  </a:schemeClr>
                </a:solidFill>
                <a:latin typeface="Cambria" pitchFamily="18" charset="0"/>
              </a:rPr>
              <a:t>void *p ;</a:t>
            </a:r>
          </a:p>
          <a:p>
            <a:pPr>
              <a:buNone/>
            </a:pPr>
            <a:r>
              <a:rPr lang="en-US" sz="2000" b="1" i="1" dirty="0">
                <a:solidFill>
                  <a:schemeClr val="tx2">
                    <a:lumMod val="60000"/>
                    <a:lumOff val="40000"/>
                  </a:schemeClr>
                </a:solidFill>
                <a:latin typeface="Cambria" pitchFamily="18" charset="0"/>
              </a:rPr>
              <a:t>float x ;</a:t>
            </a:r>
          </a:p>
          <a:p>
            <a:pPr>
              <a:buNone/>
            </a:pPr>
            <a:r>
              <a:rPr lang="en-US" sz="2000" b="1" i="1" dirty="0">
                <a:solidFill>
                  <a:schemeClr val="tx2">
                    <a:lumMod val="60000"/>
                    <a:lumOff val="40000"/>
                  </a:schemeClr>
                </a:solidFill>
                <a:latin typeface="Cambria" pitchFamily="18" charset="0"/>
              </a:rPr>
              <a:t>p=&amp;x;</a:t>
            </a:r>
          </a:p>
          <a:p>
            <a:pPr>
              <a:buNone/>
            </a:pPr>
            <a:r>
              <a:rPr lang="en-US" sz="2000" b="1" i="1" dirty="0">
                <a:solidFill>
                  <a:schemeClr val="tx2">
                    <a:lumMod val="60000"/>
                    <a:lumOff val="40000"/>
                  </a:schemeClr>
                </a:solidFill>
                <a:latin typeface="Cambria" pitchFamily="18" charset="0"/>
              </a:rPr>
              <a:t>*(float*)p = 10 ;  //type casting is necessary</a:t>
            </a:r>
          </a:p>
          <a:p>
            <a:pPr>
              <a:buNone/>
            </a:pPr>
            <a:r>
              <a:rPr lang="en-US" sz="2000" b="1" i="1" dirty="0" err="1">
                <a:solidFill>
                  <a:schemeClr val="tx2">
                    <a:lumMod val="60000"/>
                    <a:lumOff val="40000"/>
                  </a:schemeClr>
                </a:solidFill>
                <a:latin typeface="Cambria" pitchFamily="18" charset="0"/>
              </a:rPr>
              <a:t>printf</a:t>
            </a:r>
            <a:r>
              <a:rPr lang="en-US" sz="2000" b="1" i="1" dirty="0">
                <a:solidFill>
                  <a:schemeClr val="tx2">
                    <a:lumMod val="60000"/>
                    <a:lumOff val="40000"/>
                  </a:schemeClr>
                </a:solidFill>
                <a:latin typeface="Cambria" pitchFamily="18" charset="0"/>
              </a:rPr>
              <a:t> ( “Address is  %u  and Value at that address is %f” , p , *(float*)p );</a:t>
            </a:r>
          </a:p>
          <a:p>
            <a:pPr>
              <a:buNone/>
            </a:pPr>
            <a:r>
              <a:rPr lang="en-US" sz="2400" b="1" i="1" dirty="0">
                <a:solidFill>
                  <a:schemeClr val="tx2">
                    <a:lumMod val="60000"/>
                    <a:lumOff val="40000"/>
                  </a:schemeClr>
                </a:solidFill>
                <a:latin typeface="Cambria" pitchFamily="18" charset="0"/>
              </a:rPr>
              <a:t>}</a:t>
            </a: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lstStyle/>
          <a:p>
            <a:pPr marR="0" rtl="0"/>
            <a:r>
              <a:rPr lang="en-US" b="1" baseline="0" dirty="0" smtClean="0">
                <a:solidFill>
                  <a:srgbClr val="365F91"/>
                </a:solidFill>
                <a:latin typeface="Cambria"/>
              </a:rPr>
              <a:t>Functions</a:t>
            </a:r>
          </a:p>
        </p:txBody>
      </p:sp>
      <p:sp>
        <p:nvSpPr>
          <p:cNvPr id="3" name="Text Placeholder 2"/>
          <p:cNvSpPr>
            <a:spLocks noGrp="1"/>
          </p:cNvSpPr>
          <p:nvPr>
            <p:ph type="body" idx="1"/>
          </p:nvPr>
        </p:nvSpPr>
        <p:spPr>
          <a:xfrm>
            <a:off x="228600" y="1219200"/>
            <a:ext cx="8686800" cy="4906963"/>
          </a:xfrm>
        </p:spPr>
        <p:txBody>
          <a:bodyPr>
            <a:normAutofit lnSpcReduction="10000"/>
          </a:bodyPr>
          <a:lstStyle/>
          <a:p>
            <a:pPr marR="0" lvl="0" rtl="0">
              <a:buFont typeface="Wingdings" pitchFamily="2" charset="2"/>
              <a:buChar char="Ø"/>
            </a:pPr>
            <a:r>
              <a:rPr lang="en-US" b="1" baseline="0" dirty="0" smtClean="0">
                <a:solidFill>
                  <a:srgbClr val="4F81BD"/>
                </a:solidFill>
                <a:latin typeface="Cambria"/>
              </a:rPr>
              <a:t>Objective</a:t>
            </a:r>
          </a:p>
          <a:p>
            <a:pPr marR="0" lvl="0" rtl="0">
              <a:buFont typeface="Wingdings" pitchFamily="2" charset="2"/>
              <a:buChar char="Ø"/>
            </a:pPr>
            <a:r>
              <a:rPr lang="en-US" b="1" baseline="0" dirty="0" smtClean="0">
                <a:solidFill>
                  <a:srgbClr val="4F81BD"/>
                </a:solidFill>
                <a:latin typeface="Cambria"/>
              </a:rPr>
              <a:t>What is Function ?</a:t>
            </a:r>
          </a:p>
          <a:p>
            <a:pPr marR="0" lvl="0" rtl="0">
              <a:buFont typeface="Wingdings" pitchFamily="2" charset="2"/>
              <a:buChar char="Ø"/>
            </a:pPr>
            <a:r>
              <a:rPr lang="en-US" b="1" baseline="0" dirty="0" err="1" smtClean="0">
                <a:solidFill>
                  <a:srgbClr val="4F81BD"/>
                </a:solidFill>
                <a:latin typeface="Cambria"/>
              </a:rPr>
              <a:t>Defination</a:t>
            </a:r>
            <a:r>
              <a:rPr lang="en-US" b="1" baseline="0" dirty="0" smtClean="0">
                <a:solidFill>
                  <a:srgbClr val="4F81BD"/>
                </a:solidFill>
                <a:latin typeface="Cambria"/>
              </a:rPr>
              <a:t> Declaration and Call</a:t>
            </a:r>
          </a:p>
          <a:p>
            <a:pPr marR="0" lvl="0" rtl="0">
              <a:buFont typeface="Wingdings" pitchFamily="2" charset="2"/>
              <a:buChar char="Ø"/>
            </a:pPr>
            <a:r>
              <a:rPr lang="en-US" b="1" baseline="0" dirty="0" smtClean="0">
                <a:solidFill>
                  <a:srgbClr val="4F81BD"/>
                </a:solidFill>
                <a:latin typeface="Cambria"/>
              </a:rPr>
              <a:t>Declaration</a:t>
            </a:r>
          </a:p>
          <a:p>
            <a:pPr marR="0" lvl="0" rtl="0">
              <a:buFont typeface="Wingdings" pitchFamily="2" charset="2"/>
              <a:buChar char="Ø"/>
            </a:pPr>
            <a:r>
              <a:rPr lang="en-US" b="1" baseline="0" dirty="0" smtClean="0">
                <a:solidFill>
                  <a:srgbClr val="4F81BD"/>
                </a:solidFill>
                <a:latin typeface="Cambria"/>
              </a:rPr>
              <a:t>Ways to Define a function</a:t>
            </a:r>
          </a:p>
          <a:p>
            <a:pPr marR="0" lvl="0" rtl="0">
              <a:buFont typeface="Wingdings" pitchFamily="2" charset="2"/>
              <a:buChar char="Ø"/>
            </a:pPr>
            <a:r>
              <a:rPr lang="en-US" b="1" baseline="0" dirty="0" smtClean="0">
                <a:solidFill>
                  <a:srgbClr val="4F81BD"/>
                </a:solidFill>
                <a:latin typeface="Cambria"/>
              </a:rPr>
              <a:t>Formal and Actual Arguments</a:t>
            </a:r>
          </a:p>
          <a:p>
            <a:pPr marR="0" lvl="0" rtl="0">
              <a:buFont typeface="Wingdings" pitchFamily="2" charset="2"/>
              <a:buChar char="Ø"/>
            </a:pPr>
            <a:r>
              <a:rPr lang="en-US" b="1" baseline="0" dirty="0" smtClean="0">
                <a:solidFill>
                  <a:srgbClr val="4F81BD"/>
                </a:solidFill>
                <a:latin typeface="Cambria"/>
              </a:rPr>
              <a:t>Types of formal arguments</a:t>
            </a:r>
          </a:p>
          <a:p>
            <a:pPr marR="0" lvl="0" rtl="0">
              <a:buFont typeface="Wingdings" pitchFamily="2" charset="2"/>
              <a:buChar char="Ø"/>
            </a:pPr>
            <a:r>
              <a:rPr lang="en-US" b="1" baseline="0" dirty="0" smtClean="0">
                <a:solidFill>
                  <a:srgbClr val="4F81BD"/>
                </a:solidFill>
                <a:latin typeface="Cambria"/>
              </a:rPr>
              <a:t>Call by value, call by address and call by reference</a:t>
            </a: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marR="0" rtl="0"/>
            <a:r>
              <a:rPr lang="en-US" b="1" baseline="0" dirty="0" smtClean="0">
                <a:solidFill>
                  <a:srgbClr val="365F91"/>
                </a:solidFill>
                <a:latin typeface="Cambria"/>
              </a:rPr>
              <a:t>What is Function ?</a:t>
            </a:r>
          </a:p>
        </p:txBody>
      </p:sp>
      <p:sp>
        <p:nvSpPr>
          <p:cNvPr id="3" name="Text Placeholder 2"/>
          <p:cNvSpPr>
            <a:spLocks noGrp="1"/>
          </p:cNvSpPr>
          <p:nvPr>
            <p:ph type="body" idx="1"/>
          </p:nvPr>
        </p:nvSpPr>
        <p:spPr>
          <a:xfrm>
            <a:off x="381000" y="1219200"/>
            <a:ext cx="8534400" cy="5257800"/>
          </a:xfrm>
        </p:spPr>
        <p:txBody>
          <a:bodyPr/>
          <a:lstStyle/>
          <a:p>
            <a:pPr marR="0" lvl="1" algn="just" rtl="0">
              <a:buFont typeface="Wingdings" pitchFamily="2" charset="2"/>
              <a:buChar char="Ø"/>
            </a:pPr>
            <a:r>
              <a:rPr lang="en-US" b="1" baseline="0" dirty="0" smtClean="0">
                <a:solidFill>
                  <a:srgbClr val="4F81BD"/>
                </a:solidFill>
                <a:latin typeface="Cambria"/>
              </a:rPr>
              <a:t>Function is block of code performing a unit task.</a:t>
            </a:r>
          </a:p>
          <a:p>
            <a:pPr marR="0" lvl="1" algn="just" rtl="0">
              <a:buFont typeface="Wingdings" pitchFamily="2" charset="2"/>
              <a:buChar char="Ø"/>
            </a:pPr>
            <a:r>
              <a:rPr lang="en-US" b="1" baseline="0" dirty="0" smtClean="0">
                <a:solidFill>
                  <a:srgbClr val="4F81BD"/>
                </a:solidFill>
                <a:latin typeface="Cambria"/>
              </a:rPr>
              <a:t>Function has a name, return type and argument( argument depend on fun behavior)</a:t>
            </a:r>
          </a:p>
          <a:p>
            <a:pPr marR="0" lvl="1" algn="just" rtl="0">
              <a:buFont typeface="Wingdings" pitchFamily="2" charset="2"/>
              <a:buChar char="Ø"/>
            </a:pPr>
            <a:r>
              <a:rPr lang="en-US" b="1" baseline="0" dirty="0" smtClean="0">
                <a:solidFill>
                  <a:srgbClr val="4F81BD"/>
                </a:solidFill>
                <a:latin typeface="Cambria"/>
              </a:rPr>
              <a:t>Function is a way to achieve modularization</a:t>
            </a:r>
          </a:p>
          <a:p>
            <a:pPr marR="0" lvl="1" algn="just" rtl="0">
              <a:buFont typeface="Wingdings" pitchFamily="2" charset="2"/>
              <a:buChar char="Ø"/>
            </a:pPr>
            <a:r>
              <a:rPr lang="en-US" b="1" baseline="0" dirty="0" smtClean="0">
                <a:solidFill>
                  <a:srgbClr val="4F81BD"/>
                </a:solidFill>
                <a:latin typeface="Cambria"/>
              </a:rPr>
              <a:t>Functions are predefined and user-defined.</a:t>
            </a:r>
          </a:p>
          <a:p>
            <a:pPr marR="0" lvl="1" algn="just" rtl="0">
              <a:buFont typeface="Wingdings" pitchFamily="2" charset="2"/>
              <a:buChar char="Ø"/>
            </a:pPr>
            <a:r>
              <a:rPr lang="en-US" b="1" baseline="0" dirty="0" smtClean="0">
                <a:solidFill>
                  <a:srgbClr val="4F81BD"/>
                </a:solidFill>
                <a:latin typeface="Cambria"/>
              </a:rPr>
              <a:t>Predefined function are declared in header files and defined in library files.</a:t>
            </a: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pPr marR="0" rtl="0"/>
            <a:r>
              <a:rPr lang="en-US" b="1" baseline="0" dirty="0" err="1" smtClean="0">
                <a:solidFill>
                  <a:srgbClr val="365F91"/>
                </a:solidFill>
                <a:latin typeface="Cambria"/>
              </a:rPr>
              <a:t>Defination</a:t>
            </a:r>
            <a:r>
              <a:rPr lang="en-US" b="1" baseline="0" dirty="0" smtClean="0">
                <a:solidFill>
                  <a:srgbClr val="365F91"/>
                </a:solidFill>
                <a:latin typeface="Cambria"/>
              </a:rPr>
              <a:t> Declaration and Call</a:t>
            </a:r>
          </a:p>
        </p:txBody>
      </p:sp>
      <p:sp>
        <p:nvSpPr>
          <p:cNvPr id="3" name="Text Placeholder 2"/>
          <p:cNvSpPr>
            <a:spLocks noGrp="1"/>
          </p:cNvSpPr>
          <p:nvPr>
            <p:ph type="body" idx="1"/>
          </p:nvPr>
        </p:nvSpPr>
        <p:spPr>
          <a:xfrm>
            <a:off x="0" y="685800"/>
            <a:ext cx="9144000" cy="6172200"/>
          </a:xfrm>
        </p:spPr>
        <p:txBody>
          <a:bodyPr>
            <a:normAutofit fontScale="92500"/>
          </a:bodyPr>
          <a:lstStyle/>
          <a:p>
            <a:pPr marR="0" lvl="2" rtl="0">
              <a:buNone/>
            </a:pPr>
            <a:r>
              <a:rPr lang="en-US" b="1" i="1" baseline="0" dirty="0" smtClean="0">
                <a:solidFill>
                  <a:srgbClr val="4F81BD"/>
                </a:solidFill>
                <a:latin typeface="Cambria"/>
              </a:rPr>
              <a:t>#include&lt;</a:t>
            </a:r>
            <a:r>
              <a:rPr lang="en-US" b="1" i="1" baseline="0" smtClean="0">
                <a:solidFill>
                  <a:srgbClr val="4F81BD"/>
                </a:solidFill>
                <a:latin typeface="Cambria"/>
              </a:rPr>
              <a:t>stdio.h</a:t>
            </a:r>
            <a:r>
              <a:rPr lang="en-US" b="1" i="1" baseline="0" dirty="0" smtClean="0">
                <a:solidFill>
                  <a:srgbClr val="4F81BD"/>
                </a:solidFill>
                <a:latin typeface="Cambria"/>
              </a:rPr>
              <a:t>&gt;          </a:t>
            </a:r>
            <a:r>
              <a:rPr lang="en-US" b="1" i="1" baseline="0" dirty="0" smtClean="0">
                <a:solidFill>
                  <a:srgbClr val="C00000"/>
                </a:solidFill>
                <a:latin typeface="Cambria"/>
              </a:rPr>
              <a:t>//Declaration of </a:t>
            </a:r>
            <a:r>
              <a:rPr lang="en-US" b="1" i="1" baseline="0" dirty="0" err="1" smtClean="0">
                <a:solidFill>
                  <a:srgbClr val="C00000"/>
                </a:solidFill>
                <a:latin typeface="Cambria"/>
              </a:rPr>
              <a:t>printf</a:t>
            </a:r>
            <a:r>
              <a:rPr lang="en-US" b="1" i="1" baseline="0" dirty="0" smtClean="0">
                <a:solidFill>
                  <a:srgbClr val="C00000"/>
                </a:solidFill>
                <a:latin typeface="Cambria"/>
              </a:rPr>
              <a:t>() , </a:t>
            </a:r>
            <a:r>
              <a:rPr lang="en-US" b="1" i="1" baseline="0" dirty="0" err="1" smtClean="0">
                <a:solidFill>
                  <a:srgbClr val="C00000"/>
                </a:solidFill>
                <a:latin typeface="Cambria"/>
              </a:rPr>
              <a:t>scanf</a:t>
            </a:r>
            <a:r>
              <a:rPr lang="en-US" b="1" i="1" baseline="0" dirty="0" smtClean="0">
                <a:solidFill>
                  <a:srgbClr val="C00000"/>
                </a:solidFill>
                <a:latin typeface="Cambria"/>
              </a:rPr>
              <a:t> ()</a:t>
            </a:r>
          </a:p>
          <a:p>
            <a:pPr marR="0" lvl="2" rtl="0">
              <a:buNone/>
            </a:pPr>
            <a:r>
              <a:rPr lang="en-US" b="1" i="1" baseline="0" dirty="0" smtClean="0">
                <a:solidFill>
                  <a:srgbClr val="4F81BD"/>
                </a:solidFill>
                <a:latin typeface="Cambria"/>
              </a:rPr>
              <a:t>#include&lt;</a:t>
            </a:r>
            <a:r>
              <a:rPr lang="en-US" b="1" i="1" baseline="0" dirty="0" err="1" smtClean="0">
                <a:solidFill>
                  <a:srgbClr val="4F81BD"/>
                </a:solidFill>
                <a:latin typeface="Cambria"/>
              </a:rPr>
              <a:t>conio.h</a:t>
            </a:r>
            <a:r>
              <a:rPr lang="en-US" b="1" i="1" baseline="0" dirty="0" smtClean="0">
                <a:solidFill>
                  <a:srgbClr val="4F81BD"/>
                </a:solidFill>
                <a:latin typeface="Cambria"/>
              </a:rPr>
              <a:t>&gt;            </a:t>
            </a:r>
            <a:r>
              <a:rPr lang="en-US" b="1" i="1" baseline="0" dirty="0" smtClean="0">
                <a:solidFill>
                  <a:srgbClr val="C00000"/>
                </a:solidFill>
                <a:latin typeface="Cambria"/>
              </a:rPr>
              <a:t>// Declaration of </a:t>
            </a:r>
            <a:r>
              <a:rPr lang="en-US" b="1" i="1" baseline="0" dirty="0" err="1" smtClean="0">
                <a:solidFill>
                  <a:srgbClr val="C00000"/>
                </a:solidFill>
                <a:latin typeface="Cambria"/>
              </a:rPr>
              <a:t>clrscr</a:t>
            </a:r>
            <a:r>
              <a:rPr lang="en-US" b="1" i="1" baseline="0" dirty="0" smtClean="0">
                <a:solidFill>
                  <a:srgbClr val="C00000"/>
                </a:solidFill>
                <a:latin typeface="Cambria"/>
              </a:rPr>
              <a:t>() and</a:t>
            </a:r>
            <a:r>
              <a:rPr lang="en-US" b="1" i="1" baseline="0" dirty="0" smtClean="0">
                <a:solidFill>
                  <a:srgbClr val="4F81BD"/>
                </a:solidFill>
                <a:latin typeface="Cambria"/>
              </a:rPr>
              <a:t> </a:t>
            </a:r>
            <a:r>
              <a:rPr lang="en-US" b="1" i="1" baseline="0" dirty="0" err="1" smtClean="0">
                <a:solidFill>
                  <a:srgbClr val="C00000"/>
                </a:solidFill>
                <a:latin typeface="Cambria"/>
              </a:rPr>
              <a:t>getch</a:t>
            </a:r>
            <a:r>
              <a:rPr lang="en-US" b="1" i="1" baseline="0" dirty="0" smtClean="0">
                <a:solidFill>
                  <a:srgbClr val="C00000"/>
                </a:solidFill>
                <a:latin typeface="Cambria"/>
              </a:rPr>
              <a:t>()</a:t>
            </a:r>
          </a:p>
          <a:p>
            <a:pPr marR="0" lvl="2" rtl="0">
              <a:buNone/>
            </a:pPr>
            <a:r>
              <a:rPr lang="en-US" b="1" i="1" baseline="0" dirty="0" smtClean="0">
                <a:solidFill>
                  <a:srgbClr val="4F81BD"/>
                </a:solidFill>
                <a:latin typeface="Cambria"/>
              </a:rPr>
              <a:t>//void fun(void);              </a:t>
            </a:r>
            <a:r>
              <a:rPr lang="en-US" b="1" i="1" dirty="0">
                <a:solidFill>
                  <a:srgbClr val="4F81BD"/>
                </a:solidFill>
                <a:latin typeface="Cambria"/>
              </a:rPr>
              <a:t> </a:t>
            </a:r>
            <a:r>
              <a:rPr lang="en-US" b="1" i="1" dirty="0" smtClean="0">
                <a:solidFill>
                  <a:srgbClr val="4F81BD"/>
                </a:solidFill>
                <a:latin typeface="Cambria"/>
              </a:rPr>
              <a:t>    </a:t>
            </a:r>
            <a:r>
              <a:rPr lang="en-US" b="1" i="1" baseline="0" dirty="0" smtClean="0">
                <a:solidFill>
                  <a:srgbClr val="C00000"/>
                </a:solidFill>
                <a:latin typeface="Cambria"/>
              </a:rPr>
              <a:t>//Global function Declaration       </a:t>
            </a:r>
          </a:p>
          <a:p>
            <a:pPr marR="0" lvl="2" rtl="0">
              <a:buNone/>
            </a:pPr>
            <a:r>
              <a:rPr lang="en-US" b="1" i="1" baseline="0" dirty="0" smtClean="0">
                <a:solidFill>
                  <a:srgbClr val="4F81BD"/>
                </a:solidFill>
                <a:latin typeface="Cambria"/>
              </a:rPr>
              <a:t>void main()</a:t>
            </a:r>
          </a:p>
          <a:p>
            <a:pPr marR="0" lvl="2" rtl="0">
              <a:buNone/>
            </a:pPr>
            <a:r>
              <a:rPr lang="en-US" b="1" i="1" baseline="0" dirty="0" smtClean="0">
                <a:solidFill>
                  <a:srgbClr val="4F81BD"/>
                </a:solidFill>
                <a:latin typeface="Cambria"/>
              </a:rPr>
              <a:t>{</a:t>
            </a:r>
          </a:p>
          <a:p>
            <a:pPr marR="0" lvl="2" rtl="0">
              <a:buNone/>
            </a:pPr>
            <a:r>
              <a:rPr lang="en-US" b="1" i="1" baseline="0" dirty="0" err="1" smtClean="0">
                <a:solidFill>
                  <a:srgbClr val="4F81BD"/>
                </a:solidFill>
                <a:latin typeface="Cambria"/>
              </a:rPr>
              <a:t>clrscr</a:t>
            </a: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void fun(void);                   	</a:t>
            </a:r>
            <a:r>
              <a:rPr lang="en-US" b="1" i="1" baseline="0" dirty="0" smtClean="0">
                <a:solidFill>
                  <a:srgbClr val="C00000"/>
                </a:solidFill>
                <a:latin typeface="Cambria"/>
              </a:rPr>
              <a:t>//local function declaration</a:t>
            </a:r>
          </a:p>
          <a:p>
            <a:pPr marR="0" lvl="2" rtl="0">
              <a:buNone/>
            </a:pPr>
            <a:r>
              <a:rPr lang="en-US" b="1" i="1" baseline="0" dirty="0" err="1" smtClean="0">
                <a:solidFill>
                  <a:srgbClr val="4F81BD"/>
                </a:solidFill>
                <a:latin typeface="Cambria"/>
              </a:rPr>
              <a:t>printf</a:t>
            </a:r>
            <a:r>
              <a:rPr lang="en-US" b="1" i="1" baseline="0" dirty="0" smtClean="0">
                <a:solidFill>
                  <a:srgbClr val="4F81BD"/>
                </a:solidFill>
                <a:latin typeface="Cambria"/>
              </a:rPr>
              <a:t>(”You are in main”);</a:t>
            </a:r>
          </a:p>
          <a:p>
            <a:pPr marR="0" lvl="2" rtl="0">
              <a:buNone/>
            </a:pPr>
            <a:r>
              <a:rPr lang="en-US" b="1" i="1" baseline="0" dirty="0" smtClean="0">
                <a:solidFill>
                  <a:srgbClr val="4F81BD"/>
                </a:solidFill>
                <a:latin typeface="Cambria"/>
              </a:rPr>
              <a:t>fun();</a:t>
            </a:r>
          </a:p>
          <a:p>
            <a:pPr marR="0" lvl="2" rtl="0">
              <a:buNone/>
            </a:pPr>
            <a:r>
              <a:rPr lang="en-US" b="1" i="1" baseline="0" dirty="0" err="1" smtClean="0">
                <a:solidFill>
                  <a:srgbClr val="4F81BD"/>
                </a:solidFill>
                <a:latin typeface="Cambria"/>
              </a:rPr>
              <a:t>getch</a:t>
            </a: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void fun()</a:t>
            </a:r>
          </a:p>
          <a:p>
            <a:pPr marR="0" lvl="2" rtl="0">
              <a:buNone/>
            </a:pPr>
            <a:r>
              <a:rPr lang="en-US" b="1" i="1" baseline="0" dirty="0" smtClean="0">
                <a:solidFill>
                  <a:srgbClr val="4F81BD"/>
                </a:solidFill>
                <a:latin typeface="Cambria"/>
              </a:rPr>
              <a:t>{</a:t>
            </a:r>
          </a:p>
          <a:p>
            <a:pPr marR="0" lvl="2" rtl="0">
              <a:buNone/>
            </a:pPr>
            <a:r>
              <a:rPr lang="en-US" b="1" i="1" dirty="0" err="1" smtClean="0">
                <a:solidFill>
                  <a:srgbClr val="4F81BD"/>
                </a:solidFill>
                <a:latin typeface="Cambria"/>
              </a:rPr>
              <a:t>p</a:t>
            </a:r>
            <a:r>
              <a:rPr lang="en-US" b="1" i="1" baseline="0" dirty="0" err="1" smtClean="0">
                <a:solidFill>
                  <a:srgbClr val="4F81BD"/>
                </a:solidFill>
                <a:latin typeface="Cambria"/>
              </a:rPr>
              <a:t>rintf</a:t>
            </a:r>
            <a:r>
              <a:rPr lang="en-US" b="1" i="1" baseline="0" dirty="0" smtClean="0">
                <a:solidFill>
                  <a:srgbClr val="4F81BD"/>
                </a:solidFill>
                <a:latin typeface="Cambria"/>
              </a:rPr>
              <a:t>(”You are in fun”);</a:t>
            </a:r>
          </a:p>
          <a:p>
            <a:pPr marR="0" lvl="2" rtl="0">
              <a:buNone/>
            </a:pPr>
            <a:r>
              <a:rPr lang="en-US" b="1" i="1" baseline="0" dirty="0" smtClean="0">
                <a:solidFill>
                  <a:srgbClr val="4F81BD"/>
                </a:solidFill>
                <a:latin typeface="Cambria"/>
              </a:rPr>
              <a:t>}</a:t>
            </a:r>
          </a:p>
          <a:p>
            <a:pPr marR="0" lvl="0" rtl="0"/>
            <a:endParaRPr lang="en-US" b="1" baseline="0" dirty="0" smtClean="0">
              <a:solidFill>
                <a:srgbClr val="4F81BD"/>
              </a:solidFill>
              <a:latin typeface="Times New Roman"/>
            </a:endParaRPr>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dirty="0" smtClean="0">
                <a:solidFill>
                  <a:srgbClr val="365F91"/>
                </a:solidFill>
                <a:latin typeface="Cambria"/>
              </a:rPr>
              <a:t>Declaration</a:t>
            </a:r>
          </a:p>
        </p:txBody>
      </p:sp>
      <p:sp>
        <p:nvSpPr>
          <p:cNvPr id="3" name="Text Placeholder 2"/>
          <p:cNvSpPr>
            <a:spLocks noGrp="1"/>
          </p:cNvSpPr>
          <p:nvPr>
            <p:ph type="body" idx="1"/>
          </p:nvPr>
        </p:nvSpPr>
        <p:spPr/>
        <p:txBody>
          <a:bodyPr>
            <a:normAutofit lnSpcReduction="10000"/>
          </a:bodyPr>
          <a:lstStyle/>
          <a:p>
            <a:pPr marR="0" lvl="0" rtl="0">
              <a:buFont typeface="Wingdings" pitchFamily="2" charset="2"/>
              <a:buChar char="Ø"/>
            </a:pPr>
            <a:r>
              <a:rPr lang="en-US" b="1" baseline="0" dirty="0" smtClean="0">
                <a:solidFill>
                  <a:srgbClr val="4F81BD"/>
                </a:solidFill>
                <a:latin typeface="Cambria"/>
              </a:rPr>
              <a:t>Function Declaration  is also known as function prototype.</a:t>
            </a:r>
          </a:p>
          <a:p>
            <a:pPr marR="0" lvl="0" rtl="0">
              <a:buFont typeface="Wingdings" pitchFamily="2" charset="2"/>
              <a:buChar char="Ø"/>
            </a:pPr>
            <a:r>
              <a:rPr lang="en-US" b="1" baseline="0" dirty="0" smtClean="0">
                <a:solidFill>
                  <a:srgbClr val="4F81BD"/>
                </a:solidFill>
                <a:latin typeface="Cambria"/>
              </a:rPr>
              <a:t>Function need to be declared before use (Just like variable)</a:t>
            </a:r>
          </a:p>
          <a:p>
            <a:pPr marR="0" lvl="0" rtl="0">
              <a:buFont typeface="Wingdings" pitchFamily="2" charset="2"/>
              <a:buChar char="Ø"/>
            </a:pPr>
            <a:r>
              <a:rPr lang="en-US" b="1" baseline="0" dirty="0" smtClean="0">
                <a:solidFill>
                  <a:srgbClr val="4F81BD"/>
                </a:solidFill>
                <a:latin typeface="Cambria"/>
              </a:rPr>
              <a:t>Function can be declare locally or globally</a:t>
            </a:r>
          </a:p>
          <a:p>
            <a:pPr marR="0" lvl="0" rtl="0">
              <a:buFont typeface="Wingdings" pitchFamily="2" charset="2"/>
              <a:buChar char="Ø"/>
            </a:pPr>
            <a:r>
              <a:rPr lang="en-US" b="1" baseline="0" dirty="0" smtClean="0">
                <a:solidFill>
                  <a:srgbClr val="4F81BD"/>
                </a:solidFill>
                <a:latin typeface="Cambria"/>
              </a:rPr>
              <a:t>Return type </a:t>
            </a:r>
            <a:r>
              <a:rPr lang="en-US" b="1" baseline="0" dirty="0" err="1" smtClean="0">
                <a:solidFill>
                  <a:srgbClr val="4F81BD"/>
                </a:solidFill>
                <a:latin typeface="Cambria"/>
              </a:rPr>
              <a:t>function_name</a:t>
            </a:r>
            <a:r>
              <a:rPr lang="en-US" b="1" baseline="0" dirty="0" smtClean="0">
                <a:solidFill>
                  <a:srgbClr val="4F81BD"/>
                </a:solidFill>
                <a:latin typeface="Cambria"/>
              </a:rPr>
              <a:t>(</a:t>
            </a:r>
            <a:r>
              <a:rPr lang="en-US" b="1" baseline="0" dirty="0" err="1" smtClean="0">
                <a:solidFill>
                  <a:srgbClr val="4F81BD"/>
                </a:solidFill>
                <a:latin typeface="Cambria"/>
              </a:rPr>
              <a:t>argument_list</a:t>
            </a:r>
            <a:r>
              <a:rPr lang="en-US" b="1" baseline="0" dirty="0" smtClean="0">
                <a:solidFill>
                  <a:srgbClr val="4F81BD"/>
                </a:solidFill>
                <a:latin typeface="Cambria"/>
              </a:rPr>
              <a:t>);</a:t>
            </a:r>
          </a:p>
          <a:p>
            <a:pPr marR="0" lvl="0" rtl="0">
              <a:buFont typeface="Wingdings" pitchFamily="2" charset="2"/>
              <a:buChar char="Ø"/>
            </a:pPr>
            <a:r>
              <a:rPr lang="en-US" b="1" baseline="0" dirty="0" smtClean="0">
                <a:solidFill>
                  <a:srgbClr val="4F81BD"/>
                </a:solidFill>
                <a:latin typeface="Cambria"/>
              </a:rPr>
              <a:t>Function  </a:t>
            </a:r>
            <a:r>
              <a:rPr lang="en-US" b="1" baseline="0" dirty="0" err="1" smtClean="0">
                <a:solidFill>
                  <a:srgbClr val="4F81BD"/>
                </a:solidFill>
                <a:latin typeface="Cambria"/>
              </a:rPr>
              <a:t>Defination</a:t>
            </a:r>
            <a:r>
              <a:rPr lang="en-US" b="1" baseline="0" dirty="0" smtClean="0">
                <a:solidFill>
                  <a:srgbClr val="4F81BD"/>
                </a:solidFill>
                <a:latin typeface="Cambria"/>
              </a:rPr>
              <a:t> is a block of code.</a:t>
            </a:r>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pPr marR="0" rtl="0"/>
            <a:r>
              <a:rPr lang="en-US" b="1" baseline="0" dirty="0" smtClean="0">
                <a:solidFill>
                  <a:srgbClr val="365F91"/>
                </a:solidFill>
                <a:latin typeface="Cambria"/>
              </a:rPr>
              <a:t>Ways to define a function ?</a:t>
            </a:r>
          </a:p>
        </p:txBody>
      </p:sp>
      <p:sp>
        <p:nvSpPr>
          <p:cNvPr id="3" name="Text Placeholder 2"/>
          <p:cNvSpPr>
            <a:spLocks noGrp="1"/>
          </p:cNvSpPr>
          <p:nvPr>
            <p:ph type="body" idx="1"/>
          </p:nvPr>
        </p:nvSpPr>
        <p:spPr>
          <a:xfrm>
            <a:off x="457200" y="1219200"/>
            <a:ext cx="8229600" cy="5334000"/>
          </a:xfrm>
        </p:spPr>
        <p:txBody>
          <a:bodyPr>
            <a:normAutofit lnSpcReduction="10000"/>
          </a:bodyPr>
          <a:lstStyle/>
          <a:p>
            <a:pPr marR="0" lvl="0" rtl="0">
              <a:buFont typeface="Wingdings" pitchFamily="2" charset="2"/>
              <a:buChar char="Ø"/>
            </a:pPr>
            <a:r>
              <a:rPr lang="en-US" b="1" baseline="0" dirty="0" smtClean="0">
                <a:solidFill>
                  <a:srgbClr val="4F81BD"/>
                </a:solidFill>
                <a:latin typeface="Cambria"/>
              </a:rPr>
              <a:t>Takes Nothing, Return Nothing</a:t>
            </a:r>
          </a:p>
          <a:p>
            <a:pPr marR="0" lvl="0" rtl="0">
              <a:buFont typeface="Wingdings" pitchFamily="2" charset="2"/>
              <a:buChar char="Ø"/>
            </a:pPr>
            <a:r>
              <a:rPr lang="en-US" b="1" baseline="0" dirty="0" smtClean="0">
                <a:solidFill>
                  <a:srgbClr val="4F81BD"/>
                </a:solidFill>
                <a:latin typeface="Cambria"/>
              </a:rPr>
              <a:t>Takes Something, Return Nothing</a:t>
            </a:r>
          </a:p>
          <a:p>
            <a:pPr marR="0" lvl="0" rtl="0">
              <a:buFont typeface="Wingdings" pitchFamily="2" charset="2"/>
              <a:buChar char="Ø"/>
            </a:pPr>
            <a:r>
              <a:rPr lang="en-US" b="1" baseline="0" dirty="0" smtClean="0">
                <a:solidFill>
                  <a:srgbClr val="4F81BD"/>
                </a:solidFill>
                <a:latin typeface="Cambria"/>
              </a:rPr>
              <a:t>Takes Nothing, Return Something</a:t>
            </a:r>
          </a:p>
          <a:p>
            <a:pPr marR="0" lvl="0" rtl="0">
              <a:buFont typeface="Wingdings" pitchFamily="2" charset="2"/>
              <a:buChar char="Ø"/>
            </a:pPr>
            <a:r>
              <a:rPr lang="en-US" b="1" baseline="0" dirty="0" smtClean="0">
                <a:solidFill>
                  <a:srgbClr val="4F81BD"/>
                </a:solidFill>
                <a:latin typeface="Cambria"/>
              </a:rPr>
              <a:t>Takes Something, Return Something</a:t>
            </a:r>
          </a:p>
          <a:p>
            <a:pPr>
              <a:buNone/>
            </a:pPr>
            <a:r>
              <a:rPr lang="en-US" b="1" i="1" dirty="0" smtClean="0"/>
              <a:t>	</a:t>
            </a:r>
          </a:p>
          <a:p>
            <a:pPr algn="just">
              <a:buNone/>
            </a:pPr>
            <a:r>
              <a:rPr lang="en-US" sz="3000" b="1" i="1" dirty="0" smtClean="0">
                <a:solidFill>
                  <a:schemeClr val="accent1">
                    <a:lumMod val="75000"/>
                  </a:schemeClr>
                </a:solidFill>
              </a:rPr>
              <a:t>	Note:</a:t>
            </a:r>
          </a:p>
          <a:p>
            <a:pPr algn="just">
              <a:buNone/>
            </a:pPr>
            <a:r>
              <a:rPr lang="en-US" sz="3000" b="1" i="1" dirty="0" smtClean="0">
                <a:solidFill>
                  <a:schemeClr val="accent1">
                    <a:lumMod val="75000"/>
                  </a:schemeClr>
                </a:solidFill>
              </a:rPr>
              <a:t>	main() function can be define in above 4 Ways if we run our program through cmd. We can pass argument to the main(). But if we use double click for running the program then better way is to make main() as Takes nothing return nothing.</a:t>
            </a:r>
          </a:p>
          <a:p>
            <a:pPr marR="0" lvl="0" rtl="0">
              <a:buNone/>
            </a:pPr>
            <a:endParaRPr lang="en-US" b="1" baseline="0" dirty="0" smtClean="0">
              <a:solidFill>
                <a:srgbClr val="4F81BD"/>
              </a:solidFill>
              <a:latin typeface="Cambria"/>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Types of formal arguments</a:t>
            </a:r>
          </a:p>
        </p:txBody>
      </p:sp>
      <p:sp>
        <p:nvSpPr>
          <p:cNvPr id="3" name="Text Placeholder 2"/>
          <p:cNvSpPr>
            <a:spLocks noGrp="1"/>
          </p:cNvSpPr>
          <p:nvPr>
            <p:ph type="body" idx="1"/>
          </p:nvPr>
        </p:nvSpPr>
        <p:spPr/>
        <p:txBody>
          <a:bodyPr/>
          <a:lstStyle/>
          <a:p>
            <a:pPr marR="0" lvl="0" rtl="0">
              <a:buFont typeface="Wingdings" pitchFamily="2" charset="2"/>
              <a:buChar char="Ø"/>
            </a:pPr>
            <a:r>
              <a:rPr lang="en-US" b="1" baseline="0" dirty="0" smtClean="0">
                <a:solidFill>
                  <a:srgbClr val="4F81BD"/>
                </a:solidFill>
                <a:latin typeface="Cambria"/>
              </a:rPr>
              <a:t>Formal arguments can be of three types</a:t>
            </a:r>
          </a:p>
          <a:p>
            <a:pPr marR="0" lvl="0" rtl="0">
              <a:buFont typeface="Wingdings" pitchFamily="2" charset="2"/>
              <a:buChar char="Ø"/>
            </a:pPr>
            <a:r>
              <a:rPr lang="en-US" b="1" baseline="0" dirty="0" smtClean="0">
                <a:solidFill>
                  <a:srgbClr val="4F81BD"/>
                </a:solidFill>
                <a:latin typeface="Cambria"/>
              </a:rPr>
              <a:t>Ordinary variable</a:t>
            </a:r>
          </a:p>
          <a:p>
            <a:pPr marR="0" lvl="0" rtl="0">
              <a:buFont typeface="Wingdings" pitchFamily="2" charset="2"/>
              <a:buChar char="Ø"/>
            </a:pPr>
            <a:r>
              <a:rPr lang="en-US" b="1" baseline="0" dirty="0" smtClean="0">
                <a:solidFill>
                  <a:srgbClr val="4F81BD"/>
                </a:solidFill>
                <a:latin typeface="Cambria"/>
              </a:rPr>
              <a:t>Pointer Variable</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457200"/>
          </a:xfrm>
        </p:spPr>
        <p:txBody>
          <a:bodyPr>
            <a:normAutofit fontScale="90000"/>
          </a:bodyPr>
          <a:lstStyle/>
          <a:p>
            <a:pPr marR="0" rtl="0"/>
            <a:r>
              <a:rPr lang="en-US" b="1" baseline="0" dirty="0" smtClean="0">
                <a:solidFill>
                  <a:srgbClr val="365F91"/>
                </a:solidFill>
                <a:latin typeface="Cambria"/>
              </a:rPr>
              <a:t>Formal and Actual Arguments</a:t>
            </a:r>
          </a:p>
        </p:txBody>
      </p:sp>
      <p:sp>
        <p:nvSpPr>
          <p:cNvPr id="3" name="Text Placeholder 2"/>
          <p:cNvSpPr>
            <a:spLocks noGrp="1"/>
          </p:cNvSpPr>
          <p:nvPr>
            <p:ph type="body" idx="1"/>
          </p:nvPr>
        </p:nvSpPr>
        <p:spPr>
          <a:xfrm>
            <a:off x="-533400" y="685800"/>
            <a:ext cx="9448800" cy="5867400"/>
          </a:xfrm>
        </p:spPr>
        <p:txBody>
          <a:bodyPr>
            <a:normAutofit fontScale="92500" lnSpcReduction="10000"/>
          </a:bodyPr>
          <a:lstStyle/>
          <a:p>
            <a:pPr marR="0" lvl="2" rtl="0">
              <a:buNone/>
            </a:pPr>
            <a:r>
              <a:rPr lang="en-US" b="1" i="1" baseline="0" dirty="0" smtClean="0">
                <a:solidFill>
                  <a:srgbClr val="4F81BD"/>
                </a:solidFill>
                <a:latin typeface="Cambria"/>
              </a:rPr>
              <a:t>include&lt;</a:t>
            </a:r>
            <a:r>
              <a:rPr lang="en-US" b="1" i="1" baseline="0" dirty="0" err="1" smtClean="0">
                <a:solidFill>
                  <a:srgbClr val="4F81BD"/>
                </a:solidFill>
                <a:latin typeface="Cambria"/>
              </a:rPr>
              <a:t>stdio.h</a:t>
            </a:r>
            <a:r>
              <a:rPr lang="en-US" b="1" i="1" baseline="0" dirty="0" smtClean="0">
                <a:solidFill>
                  <a:srgbClr val="4F81BD"/>
                </a:solidFill>
                <a:latin typeface="Cambria"/>
              </a:rPr>
              <a:t>&gt;</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sum(</a:t>
            </a:r>
            <a:r>
              <a:rPr lang="en-US" b="1" i="1" baseline="0" dirty="0" err="1" smtClean="0">
                <a:solidFill>
                  <a:srgbClr val="4F81BD"/>
                </a:solidFill>
                <a:latin typeface="Cambria"/>
              </a:rPr>
              <a:t>int</a:t>
            </a:r>
            <a:r>
              <a:rPr lang="en-US" b="1" i="1" baseline="0" dirty="0" smtClean="0">
                <a:solidFill>
                  <a:srgbClr val="4F81BD"/>
                </a:solidFill>
                <a:latin typeface="Cambria"/>
              </a:rPr>
              <a:t>, </a:t>
            </a:r>
            <a:r>
              <a:rPr lang="en-US" b="1" i="1" baseline="0" dirty="0" err="1" smtClean="0">
                <a:solidFill>
                  <a:srgbClr val="4F81BD"/>
                </a:solidFill>
                <a:latin typeface="Cambria"/>
              </a:rPr>
              <a:t>int</a:t>
            </a: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void main()</a:t>
            </a:r>
          </a:p>
          <a:p>
            <a:pPr marR="0" lvl="2" rtl="0">
              <a:buNone/>
            </a:pPr>
            <a:r>
              <a:rPr lang="en-US" b="1" i="1" baseline="0" dirty="0" smtClean="0">
                <a:solidFill>
                  <a:srgbClr val="4F81BD"/>
                </a:solidFill>
                <a:latin typeface="Cambria"/>
              </a:rPr>
              <a:t>{</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a=5, b=6;</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c=sum(</a:t>
            </a:r>
            <a:r>
              <a:rPr lang="en-US" b="1" i="1" baseline="0" dirty="0" err="1" smtClean="0">
                <a:solidFill>
                  <a:srgbClr val="4F81BD"/>
                </a:solidFill>
                <a:latin typeface="Cambria"/>
              </a:rPr>
              <a:t>a,b</a:t>
            </a:r>
            <a:r>
              <a:rPr lang="en-US" b="1" i="1" baseline="0" dirty="0" smtClean="0">
                <a:solidFill>
                  <a:srgbClr val="4F81BD"/>
                </a:solidFill>
                <a:latin typeface="Cambria"/>
              </a:rPr>
              <a:t>);                   </a:t>
            </a:r>
          </a:p>
          <a:p>
            <a:pPr marR="0" lvl="2" rtl="0">
              <a:buNone/>
            </a:pPr>
            <a:r>
              <a:rPr lang="en-US" b="1" i="1" baseline="0" dirty="0" smtClean="0">
                <a:solidFill>
                  <a:srgbClr val="C00000"/>
                </a:solidFill>
                <a:latin typeface="Cambria"/>
              </a:rPr>
              <a:t>// a and b are actual arguments</a:t>
            </a:r>
          </a:p>
          <a:p>
            <a:pPr marR="0" lvl="2" rtl="0">
              <a:buNone/>
            </a:pPr>
            <a:r>
              <a:rPr lang="en-US" b="1" i="1" baseline="0" dirty="0" err="1" smtClean="0">
                <a:solidFill>
                  <a:srgbClr val="4F81BD"/>
                </a:solidFill>
                <a:latin typeface="Cambria"/>
              </a:rPr>
              <a:t>printf</a:t>
            </a:r>
            <a:r>
              <a:rPr lang="en-US" b="1" i="1" baseline="0" dirty="0" smtClean="0">
                <a:solidFill>
                  <a:srgbClr val="4F81BD"/>
                </a:solidFill>
                <a:latin typeface="Cambria"/>
              </a:rPr>
              <a:t>(” sum is %d “ ,c );</a:t>
            </a:r>
          </a:p>
          <a:p>
            <a:pPr marR="0" lvl="2" rtl="0">
              <a:buNone/>
            </a:pPr>
            <a:r>
              <a:rPr lang="en-US" b="1" i="1" baseline="0" dirty="0" smtClean="0">
                <a:solidFill>
                  <a:srgbClr val="4F81BD"/>
                </a:solidFill>
                <a:latin typeface="Cambria"/>
              </a:rPr>
              <a:t>}</a:t>
            </a:r>
          </a:p>
          <a:p>
            <a:pPr marR="0" lvl="2" rtl="0">
              <a:buNone/>
            </a:pPr>
            <a:endParaRPr lang="en-US" b="1" i="1" baseline="0" dirty="0" smtClean="0">
              <a:solidFill>
                <a:srgbClr val="4F81BD"/>
              </a:solidFill>
              <a:latin typeface="Cambria"/>
            </a:endParaRP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sum (</a:t>
            </a:r>
            <a:r>
              <a:rPr lang="en-US" b="1" i="1" baseline="0" dirty="0" err="1" smtClean="0">
                <a:solidFill>
                  <a:srgbClr val="4F81BD"/>
                </a:solidFill>
                <a:latin typeface="Cambria"/>
              </a:rPr>
              <a:t>int</a:t>
            </a:r>
            <a:r>
              <a:rPr lang="en-US" b="1" i="1" baseline="0" dirty="0" smtClean="0">
                <a:solidFill>
                  <a:srgbClr val="4F81BD"/>
                </a:solidFill>
                <a:latin typeface="Cambria"/>
              </a:rPr>
              <a:t> x, </a:t>
            </a:r>
            <a:r>
              <a:rPr lang="en-US" b="1" i="1" baseline="0" dirty="0" err="1" smtClean="0">
                <a:solidFill>
                  <a:srgbClr val="4F81BD"/>
                </a:solidFill>
                <a:latin typeface="Cambria"/>
              </a:rPr>
              <a:t>int</a:t>
            </a:r>
            <a:r>
              <a:rPr lang="en-US" b="1" i="1" baseline="0" dirty="0" smtClean="0">
                <a:solidFill>
                  <a:srgbClr val="4F81BD"/>
                </a:solidFill>
                <a:latin typeface="Cambria"/>
              </a:rPr>
              <a:t> y)           </a:t>
            </a:r>
          </a:p>
          <a:p>
            <a:pPr marR="0" lvl="2" rtl="0">
              <a:buNone/>
            </a:pPr>
            <a:r>
              <a:rPr lang="en-US" b="1" i="1" baseline="0" dirty="0" smtClean="0">
                <a:solidFill>
                  <a:srgbClr val="C00000"/>
                </a:solidFill>
                <a:latin typeface="Cambria"/>
              </a:rPr>
              <a:t>// x and y are formal arguments</a:t>
            </a:r>
          </a:p>
          <a:p>
            <a:pPr marR="0" lvl="2" rtl="0">
              <a:buNone/>
            </a:pP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return(</a:t>
            </a:r>
            <a:r>
              <a:rPr lang="en-US" b="1" i="1" baseline="0" dirty="0" err="1" smtClean="0">
                <a:solidFill>
                  <a:srgbClr val="4F81BD"/>
                </a:solidFill>
                <a:latin typeface="Cambria"/>
              </a:rPr>
              <a:t>x+y</a:t>
            </a: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a:t>
            </a:r>
          </a:p>
        </p:txBody>
      </p:sp>
      <p:pic>
        <p:nvPicPr>
          <p:cNvPr id="4" name="Picture 3" descr="C:\Users\mohit\Desktop\a1.png"/>
          <p:cNvPicPr/>
          <p:nvPr/>
        </p:nvPicPr>
        <p:blipFill>
          <a:blip r:embed="rId2" cstate="print"/>
          <a:srcRect/>
          <a:stretch>
            <a:fillRect/>
          </a:stretch>
        </p:blipFill>
        <p:spPr bwMode="auto">
          <a:xfrm>
            <a:off x="6248400" y="762000"/>
            <a:ext cx="1981200" cy="3124200"/>
          </a:xfrm>
          <a:prstGeom prst="rect">
            <a:avLst/>
          </a:prstGeom>
          <a:noFill/>
          <a:ln w="9525">
            <a:noFill/>
            <a:miter lim="800000"/>
            <a:headEnd/>
            <a:tailEnd/>
          </a:ln>
        </p:spPr>
      </p:pic>
      <p:pic>
        <p:nvPicPr>
          <p:cNvPr id="5" name="Picture 4" descr="C:\Users\mohit\Desktop\a2.png"/>
          <p:cNvPicPr/>
          <p:nvPr/>
        </p:nvPicPr>
        <p:blipFill>
          <a:blip r:embed="rId3" cstate="print"/>
          <a:srcRect/>
          <a:stretch>
            <a:fillRect/>
          </a:stretch>
        </p:blipFill>
        <p:spPr bwMode="auto">
          <a:xfrm>
            <a:off x="6248400" y="4038600"/>
            <a:ext cx="1981200" cy="2667000"/>
          </a:xfrm>
          <a:prstGeom prst="rect">
            <a:avLst/>
          </a:prstGeom>
          <a:noFill/>
          <a:ln w="9525">
            <a:noFill/>
            <a:miter lim="800000"/>
            <a:headEnd/>
            <a:tailEnd/>
          </a:ln>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715962"/>
          </a:xfrm>
        </p:spPr>
        <p:txBody>
          <a:bodyPr>
            <a:noAutofit/>
          </a:bodyPr>
          <a:lstStyle/>
          <a:p>
            <a:pPr marR="0" rtl="0"/>
            <a:r>
              <a:rPr lang="en-US" sz="3600" b="1" baseline="0" dirty="0" smtClean="0">
                <a:solidFill>
                  <a:srgbClr val="365F91"/>
                </a:solidFill>
                <a:latin typeface="Cambria"/>
              </a:rPr>
              <a:t>Ordinary Variable as formal arguments</a:t>
            </a:r>
          </a:p>
        </p:txBody>
      </p:sp>
      <p:sp>
        <p:nvSpPr>
          <p:cNvPr id="3" name="Text Placeholder 2"/>
          <p:cNvSpPr>
            <a:spLocks noGrp="1"/>
          </p:cNvSpPr>
          <p:nvPr>
            <p:ph type="body" idx="1"/>
          </p:nvPr>
        </p:nvSpPr>
        <p:spPr/>
        <p:txBody>
          <a:bodyPr>
            <a:normAutofit/>
          </a:bodyPr>
          <a:lstStyle/>
          <a:p>
            <a:pPr marR="0" lvl="0" rtl="0">
              <a:buNone/>
            </a:pPr>
            <a:r>
              <a:rPr lang="en-US" b="1" baseline="0" dirty="0" smtClean="0">
                <a:solidFill>
                  <a:srgbClr val="4F81BD"/>
                </a:solidFill>
                <a:latin typeface="Cambria"/>
              </a:rPr>
              <a:t>	Call by value: </a:t>
            </a:r>
          </a:p>
          <a:p>
            <a:pPr marR="0" lvl="0" rtl="0">
              <a:buNone/>
            </a:pPr>
            <a:r>
              <a:rPr lang="en-US" b="1" dirty="0">
                <a:solidFill>
                  <a:srgbClr val="4F81BD"/>
                </a:solidFill>
                <a:latin typeface="Cambria"/>
              </a:rPr>
              <a:t>	</a:t>
            </a:r>
            <a:r>
              <a:rPr lang="en-US" b="1" baseline="0" dirty="0" smtClean="0">
                <a:solidFill>
                  <a:srgbClr val="4F81BD"/>
                </a:solidFill>
                <a:latin typeface="Cambria"/>
              </a:rPr>
              <a:t>When formal arguments are ordinary </a:t>
            </a:r>
            <a:r>
              <a:rPr lang="en-US" b="1" baseline="0" dirty="0" err="1" smtClean="0">
                <a:solidFill>
                  <a:srgbClr val="4F81BD"/>
                </a:solidFill>
                <a:latin typeface="Cambria"/>
              </a:rPr>
              <a:t>variables,it</a:t>
            </a:r>
            <a:r>
              <a:rPr lang="en-US" b="1" baseline="0" dirty="0" smtClean="0">
                <a:solidFill>
                  <a:srgbClr val="4F81BD"/>
                </a:solidFill>
                <a:latin typeface="Cambria"/>
              </a:rPr>
              <a:t> is function call by value</a:t>
            </a:r>
          </a:p>
          <a:p>
            <a:pPr marR="0" lvl="0" rtl="0"/>
            <a:endParaRPr lang="en-US" b="1" baseline="0" dirty="0" smtClean="0">
              <a:solidFill>
                <a:srgbClr val="4F81BD"/>
              </a:solidFill>
              <a:latin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228600"/>
            <a:ext cx="8001000" cy="6124754"/>
          </a:xfrm>
          <a:prstGeom prst="rect">
            <a:avLst/>
          </a:prstGeom>
        </p:spPr>
        <p:txBody>
          <a:bodyPr wrap="square">
            <a:spAutoFit/>
          </a:bodyPr>
          <a:lstStyle/>
          <a:p>
            <a:pPr lvl="2"/>
            <a:r>
              <a:rPr lang="en-US" sz="2800" b="1" i="1" baseline="0" dirty="0" smtClean="0">
                <a:solidFill>
                  <a:srgbClr val="4F81BD"/>
                </a:solidFill>
                <a:latin typeface="Cambria"/>
              </a:rPr>
              <a:t>Example:</a:t>
            </a:r>
          </a:p>
          <a:p>
            <a:pPr lvl="2"/>
            <a:endParaRPr lang="en-US" sz="2800" b="1" i="1" baseline="0" dirty="0" smtClean="0">
              <a:solidFill>
                <a:srgbClr val="4F81BD"/>
              </a:solidFill>
              <a:latin typeface="Cambria"/>
            </a:endParaRPr>
          </a:p>
          <a:p>
            <a:pPr lvl="2"/>
            <a:r>
              <a:rPr lang="en-US" sz="2800" b="1" i="1" baseline="0" dirty="0" smtClean="0">
                <a:solidFill>
                  <a:srgbClr val="4F81BD"/>
                </a:solidFill>
                <a:latin typeface="Cambria"/>
              </a:rPr>
              <a:t>#include&lt;</a:t>
            </a:r>
            <a:r>
              <a:rPr lang="en-US" sz="2800" b="1" i="1" baseline="0" dirty="0" err="1" smtClean="0">
                <a:solidFill>
                  <a:srgbClr val="4F81BD"/>
                </a:solidFill>
                <a:latin typeface="Cambria"/>
              </a:rPr>
              <a:t>stdio.h</a:t>
            </a:r>
            <a:r>
              <a:rPr lang="en-US" sz="2800" b="1" i="1" baseline="0" dirty="0" smtClean="0">
                <a:solidFill>
                  <a:srgbClr val="4F81BD"/>
                </a:solidFill>
                <a:latin typeface="Cambria"/>
              </a:rPr>
              <a:t>&gt;</a:t>
            </a:r>
          </a:p>
          <a:p>
            <a:pPr lvl="2"/>
            <a:r>
              <a:rPr lang="en-US" sz="2800" b="1" i="1" baseline="0" dirty="0" err="1" smtClean="0">
                <a:solidFill>
                  <a:srgbClr val="4F81BD"/>
                </a:solidFill>
                <a:latin typeface="Cambria"/>
              </a:rPr>
              <a:t>int</a:t>
            </a:r>
            <a:r>
              <a:rPr lang="en-US" sz="2800" b="1" i="1" baseline="0" dirty="0" smtClean="0">
                <a:solidFill>
                  <a:srgbClr val="4F81BD"/>
                </a:solidFill>
                <a:latin typeface="Cambria"/>
              </a:rPr>
              <a:t> sum(</a:t>
            </a:r>
            <a:r>
              <a:rPr lang="en-US" sz="2800" b="1" i="1" baseline="0" dirty="0" err="1" smtClean="0">
                <a:solidFill>
                  <a:srgbClr val="4F81BD"/>
                </a:solidFill>
                <a:latin typeface="Cambria"/>
              </a:rPr>
              <a:t>int</a:t>
            </a:r>
            <a:r>
              <a:rPr lang="en-US" sz="2800" b="1" i="1" baseline="0" dirty="0" smtClean="0">
                <a:solidFill>
                  <a:srgbClr val="4F81BD"/>
                </a:solidFill>
                <a:latin typeface="Cambria"/>
              </a:rPr>
              <a:t>, </a:t>
            </a:r>
            <a:r>
              <a:rPr lang="en-US" sz="2800" b="1" i="1" baseline="0" dirty="0" err="1" smtClean="0">
                <a:solidFill>
                  <a:srgbClr val="4F81BD"/>
                </a:solidFill>
                <a:latin typeface="Cambria"/>
              </a:rPr>
              <a:t>int</a:t>
            </a:r>
            <a:r>
              <a:rPr lang="en-US" sz="2800" b="1" i="1" baseline="0" dirty="0" smtClean="0">
                <a:solidFill>
                  <a:srgbClr val="4F81BD"/>
                </a:solidFill>
                <a:latin typeface="Cambria"/>
              </a:rPr>
              <a:t>);</a:t>
            </a:r>
          </a:p>
          <a:p>
            <a:pPr lvl="2"/>
            <a:r>
              <a:rPr lang="en-US" sz="2800" b="1" i="1" baseline="0" dirty="0" smtClean="0">
                <a:solidFill>
                  <a:srgbClr val="4F81BD"/>
                </a:solidFill>
                <a:latin typeface="Cambria"/>
              </a:rPr>
              <a:t>void main()</a:t>
            </a:r>
          </a:p>
          <a:p>
            <a:pPr lvl="2"/>
            <a:r>
              <a:rPr lang="en-US" sz="2800" b="1" i="1" baseline="0" dirty="0" smtClean="0">
                <a:solidFill>
                  <a:srgbClr val="4F81BD"/>
                </a:solidFill>
                <a:latin typeface="Cambria"/>
              </a:rPr>
              <a:t>{</a:t>
            </a:r>
          </a:p>
          <a:p>
            <a:pPr lvl="2"/>
            <a:r>
              <a:rPr lang="en-US" sz="2800" b="1" i="1" baseline="0" dirty="0" err="1" smtClean="0">
                <a:solidFill>
                  <a:srgbClr val="4F81BD"/>
                </a:solidFill>
                <a:latin typeface="Cambria"/>
              </a:rPr>
              <a:t>int</a:t>
            </a:r>
            <a:r>
              <a:rPr lang="en-US" sz="2800" b="1" i="1" baseline="0" dirty="0" smtClean="0">
                <a:solidFill>
                  <a:srgbClr val="4F81BD"/>
                </a:solidFill>
                <a:latin typeface="Cambria"/>
              </a:rPr>
              <a:t> a=5, b=6;</a:t>
            </a:r>
          </a:p>
          <a:p>
            <a:pPr lvl="2"/>
            <a:r>
              <a:rPr lang="en-US" sz="2800" b="1" i="1" baseline="0" dirty="0" err="1" smtClean="0">
                <a:solidFill>
                  <a:srgbClr val="4F81BD"/>
                </a:solidFill>
                <a:latin typeface="Cambria"/>
              </a:rPr>
              <a:t>int</a:t>
            </a:r>
            <a:r>
              <a:rPr lang="en-US" sz="2800" b="1" i="1" baseline="0" dirty="0" smtClean="0">
                <a:solidFill>
                  <a:srgbClr val="4F81BD"/>
                </a:solidFill>
                <a:latin typeface="Cambria"/>
              </a:rPr>
              <a:t> s= sum(</a:t>
            </a:r>
            <a:r>
              <a:rPr lang="en-US" sz="2800" b="1" i="1" baseline="0" dirty="0" err="1" smtClean="0">
                <a:solidFill>
                  <a:srgbClr val="4F81BD"/>
                </a:solidFill>
                <a:latin typeface="Cambria"/>
              </a:rPr>
              <a:t>a,b</a:t>
            </a:r>
            <a:r>
              <a:rPr lang="en-US" sz="2800" b="1" i="1" baseline="0" dirty="0" smtClean="0">
                <a:solidFill>
                  <a:srgbClr val="4F81BD"/>
                </a:solidFill>
                <a:latin typeface="Cambria"/>
              </a:rPr>
              <a:t>);</a:t>
            </a:r>
          </a:p>
          <a:p>
            <a:pPr lvl="2"/>
            <a:r>
              <a:rPr lang="en-US" sz="2800" b="1" i="1" baseline="0" dirty="0" err="1" smtClean="0">
                <a:solidFill>
                  <a:srgbClr val="4F81BD"/>
                </a:solidFill>
                <a:latin typeface="Cambria"/>
              </a:rPr>
              <a:t>printf</a:t>
            </a:r>
            <a:r>
              <a:rPr lang="en-US" sz="2800" b="1" i="1" baseline="0" dirty="0" smtClean="0">
                <a:solidFill>
                  <a:srgbClr val="4F81BD"/>
                </a:solidFill>
                <a:latin typeface="Cambria"/>
              </a:rPr>
              <a:t>(“sum is %d” , s) ;</a:t>
            </a:r>
          </a:p>
          <a:p>
            <a:pPr lvl="2"/>
            <a:r>
              <a:rPr lang="en-US" sz="2800" b="1" i="1" baseline="0" dirty="0" smtClean="0">
                <a:solidFill>
                  <a:srgbClr val="4F81BD"/>
                </a:solidFill>
                <a:latin typeface="Cambria"/>
              </a:rPr>
              <a:t>}</a:t>
            </a:r>
          </a:p>
          <a:p>
            <a:pPr lvl="2"/>
            <a:r>
              <a:rPr lang="fr-FR" sz="2800" b="1" i="1" baseline="0" dirty="0" err="1" smtClean="0">
                <a:solidFill>
                  <a:srgbClr val="4F81BD"/>
                </a:solidFill>
                <a:latin typeface="Cambria"/>
              </a:rPr>
              <a:t>int</a:t>
            </a:r>
            <a:r>
              <a:rPr lang="fr-FR" sz="2800" b="1" i="1" baseline="0" dirty="0" smtClean="0">
                <a:solidFill>
                  <a:srgbClr val="4F81BD"/>
                </a:solidFill>
                <a:latin typeface="Cambria"/>
              </a:rPr>
              <a:t> </a:t>
            </a:r>
            <a:r>
              <a:rPr lang="fr-FR" sz="2800" b="1" i="1" baseline="0" dirty="0" err="1" smtClean="0">
                <a:solidFill>
                  <a:srgbClr val="4F81BD"/>
                </a:solidFill>
                <a:latin typeface="Cambria"/>
              </a:rPr>
              <a:t>sum</a:t>
            </a:r>
            <a:r>
              <a:rPr lang="fr-FR" sz="2800" b="1" i="1" baseline="0" dirty="0" smtClean="0">
                <a:solidFill>
                  <a:srgbClr val="4F81BD"/>
                </a:solidFill>
                <a:latin typeface="Cambria"/>
              </a:rPr>
              <a:t>(</a:t>
            </a:r>
            <a:r>
              <a:rPr lang="fr-FR" sz="2800" b="1" i="1" baseline="0" dirty="0" err="1" smtClean="0">
                <a:solidFill>
                  <a:srgbClr val="4F81BD"/>
                </a:solidFill>
                <a:latin typeface="Cambria"/>
              </a:rPr>
              <a:t>int</a:t>
            </a:r>
            <a:r>
              <a:rPr lang="fr-FR" sz="2800" b="1" i="1" baseline="0" dirty="0" smtClean="0">
                <a:solidFill>
                  <a:srgbClr val="4F81BD"/>
                </a:solidFill>
                <a:latin typeface="Cambria"/>
              </a:rPr>
              <a:t> x, </a:t>
            </a:r>
            <a:r>
              <a:rPr lang="fr-FR" sz="2800" b="1" i="1" baseline="0" dirty="0" err="1" smtClean="0">
                <a:solidFill>
                  <a:srgbClr val="4F81BD"/>
                </a:solidFill>
                <a:latin typeface="Cambria"/>
              </a:rPr>
              <a:t>int</a:t>
            </a:r>
            <a:r>
              <a:rPr lang="fr-FR" sz="2800" b="1" i="1" baseline="0" dirty="0" smtClean="0">
                <a:solidFill>
                  <a:srgbClr val="4F81BD"/>
                </a:solidFill>
                <a:latin typeface="Cambria"/>
              </a:rPr>
              <a:t> y)</a:t>
            </a:r>
          </a:p>
          <a:p>
            <a:pPr lvl="2"/>
            <a:r>
              <a:rPr lang="en-US" sz="2800" b="1" i="1" baseline="0" dirty="0" smtClean="0">
                <a:solidFill>
                  <a:srgbClr val="4F81BD"/>
                </a:solidFill>
                <a:latin typeface="Cambria"/>
              </a:rPr>
              <a:t>{</a:t>
            </a:r>
          </a:p>
          <a:p>
            <a:pPr lvl="2"/>
            <a:r>
              <a:rPr lang="en-US" sz="2800" b="1" i="1" baseline="0" dirty="0" smtClean="0">
                <a:solidFill>
                  <a:srgbClr val="4F81BD"/>
                </a:solidFill>
                <a:latin typeface="Cambria"/>
              </a:rPr>
              <a:t>return (</a:t>
            </a:r>
            <a:r>
              <a:rPr lang="en-US" sz="2800" b="1" i="1" baseline="0" dirty="0" err="1" smtClean="0">
                <a:solidFill>
                  <a:srgbClr val="4F81BD"/>
                </a:solidFill>
                <a:latin typeface="Cambria"/>
              </a:rPr>
              <a:t>x+y</a:t>
            </a:r>
            <a:r>
              <a:rPr lang="en-US" sz="2800" b="1" i="1" baseline="0" dirty="0" smtClean="0">
                <a:solidFill>
                  <a:srgbClr val="4F81BD"/>
                </a:solidFill>
                <a:latin typeface="Cambria"/>
              </a:rPr>
              <a:t>);</a:t>
            </a:r>
          </a:p>
          <a:p>
            <a:pPr lvl="2"/>
            <a:r>
              <a:rPr lang="en-US" sz="2800" b="1" i="1" baseline="0" dirty="0" smtClean="0">
                <a:solidFill>
                  <a:srgbClr val="4F81BD"/>
                </a:solidFill>
                <a:latin typeface="Cambria"/>
              </a:rPr>
              <a:t>}</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pPr marR="0" rtl="0"/>
            <a:r>
              <a:rPr lang="en-US" sz="3600" b="1" baseline="0" dirty="0" smtClean="0">
                <a:solidFill>
                  <a:srgbClr val="365F91"/>
                </a:solidFill>
                <a:latin typeface="Cambria"/>
              </a:rPr>
              <a:t>Pointer Variable as formal arguments</a:t>
            </a:r>
          </a:p>
        </p:txBody>
      </p:sp>
      <p:sp>
        <p:nvSpPr>
          <p:cNvPr id="3" name="Text Placeholder 2"/>
          <p:cNvSpPr>
            <a:spLocks noGrp="1"/>
          </p:cNvSpPr>
          <p:nvPr>
            <p:ph type="body" idx="1"/>
          </p:nvPr>
        </p:nvSpPr>
        <p:spPr/>
        <p:txBody>
          <a:bodyPr>
            <a:normAutofit/>
          </a:bodyPr>
          <a:lstStyle/>
          <a:p>
            <a:pPr marR="0" lvl="0" rtl="0">
              <a:buNone/>
            </a:pPr>
            <a:r>
              <a:rPr lang="en-US" b="1" baseline="0" dirty="0" smtClean="0">
                <a:solidFill>
                  <a:srgbClr val="4F81BD"/>
                </a:solidFill>
                <a:latin typeface="Cambria"/>
              </a:rPr>
              <a:t>	Call by address : </a:t>
            </a:r>
          </a:p>
          <a:p>
            <a:pPr marR="0" lvl="0" rtl="0">
              <a:buNone/>
            </a:pPr>
            <a:r>
              <a:rPr lang="en-US" b="1" dirty="0">
                <a:solidFill>
                  <a:srgbClr val="4F81BD"/>
                </a:solidFill>
                <a:latin typeface="Cambria"/>
              </a:rPr>
              <a:t>	</a:t>
            </a:r>
            <a:r>
              <a:rPr lang="en-US" b="1" baseline="0" dirty="0" smtClean="0">
                <a:solidFill>
                  <a:srgbClr val="4F81BD"/>
                </a:solidFill>
                <a:latin typeface="Cambria"/>
              </a:rPr>
              <a:t>When passing arguments are the address of actual arguments and formal arguments are pointer variables, it is function call by address</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228600"/>
            <a:ext cx="8458200" cy="6784241"/>
          </a:xfrm>
          <a:prstGeom prst="rect">
            <a:avLst/>
          </a:prstGeom>
        </p:spPr>
        <p:txBody>
          <a:bodyPr wrap="square">
            <a:spAutoFit/>
          </a:bodyPr>
          <a:lstStyle/>
          <a:p>
            <a:pPr lvl="2"/>
            <a:r>
              <a:rPr lang="en-US" sz="2800" b="1" i="1" baseline="0" dirty="0" smtClean="0">
                <a:solidFill>
                  <a:srgbClr val="4F81BD"/>
                </a:solidFill>
                <a:latin typeface="Cambria"/>
              </a:rPr>
              <a:t>Example:</a:t>
            </a:r>
          </a:p>
          <a:p>
            <a:pPr lvl="2"/>
            <a:endParaRPr lang="en-US" sz="2800" b="1" i="1" baseline="0" dirty="0" smtClean="0">
              <a:solidFill>
                <a:srgbClr val="4F81BD"/>
              </a:solidFill>
              <a:latin typeface="Cambria"/>
            </a:endParaRPr>
          </a:p>
          <a:p>
            <a:pPr lvl="2"/>
            <a:r>
              <a:rPr lang="en-US" sz="2800" b="1" i="1" baseline="0" dirty="0" smtClean="0">
                <a:solidFill>
                  <a:srgbClr val="4F81BD"/>
                </a:solidFill>
                <a:latin typeface="Cambria"/>
              </a:rPr>
              <a:t>#include&lt;</a:t>
            </a:r>
            <a:r>
              <a:rPr lang="en-US" sz="2800" b="1" i="1" baseline="0" dirty="0" err="1" smtClean="0">
                <a:solidFill>
                  <a:srgbClr val="4F81BD"/>
                </a:solidFill>
                <a:latin typeface="Cambria"/>
              </a:rPr>
              <a:t>stdio.h</a:t>
            </a:r>
            <a:r>
              <a:rPr lang="en-US" sz="2800" b="1" i="1" baseline="0" dirty="0" smtClean="0">
                <a:solidFill>
                  <a:srgbClr val="4F81BD"/>
                </a:solidFill>
                <a:latin typeface="Cambria"/>
              </a:rPr>
              <a:t>&gt;</a:t>
            </a:r>
          </a:p>
          <a:p>
            <a:pPr lvl="2"/>
            <a:r>
              <a:rPr lang="en-US" sz="2800" b="1" i="1" baseline="0" dirty="0" smtClean="0">
                <a:solidFill>
                  <a:srgbClr val="4F81BD"/>
                </a:solidFill>
                <a:latin typeface="Cambria"/>
              </a:rPr>
              <a:t>#include&lt;</a:t>
            </a:r>
            <a:r>
              <a:rPr lang="en-US" sz="2800" b="1" i="1" baseline="0" dirty="0" err="1" smtClean="0">
                <a:solidFill>
                  <a:srgbClr val="4F81BD"/>
                </a:solidFill>
                <a:latin typeface="Cambria"/>
              </a:rPr>
              <a:t>conio.h</a:t>
            </a:r>
            <a:r>
              <a:rPr lang="en-US" sz="2800" b="1" i="1" baseline="0" dirty="0" smtClean="0">
                <a:solidFill>
                  <a:srgbClr val="4F81BD"/>
                </a:solidFill>
                <a:latin typeface="Cambria"/>
              </a:rPr>
              <a:t>&gt;</a:t>
            </a:r>
          </a:p>
          <a:p>
            <a:pPr lvl="2"/>
            <a:r>
              <a:rPr lang="en-US" sz="2800" b="1" i="1" baseline="0" dirty="0" err="1" smtClean="0">
                <a:solidFill>
                  <a:srgbClr val="4F81BD"/>
                </a:solidFill>
                <a:latin typeface="Cambria"/>
              </a:rPr>
              <a:t>int</a:t>
            </a:r>
            <a:r>
              <a:rPr lang="en-US" sz="2800" b="1" i="1" baseline="0" dirty="0" smtClean="0">
                <a:solidFill>
                  <a:srgbClr val="4F81BD"/>
                </a:solidFill>
                <a:latin typeface="Cambria"/>
              </a:rPr>
              <a:t> sum(</a:t>
            </a:r>
            <a:r>
              <a:rPr lang="en-US" sz="2800" b="1" i="1" baseline="0" dirty="0" err="1" smtClean="0">
                <a:solidFill>
                  <a:srgbClr val="4F81BD"/>
                </a:solidFill>
                <a:latin typeface="Cambria"/>
              </a:rPr>
              <a:t>int</a:t>
            </a:r>
            <a:r>
              <a:rPr lang="en-US" sz="2800" b="1" i="1" baseline="0" dirty="0" smtClean="0">
                <a:solidFill>
                  <a:srgbClr val="4F81BD"/>
                </a:solidFill>
                <a:latin typeface="Cambria"/>
              </a:rPr>
              <a:t>*, </a:t>
            </a:r>
            <a:r>
              <a:rPr lang="en-US" sz="2800" b="1" i="1" baseline="0" dirty="0" err="1" smtClean="0">
                <a:solidFill>
                  <a:srgbClr val="4F81BD"/>
                </a:solidFill>
                <a:latin typeface="Cambria"/>
              </a:rPr>
              <a:t>int</a:t>
            </a:r>
            <a:r>
              <a:rPr lang="en-US" sz="2800" b="1" i="1" baseline="0" dirty="0" smtClean="0">
                <a:solidFill>
                  <a:srgbClr val="4F81BD"/>
                </a:solidFill>
                <a:latin typeface="Cambria"/>
              </a:rPr>
              <a:t>*);</a:t>
            </a:r>
          </a:p>
          <a:p>
            <a:pPr lvl="2"/>
            <a:r>
              <a:rPr lang="en-US" sz="2800" b="1" i="1" baseline="0" dirty="0" smtClean="0">
                <a:solidFill>
                  <a:srgbClr val="4F81BD"/>
                </a:solidFill>
                <a:latin typeface="Cambria"/>
              </a:rPr>
              <a:t>void main()</a:t>
            </a:r>
          </a:p>
          <a:p>
            <a:pPr lvl="2"/>
            <a:r>
              <a:rPr lang="en-US" sz="2800" b="1" i="1" baseline="0" dirty="0" smtClean="0">
                <a:solidFill>
                  <a:srgbClr val="4F81BD"/>
                </a:solidFill>
                <a:latin typeface="Cambria"/>
              </a:rPr>
              <a:t>{</a:t>
            </a:r>
          </a:p>
          <a:p>
            <a:pPr lvl="2"/>
            <a:r>
              <a:rPr lang="en-US" sz="2800" b="1" i="1" baseline="0" dirty="0" err="1" smtClean="0">
                <a:solidFill>
                  <a:srgbClr val="4F81BD"/>
                </a:solidFill>
                <a:latin typeface="Cambria"/>
              </a:rPr>
              <a:t>int</a:t>
            </a:r>
            <a:r>
              <a:rPr lang="en-US" sz="2800" b="1" i="1" baseline="0" dirty="0" smtClean="0">
                <a:solidFill>
                  <a:srgbClr val="4F81BD"/>
                </a:solidFill>
                <a:latin typeface="Cambria"/>
              </a:rPr>
              <a:t> a=5, b=6</a:t>
            </a:r>
          </a:p>
          <a:p>
            <a:pPr lvl="2"/>
            <a:r>
              <a:rPr lang="en-US" sz="2800" b="1" i="1" baseline="0" dirty="0" err="1" smtClean="0">
                <a:solidFill>
                  <a:srgbClr val="4F81BD"/>
                </a:solidFill>
                <a:latin typeface="Cambria"/>
              </a:rPr>
              <a:t>int</a:t>
            </a:r>
            <a:r>
              <a:rPr lang="en-US" sz="2800" b="1" i="1" baseline="0" dirty="0" smtClean="0">
                <a:solidFill>
                  <a:srgbClr val="4F81BD"/>
                </a:solidFill>
                <a:latin typeface="Cambria"/>
              </a:rPr>
              <a:t> s= sum(&amp;</a:t>
            </a:r>
            <a:r>
              <a:rPr lang="en-US" sz="2800" b="1" i="1" baseline="0" dirty="0" err="1" smtClean="0">
                <a:solidFill>
                  <a:srgbClr val="4F81BD"/>
                </a:solidFill>
                <a:latin typeface="Cambria"/>
              </a:rPr>
              <a:t>a,&amp;b</a:t>
            </a:r>
            <a:r>
              <a:rPr lang="en-US" sz="2800" b="1" i="1" baseline="0" dirty="0" smtClean="0">
                <a:solidFill>
                  <a:srgbClr val="4F81BD"/>
                </a:solidFill>
                <a:latin typeface="Cambria"/>
              </a:rPr>
              <a:t>);</a:t>
            </a:r>
          </a:p>
          <a:p>
            <a:pPr lvl="2"/>
            <a:r>
              <a:rPr lang="en-US" sz="2800" b="1" i="1" baseline="0" dirty="0" err="1" smtClean="0">
                <a:solidFill>
                  <a:srgbClr val="4F81BD"/>
                </a:solidFill>
                <a:latin typeface="Cambria"/>
              </a:rPr>
              <a:t>printf</a:t>
            </a:r>
            <a:r>
              <a:rPr lang="en-US" sz="2800" b="1" i="1" baseline="0" dirty="0" smtClean="0">
                <a:solidFill>
                  <a:srgbClr val="4F81BD"/>
                </a:solidFill>
                <a:latin typeface="Cambria"/>
              </a:rPr>
              <a:t>( “sum is %d” , s );</a:t>
            </a:r>
          </a:p>
          <a:p>
            <a:pPr lvl="2"/>
            <a:r>
              <a:rPr lang="en-US" sz="2800" b="1" i="1" baseline="0" dirty="0" smtClean="0">
                <a:solidFill>
                  <a:srgbClr val="4F81BD"/>
                </a:solidFill>
                <a:latin typeface="Cambria"/>
              </a:rPr>
              <a:t>}</a:t>
            </a:r>
          </a:p>
          <a:p>
            <a:pPr lvl="2"/>
            <a:r>
              <a:rPr lang="fr-FR" sz="2800" b="1" i="1" baseline="0" dirty="0" err="1" smtClean="0">
                <a:solidFill>
                  <a:srgbClr val="4F81BD"/>
                </a:solidFill>
                <a:latin typeface="Cambria"/>
              </a:rPr>
              <a:t>int</a:t>
            </a:r>
            <a:r>
              <a:rPr lang="fr-FR" sz="2800" b="1" i="1" baseline="0" dirty="0" smtClean="0">
                <a:solidFill>
                  <a:srgbClr val="4F81BD"/>
                </a:solidFill>
                <a:latin typeface="Cambria"/>
              </a:rPr>
              <a:t> </a:t>
            </a:r>
            <a:r>
              <a:rPr lang="fr-FR" sz="2800" b="1" i="1" baseline="0" dirty="0" err="1" smtClean="0">
                <a:solidFill>
                  <a:srgbClr val="4F81BD"/>
                </a:solidFill>
                <a:latin typeface="Cambria"/>
              </a:rPr>
              <a:t>sum</a:t>
            </a:r>
            <a:r>
              <a:rPr lang="fr-FR" sz="2800" b="1" i="1" baseline="0" dirty="0" smtClean="0">
                <a:solidFill>
                  <a:srgbClr val="4F81BD"/>
                </a:solidFill>
                <a:latin typeface="Cambria"/>
              </a:rPr>
              <a:t>(</a:t>
            </a:r>
            <a:r>
              <a:rPr lang="fr-FR" sz="2800" b="1" i="1" baseline="0" dirty="0" err="1" smtClean="0">
                <a:solidFill>
                  <a:srgbClr val="4F81BD"/>
                </a:solidFill>
                <a:latin typeface="Cambria"/>
              </a:rPr>
              <a:t>int</a:t>
            </a:r>
            <a:r>
              <a:rPr lang="fr-FR" sz="2800" b="1" i="1" baseline="0" dirty="0" smtClean="0">
                <a:solidFill>
                  <a:srgbClr val="4F81BD"/>
                </a:solidFill>
                <a:latin typeface="Cambria"/>
              </a:rPr>
              <a:t> *x, </a:t>
            </a:r>
            <a:r>
              <a:rPr lang="fr-FR" sz="2800" b="1" i="1" baseline="0" dirty="0" err="1" smtClean="0">
                <a:solidFill>
                  <a:srgbClr val="4F81BD"/>
                </a:solidFill>
                <a:latin typeface="Cambria"/>
              </a:rPr>
              <a:t>int</a:t>
            </a:r>
            <a:r>
              <a:rPr lang="fr-FR" sz="2800" b="1" i="1" baseline="0" dirty="0" smtClean="0">
                <a:solidFill>
                  <a:srgbClr val="4F81BD"/>
                </a:solidFill>
                <a:latin typeface="Cambria"/>
              </a:rPr>
              <a:t> *y)</a:t>
            </a:r>
          </a:p>
          <a:p>
            <a:pPr lvl="2"/>
            <a:r>
              <a:rPr lang="en-US" sz="2800" b="1" i="1" baseline="0" dirty="0" smtClean="0">
                <a:solidFill>
                  <a:srgbClr val="4F81BD"/>
                </a:solidFill>
                <a:latin typeface="Cambria"/>
              </a:rPr>
              <a:t>{</a:t>
            </a:r>
          </a:p>
          <a:p>
            <a:pPr lvl="2"/>
            <a:r>
              <a:rPr lang="en-US" sz="2800" b="1" i="1" baseline="0" dirty="0" smtClean="0">
                <a:solidFill>
                  <a:srgbClr val="4F81BD"/>
                </a:solidFill>
                <a:latin typeface="Cambria"/>
              </a:rPr>
              <a:t>return (*x+*y);</a:t>
            </a:r>
          </a:p>
          <a:p>
            <a:pPr lvl="2"/>
            <a:r>
              <a:rPr lang="en-US" sz="2800" b="1" i="1" baseline="0" dirty="0" smtClean="0">
                <a:solidFill>
                  <a:srgbClr val="4F81BD"/>
                </a:solidFill>
                <a:latin typeface="Cambria"/>
              </a:rPr>
              <a:t>}</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Storage Classes in C++</a:t>
            </a:r>
          </a:p>
        </p:txBody>
      </p:sp>
      <p:sp>
        <p:nvSpPr>
          <p:cNvPr id="3" name="Text Placeholder 2"/>
          <p:cNvSpPr>
            <a:spLocks noGrp="1"/>
          </p:cNvSpPr>
          <p:nvPr>
            <p:ph type="body" idx="1"/>
          </p:nvPr>
        </p:nvSpPr>
        <p:spPr>
          <a:xfrm>
            <a:off x="0" y="1600200"/>
            <a:ext cx="8686800" cy="4525963"/>
          </a:xfrm>
        </p:spPr>
        <p:txBody>
          <a:bodyPr/>
          <a:lstStyle/>
          <a:p>
            <a:pPr marR="0" lvl="1" algn="just" rtl="0">
              <a:buNone/>
            </a:pPr>
            <a:r>
              <a:rPr lang="en-US" b="1" baseline="0" dirty="0" smtClean="0">
                <a:solidFill>
                  <a:srgbClr val="4F81BD"/>
                </a:solidFill>
                <a:latin typeface="Cambria"/>
              </a:rPr>
              <a:t>	Storage classes are used to specify the lifetime and scope of variables. How storage is allocated for variables and How variable is treated by complier depends on these storage classes.</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R="0" rtl="0"/>
            <a:r>
              <a:rPr lang="en-US" b="1" baseline="0" smtClean="0">
                <a:solidFill>
                  <a:srgbClr val="365F91"/>
                </a:solidFill>
                <a:latin typeface="Cambria"/>
              </a:rPr>
              <a:t>These are basically divided into 5 different types :</a:t>
            </a:r>
          </a:p>
        </p:txBody>
      </p:sp>
      <p:sp>
        <p:nvSpPr>
          <p:cNvPr id="3" name="Text Placeholder 2"/>
          <p:cNvSpPr>
            <a:spLocks noGrp="1"/>
          </p:cNvSpPr>
          <p:nvPr>
            <p:ph type="body" idx="1"/>
          </p:nvPr>
        </p:nvSpPr>
        <p:spPr/>
        <p:txBody>
          <a:bodyPr/>
          <a:lstStyle/>
          <a:p>
            <a:pPr marR="0" lvl="1" rtl="0">
              <a:buFont typeface="Wingdings" pitchFamily="2" charset="2"/>
              <a:buChar char="Ø"/>
            </a:pPr>
            <a:r>
              <a:rPr lang="en-US" b="1" baseline="0" dirty="0" smtClean="0">
                <a:solidFill>
                  <a:srgbClr val="4F81BD"/>
                </a:solidFill>
                <a:latin typeface="Cambria"/>
              </a:rPr>
              <a:t>Global variables</a:t>
            </a:r>
          </a:p>
          <a:p>
            <a:pPr marR="0" lvl="1" rtl="0">
              <a:buFont typeface="Wingdings" pitchFamily="2" charset="2"/>
              <a:buChar char="Ø"/>
            </a:pPr>
            <a:r>
              <a:rPr lang="en-US" b="1" baseline="0" dirty="0" smtClean="0">
                <a:solidFill>
                  <a:srgbClr val="4F81BD"/>
                </a:solidFill>
                <a:latin typeface="Cambria"/>
              </a:rPr>
              <a:t>Local variables</a:t>
            </a:r>
          </a:p>
          <a:p>
            <a:pPr marR="0" lvl="1" rtl="0">
              <a:buFont typeface="Wingdings" pitchFamily="2" charset="2"/>
              <a:buChar char="Ø"/>
            </a:pPr>
            <a:r>
              <a:rPr lang="en-US" b="1" baseline="0" dirty="0" smtClean="0">
                <a:solidFill>
                  <a:srgbClr val="4F81BD"/>
                </a:solidFill>
                <a:latin typeface="Cambria"/>
              </a:rPr>
              <a:t>Register variables</a:t>
            </a:r>
          </a:p>
          <a:p>
            <a:pPr marR="0" lvl="1" rtl="0">
              <a:buFont typeface="Wingdings" pitchFamily="2" charset="2"/>
              <a:buChar char="Ø"/>
            </a:pPr>
            <a:r>
              <a:rPr lang="en-US" b="1" baseline="0" dirty="0" smtClean="0">
                <a:solidFill>
                  <a:srgbClr val="4F81BD"/>
                </a:solidFill>
                <a:latin typeface="Cambria"/>
              </a:rPr>
              <a:t>Static variables</a:t>
            </a:r>
          </a:p>
          <a:p>
            <a:pPr marR="0" lvl="1" rtl="0">
              <a:buFont typeface="Wingdings" pitchFamily="2" charset="2"/>
              <a:buChar char="Ø"/>
            </a:pPr>
            <a:r>
              <a:rPr lang="en-US" b="1" baseline="0" dirty="0" smtClean="0">
                <a:solidFill>
                  <a:srgbClr val="4F81BD"/>
                </a:solidFill>
                <a:latin typeface="Cambria"/>
              </a:rPr>
              <a:t>Extern variables</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pPr marR="0" rtl="0"/>
            <a:r>
              <a:rPr lang="en-US" b="1" baseline="0" dirty="0" smtClean="0">
                <a:solidFill>
                  <a:srgbClr val="365F91"/>
                </a:solidFill>
                <a:latin typeface="Cambria"/>
              </a:rPr>
              <a:t>Global variables</a:t>
            </a:r>
          </a:p>
        </p:txBody>
      </p:sp>
      <p:sp>
        <p:nvSpPr>
          <p:cNvPr id="3" name="Text Placeholder 2"/>
          <p:cNvSpPr>
            <a:spLocks noGrp="1"/>
          </p:cNvSpPr>
          <p:nvPr>
            <p:ph type="body" idx="1"/>
          </p:nvPr>
        </p:nvSpPr>
        <p:spPr>
          <a:xfrm>
            <a:off x="0" y="1143000"/>
            <a:ext cx="8686800" cy="4983163"/>
          </a:xfrm>
        </p:spPr>
        <p:txBody>
          <a:bodyPr>
            <a:normAutofit fontScale="92500" lnSpcReduction="20000"/>
          </a:bodyPr>
          <a:lstStyle/>
          <a:p>
            <a:pPr marR="0" lvl="1" algn="just" rtl="0">
              <a:buNone/>
            </a:pPr>
            <a:r>
              <a:rPr lang="en-US" b="1" baseline="0" dirty="0" smtClean="0">
                <a:solidFill>
                  <a:srgbClr val="4F81BD"/>
                </a:solidFill>
                <a:latin typeface="Cambria"/>
              </a:rPr>
              <a:t>	These are defined at the starting , before all function bodies and are available throughout the program.</a:t>
            </a:r>
          </a:p>
          <a:p>
            <a:pPr marR="0" lvl="1" rtl="0">
              <a:buNone/>
            </a:pPr>
            <a:r>
              <a:rPr lang="en-US" b="1" baseline="0" dirty="0" smtClean="0">
                <a:solidFill>
                  <a:srgbClr val="4F81BD"/>
                </a:solidFill>
                <a:latin typeface="Cambria"/>
              </a:rPr>
              <a:t>	Example : </a:t>
            </a:r>
          </a:p>
          <a:p>
            <a:pPr marR="0" lvl="1" rtl="0">
              <a:buNone/>
            </a:pPr>
            <a:r>
              <a:rPr lang="en-US" b="1" baseline="0" dirty="0" smtClean="0">
                <a:solidFill>
                  <a:srgbClr val="4F81BD"/>
                </a:solidFill>
                <a:latin typeface="Cambria"/>
              </a:rPr>
              <a:t>	using namespace std;</a:t>
            </a:r>
          </a:p>
          <a:p>
            <a:pPr marR="0" lvl="1" rtl="0">
              <a:buNone/>
            </a:pPr>
            <a:r>
              <a:rPr lang="en-US" b="1" baseline="0" dirty="0" smtClean="0">
                <a:solidFill>
                  <a:srgbClr val="4F81BD"/>
                </a:solidFill>
                <a:latin typeface="Cambria"/>
              </a:rPr>
              <a:t>	</a:t>
            </a:r>
            <a:r>
              <a:rPr lang="en-US" b="1" baseline="0" dirty="0" err="1" smtClean="0">
                <a:solidFill>
                  <a:srgbClr val="4F81BD"/>
                </a:solidFill>
                <a:latin typeface="Cambria"/>
              </a:rPr>
              <a:t>int</a:t>
            </a:r>
            <a:r>
              <a:rPr lang="en-US" b="1" baseline="0" dirty="0" smtClean="0">
                <a:solidFill>
                  <a:srgbClr val="4F81BD"/>
                </a:solidFill>
                <a:latin typeface="Cambria"/>
              </a:rPr>
              <a:t> globe;      // Global variable</a:t>
            </a:r>
          </a:p>
          <a:p>
            <a:pPr marR="0" lvl="1" rtl="0">
              <a:buNone/>
            </a:pPr>
            <a:r>
              <a:rPr lang="en-US" b="1" baseline="0" dirty="0" smtClean="0">
                <a:solidFill>
                  <a:srgbClr val="4F81BD"/>
                </a:solidFill>
                <a:latin typeface="Cambria"/>
              </a:rPr>
              <a:t>	void </a:t>
            </a:r>
            <a:r>
              <a:rPr lang="en-US" b="1" baseline="0" dirty="0" err="1" smtClean="0">
                <a:solidFill>
                  <a:srgbClr val="4F81BD"/>
                </a:solidFill>
                <a:latin typeface="Cambria"/>
              </a:rPr>
              <a:t>func</a:t>
            </a:r>
            <a:r>
              <a:rPr lang="en-US" b="1" baseline="0" dirty="0" smtClean="0">
                <a:solidFill>
                  <a:srgbClr val="4F81BD"/>
                </a:solidFill>
                <a:latin typeface="Cambria"/>
              </a:rPr>
              <a:t>();</a:t>
            </a:r>
          </a:p>
          <a:p>
            <a:pPr marR="0" lvl="1" rtl="0">
              <a:buNone/>
            </a:pPr>
            <a:r>
              <a:rPr lang="en-US" b="1" baseline="0" dirty="0" smtClean="0">
                <a:solidFill>
                  <a:srgbClr val="4F81BD"/>
                </a:solidFill>
                <a:latin typeface="Cambria"/>
              </a:rPr>
              <a:t>	</a:t>
            </a:r>
            <a:r>
              <a:rPr lang="en-US" b="1" baseline="0" dirty="0" err="1" smtClean="0">
                <a:solidFill>
                  <a:srgbClr val="4F81BD"/>
                </a:solidFill>
                <a:latin typeface="Cambria"/>
              </a:rPr>
              <a:t>int</a:t>
            </a:r>
            <a:r>
              <a:rPr lang="en-US" b="1" baseline="0" dirty="0" smtClean="0">
                <a:solidFill>
                  <a:srgbClr val="4F81BD"/>
                </a:solidFill>
                <a:latin typeface="Cambria"/>
              </a:rPr>
              <a:t> main()</a:t>
            </a:r>
          </a:p>
          <a:p>
            <a:pPr marR="0" lvl="1" rtl="0">
              <a:buNone/>
            </a:pPr>
            <a:r>
              <a:rPr lang="en-US" b="1" baseline="0" dirty="0" smtClean="0">
                <a:solidFill>
                  <a:srgbClr val="4F81BD"/>
                </a:solidFill>
                <a:latin typeface="Cambria"/>
              </a:rPr>
              <a:t>	{</a:t>
            </a:r>
          </a:p>
          <a:p>
            <a:pPr marR="0" lvl="1" rtl="0">
              <a:buNone/>
            </a:pPr>
            <a:r>
              <a:rPr lang="en-US" b="1" dirty="0">
                <a:solidFill>
                  <a:srgbClr val="4F81BD"/>
                </a:solidFill>
                <a:latin typeface="Cambria"/>
              </a:rPr>
              <a:t>	</a:t>
            </a:r>
            <a:r>
              <a:rPr lang="en-US" b="1" baseline="0" dirty="0" smtClean="0">
                <a:solidFill>
                  <a:srgbClr val="4F81BD"/>
                </a:solidFill>
                <a:latin typeface="Cambria"/>
              </a:rPr>
              <a:t> .....</a:t>
            </a:r>
          </a:p>
          <a:p>
            <a:pPr marR="0" lvl="1" rtl="0">
              <a:buNone/>
            </a:pPr>
            <a:r>
              <a:rPr lang="en-US" b="1" baseline="0" dirty="0" smtClean="0">
                <a:solidFill>
                  <a:srgbClr val="4F81BD"/>
                </a:solidFill>
                <a:latin typeface="Cambria"/>
              </a:rPr>
              <a:t>	}</a:t>
            </a:r>
          </a:p>
          <a:p>
            <a:pPr marR="0" lvl="1" rtl="0">
              <a:buNone/>
            </a:pPr>
            <a:r>
              <a:rPr lang="en-US" b="1" baseline="0" dirty="0" smtClean="0">
                <a:solidFill>
                  <a:srgbClr val="4F81BD"/>
                </a:solidFill>
                <a:latin typeface="Cambria"/>
              </a:rPr>
              <a:t>	Note : Default value of such variable is 0</a:t>
            </a:r>
            <a:endParaRPr lang="en-US" b="1" baseline="0" dirty="0" smtClean="0">
              <a:solidFill>
                <a:srgbClr val="4F81BD"/>
              </a:solidFill>
              <a:latin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pPr marR="0" rtl="0"/>
            <a:r>
              <a:rPr lang="en-US" b="1" baseline="0" dirty="0" smtClean="0">
                <a:solidFill>
                  <a:srgbClr val="365F91"/>
                </a:solidFill>
                <a:latin typeface="Cambria"/>
              </a:rPr>
              <a:t>Local variables</a:t>
            </a:r>
          </a:p>
        </p:txBody>
      </p:sp>
      <p:sp>
        <p:nvSpPr>
          <p:cNvPr id="3" name="Text Placeholder 2"/>
          <p:cNvSpPr>
            <a:spLocks noGrp="1"/>
          </p:cNvSpPr>
          <p:nvPr>
            <p:ph type="body" idx="1"/>
          </p:nvPr>
        </p:nvSpPr>
        <p:spPr>
          <a:xfrm>
            <a:off x="0" y="914400"/>
            <a:ext cx="8686800" cy="5943600"/>
          </a:xfrm>
        </p:spPr>
        <p:txBody>
          <a:bodyPr>
            <a:normAutofit/>
          </a:bodyPr>
          <a:lstStyle/>
          <a:p>
            <a:pPr marR="0" lvl="1" algn="just" rtl="0">
              <a:buFont typeface="Wingdings" pitchFamily="2" charset="2"/>
              <a:buChar char="Ø"/>
            </a:pPr>
            <a:r>
              <a:rPr lang="en-US" b="1" baseline="0" dirty="0" smtClean="0">
                <a:solidFill>
                  <a:srgbClr val="4F81BD"/>
                </a:solidFill>
                <a:latin typeface="Cambria"/>
              </a:rPr>
              <a:t>They are defined and are available within a particular scope. They are also called Automatic variable because they come into being when scope is entered and automatically go away when the scope ends.</a:t>
            </a:r>
          </a:p>
          <a:p>
            <a:pPr marR="0" lvl="1" algn="just" rtl="0">
              <a:buFont typeface="Wingdings" pitchFamily="2" charset="2"/>
              <a:buChar char="Ø"/>
            </a:pPr>
            <a:r>
              <a:rPr lang="en-US" b="1" baseline="0" dirty="0" smtClean="0">
                <a:solidFill>
                  <a:srgbClr val="4F81BD"/>
                </a:solidFill>
                <a:latin typeface="Cambria"/>
              </a:rPr>
              <a:t>The keyword auto is used, but by default all local variables are auto, so we don't have to explicitly add keyword auto before variable </a:t>
            </a:r>
            <a:r>
              <a:rPr lang="en-US" b="1" baseline="0" dirty="0" err="1" smtClean="0">
                <a:solidFill>
                  <a:srgbClr val="4F81BD"/>
                </a:solidFill>
                <a:latin typeface="Cambria"/>
              </a:rPr>
              <a:t>dedaration</a:t>
            </a:r>
            <a:r>
              <a:rPr lang="en-US" b="1" baseline="0" dirty="0" smtClean="0">
                <a:solidFill>
                  <a:srgbClr val="4F81BD"/>
                </a:solidFill>
                <a:latin typeface="Cambria"/>
              </a:rPr>
              <a:t>. Default value of such variable is garbage.</a:t>
            </a:r>
          </a:p>
          <a:p>
            <a:pPr marR="0" lvl="1" rtl="0">
              <a:buNone/>
            </a:pPr>
            <a:endParaRPr lang="en-US" b="1" baseline="0" dirty="0" smtClean="0">
              <a:solidFill>
                <a:srgbClr val="4F81BD"/>
              </a:solidFill>
              <a:latin typeface="Cambria"/>
            </a:endParaRPr>
          </a:p>
          <a:p>
            <a:pPr marR="0" lvl="1" rtl="0">
              <a:buNone/>
            </a:pPr>
            <a:r>
              <a:rPr lang="en-US" b="1" baseline="0" dirty="0" smtClean="0">
                <a:solidFill>
                  <a:srgbClr val="4F81BD"/>
                </a:solidFill>
                <a:latin typeface="Cambria"/>
              </a:rPr>
              <a:t>Note : Default value of such variable is garbage.</a:t>
            </a:r>
            <a:endParaRPr lang="en-US" b="1" baseline="0" dirty="0" smtClean="0">
              <a:solidFill>
                <a:srgbClr val="4F81BD"/>
              </a:solidFill>
              <a:latin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pPr marR="0" rtl="0"/>
            <a:r>
              <a:rPr lang="en-US" b="1" baseline="0" dirty="0" smtClean="0">
                <a:solidFill>
                  <a:srgbClr val="365F91"/>
                </a:solidFill>
                <a:latin typeface="Cambria"/>
              </a:rPr>
              <a:t>Register variables</a:t>
            </a:r>
          </a:p>
        </p:txBody>
      </p:sp>
      <p:sp>
        <p:nvSpPr>
          <p:cNvPr id="3" name="Text Placeholder 2"/>
          <p:cNvSpPr>
            <a:spLocks noGrp="1"/>
          </p:cNvSpPr>
          <p:nvPr>
            <p:ph type="body" idx="1"/>
          </p:nvPr>
        </p:nvSpPr>
        <p:spPr>
          <a:xfrm>
            <a:off x="0" y="914400"/>
            <a:ext cx="8915400" cy="5943600"/>
          </a:xfrm>
        </p:spPr>
        <p:txBody>
          <a:bodyPr>
            <a:normAutofit/>
          </a:bodyPr>
          <a:lstStyle/>
          <a:p>
            <a:pPr marR="0" lvl="1" algn="just" rtl="0">
              <a:buFont typeface="Wingdings" pitchFamily="2" charset="2"/>
              <a:buChar char="Ø"/>
            </a:pPr>
            <a:r>
              <a:rPr lang="en-US" b="1" baseline="0" dirty="0" smtClean="0">
                <a:solidFill>
                  <a:srgbClr val="4F81BD"/>
                </a:solidFill>
                <a:latin typeface="Cambria"/>
              </a:rPr>
              <a:t>This is also a type of local variable. This variable are stored in register instead of RAM</a:t>
            </a:r>
          </a:p>
          <a:p>
            <a:pPr marR="0" lvl="1" algn="just" rtl="0">
              <a:buFont typeface="Wingdings" pitchFamily="2" charset="2"/>
              <a:buChar char="Ø"/>
            </a:pPr>
            <a:r>
              <a:rPr lang="en-US" b="1" baseline="0" dirty="0" smtClean="0">
                <a:solidFill>
                  <a:srgbClr val="4F81BD"/>
                </a:solidFill>
                <a:latin typeface="Cambria"/>
              </a:rPr>
              <a:t>As variable is stored in register, the maximum size of variable= Max size of Register.</a:t>
            </a:r>
          </a:p>
          <a:p>
            <a:pPr marR="0" lvl="1" algn="just" rtl="0">
              <a:buFont typeface="Wingdings" pitchFamily="2" charset="2"/>
              <a:buChar char="Ø"/>
            </a:pPr>
            <a:r>
              <a:rPr lang="en-US" b="1" baseline="0" dirty="0" smtClean="0">
                <a:solidFill>
                  <a:srgbClr val="4F81BD"/>
                </a:solidFill>
                <a:latin typeface="Cambria"/>
              </a:rPr>
              <a:t>Unary operator [&amp;] is not associated </a:t>
            </a:r>
            <a:r>
              <a:rPr lang="en-US" b="1" baseline="0" dirty="0" err="1" smtClean="0">
                <a:solidFill>
                  <a:srgbClr val="4F81BD"/>
                </a:solidFill>
                <a:latin typeface="Cambria"/>
              </a:rPr>
              <a:t>withit</a:t>
            </a:r>
            <a:r>
              <a:rPr lang="en-US" b="1" baseline="0" dirty="0" smtClean="0">
                <a:solidFill>
                  <a:srgbClr val="4F81BD"/>
                </a:solidFill>
                <a:latin typeface="Cambria"/>
              </a:rPr>
              <a:t> because value is not stored in RAM instead it is stored in Register.</a:t>
            </a:r>
          </a:p>
          <a:p>
            <a:pPr marR="0" lvl="1" algn="just" rtl="0">
              <a:buFont typeface="Wingdings" pitchFamily="2" charset="2"/>
              <a:buChar char="Ø"/>
            </a:pPr>
            <a:r>
              <a:rPr lang="en-US" b="1" baseline="0" dirty="0" smtClean="0">
                <a:solidFill>
                  <a:srgbClr val="4F81BD"/>
                </a:solidFill>
                <a:latin typeface="Cambria"/>
              </a:rPr>
              <a:t>This is generally used for faster access.</a:t>
            </a:r>
          </a:p>
          <a:p>
            <a:pPr marR="0" lvl="1" algn="just" rtl="0">
              <a:buFont typeface="Wingdings" pitchFamily="2" charset="2"/>
              <a:buChar char="Ø"/>
            </a:pPr>
            <a:r>
              <a:rPr lang="en-US" b="1" baseline="0" dirty="0" smtClean="0">
                <a:solidFill>
                  <a:srgbClr val="4F81BD"/>
                </a:solidFill>
                <a:latin typeface="Cambria"/>
              </a:rPr>
              <a:t>A register variable can be declared only within a block, that means, you cannot have global or static register variables.</a:t>
            </a:r>
          </a:p>
          <a:p>
            <a:pPr marR="0" lvl="1" algn="just" rtl="0">
              <a:buNone/>
            </a:pPr>
            <a:r>
              <a:rPr lang="en-US" b="1" baseline="0" dirty="0" smtClean="0">
                <a:solidFill>
                  <a:srgbClr val="4F81BD"/>
                </a:solidFill>
                <a:latin typeface="Cambria"/>
              </a:rPr>
              <a:t>Note: Default value of such variable is garbage.</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pPr marR="0" rtl="0"/>
            <a:r>
              <a:rPr lang="en-US" b="1" baseline="0" dirty="0" smtClean="0">
                <a:solidFill>
                  <a:srgbClr val="365F91"/>
                </a:solidFill>
                <a:latin typeface="Cambria"/>
              </a:rPr>
              <a:t>Example :</a:t>
            </a:r>
          </a:p>
        </p:txBody>
      </p:sp>
      <p:sp>
        <p:nvSpPr>
          <p:cNvPr id="3" name="Text Placeholder 2"/>
          <p:cNvSpPr>
            <a:spLocks noGrp="1"/>
          </p:cNvSpPr>
          <p:nvPr>
            <p:ph type="body" idx="1"/>
          </p:nvPr>
        </p:nvSpPr>
        <p:spPr>
          <a:xfrm>
            <a:off x="0" y="838200"/>
            <a:ext cx="9144000" cy="6019800"/>
          </a:xfrm>
        </p:spPr>
        <p:txBody>
          <a:bodyPr>
            <a:normAutofit fontScale="40000" lnSpcReduction="20000"/>
          </a:bodyPr>
          <a:lstStyle/>
          <a:p>
            <a:pPr lvl="1">
              <a:buNone/>
            </a:pPr>
            <a:r>
              <a:rPr lang="en-US" sz="5000" b="1" baseline="0" dirty="0" smtClean="0">
                <a:solidFill>
                  <a:srgbClr val="4F81BD"/>
                </a:solidFill>
                <a:latin typeface="Cambria"/>
              </a:rPr>
              <a:t>#include&lt;</a:t>
            </a:r>
            <a:r>
              <a:rPr lang="en-US" sz="5000" b="1" baseline="0" dirty="0" err="1" smtClean="0">
                <a:solidFill>
                  <a:srgbClr val="4F81BD"/>
                </a:solidFill>
                <a:latin typeface="Cambria"/>
              </a:rPr>
              <a:t>iostream.h</a:t>
            </a:r>
            <a:r>
              <a:rPr lang="en-US" sz="5000" b="1" baseline="0" dirty="0" smtClean="0">
                <a:solidFill>
                  <a:srgbClr val="4F81BD"/>
                </a:solidFill>
                <a:latin typeface="Cambria"/>
              </a:rPr>
              <a:t>&gt;</a:t>
            </a:r>
          </a:p>
          <a:p>
            <a:pPr marR="0" lvl="1" rtl="0">
              <a:buNone/>
            </a:pPr>
            <a:r>
              <a:rPr lang="en-US" sz="5000" b="1" baseline="0" dirty="0" smtClean="0">
                <a:solidFill>
                  <a:srgbClr val="4F81BD"/>
                </a:solidFill>
                <a:latin typeface="Cambria"/>
              </a:rPr>
              <a:t>#include&lt;</a:t>
            </a:r>
            <a:r>
              <a:rPr lang="en-US" sz="5000" b="1" baseline="0" dirty="0" err="1" smtClean="0">
                <a:solidFill>
                  <a:srgbClr val="4F81BD"/>
                </a:solidFill>
                <a:latin typeface="Cambria"/>
              </a:rPr>
              <a:t>conio.h</a:t>
            </a:r>
            <a:r>
              <a:rPr lang="en-US" sz="5000" b="1" baseline="0" dirty="0" smtClean="0">
                <a:solidFill>
                  <a:srgbClr val="4F81BD"/>
                </a:solidFill>
                <a:latin typeface="Cambria"/>
              </a:rPr>
              <a:t>&gt;</a:t>
            </a:r>
          </a:p>
          <a:p>
            <a:pPr marR="0" lvl="1" rtl="0">
              <a:buNone/>
            </a:pPr>
            <a:r>
              <a:rPr lang="en-US" sz="5000" b="1" baseline="0" dirty="0" smtClean="0">
                <a:solidFill>
                  <a:srgbClr val="4F81BD"/>
                </a:solidFill>
                <a:latin typeface="Cambria"/>
              </a:rPr>
              <a:t>void main()</a:t>
            </a:r>
          </a:p>
          <a:p>
            <a:pPr marR="0" lvl="1" rtl="0">
              <a:buNone/>
            </a:pPr>
            <a:r>
              <a:rPr lang="en-US" sz="5000" b="1" baseline="0" dirty="0" smtClean="0">
                <a:solidFill>
                  <a:srgbClr val="4F81BD"/>
                </a:solidFill>
                <a:latin typeface="Cambria"/>
              </a:rPr>
              <a:t>{</a:t>
            </a:r>
          </a:p>
          <a:p>
            <a:pPr marR="0" lvl="1" rtl="0">
              <a:buNone/>
            </a:pPr>
            <a:r>
              <a:rPr lang="en-US" sz="5000" b="1" baseline="0" dirty="0" smtClean="0">
                <a:solidFill>
                  <a:srgbClr val="4F81BD"/>
                </a:solidFill>
                <a:latin typeface="Cambria"/>
              </a:rPr>
              <a:t>float </a:t>
            </a:r>
            <a:r>
              <a:rPr lang="en-US" sz="5000" b="1" baseline="0" dirty="0" err="1" smtClean="0">
                <a:solidFill>
                  <a:srgbClr val="4F81BD"/>
                </a:solidFill>
                <a:latin typeface="Cambria"/>
              </a:rPr>
              <a:t>a,b</a:t>
            </a:r>
            <a:r>
              <a:rPr lang="en-US" sz="5000" b="1" baseline="0" dirty="0" smtClean="0">
                <a:solidFill>
                  <a:srgbClr val="4F81BD"/>
                </a:solidFill>
                <a:latin typeface="Cambria"/>
              </a:rPr>
              <a:t>;</a:t>
            </a:r>
          </a:p>
          <a:p>
            <a:pPr marR="0" lvl="1" rtl="0">
              <a:buNone/>
            </a:pPr>
            <a:r>
              <a:rPr lang="en-US" sz="5000" b="1" baseline="0" dirty="0" smtClean="0">
                <a:solidFill>
                  <a:srgbClr val="4F81BD"/>
                </a:solidFill>
                <a:latin typeface="Cambria"/>
              </a:rPr>
              <a:t>register c;   //register float c; (Default is </a:t>
            </a:r>
            <a:r>
              <a:rPr lang="en-US" sz="5000" b="1" baseline="0" dirty="0" err="1" smtClean="0">
                <a:solidFill>
                  <a:srgbClr val="4F81BD"/>
                </a:solidFill>
                <a:latin typeface="Cambria"/>
              </a:rPr>
              <a:t>int</a:t>
            </a:r>
            <a:r>
              <a:rPr lang="en-US" sz="5000" b="1" baseline="0" dirty="0" smtClean="0">
                <a:solidFill>
                  <a:srgbClr val="4F81BD"/>
                </a:solidFill>
                <a:latin typeface="Cambria"/>
              </a:rPr>
              <a:t>)</a:t>
            </a:r>
          </a:p>
          <a:p>
            <a:pPr marR="0" lvl="1" rtl="0">
              <a:buNone/>
            </a:pPr>
            <a:r>
              <a:rPr lang="en-US" sz="5000" b="1" baseline="0" dirty="0" err="1" smtClean="0">
                <a:solidFill>
                  <a:srgbClr val="4F81BD"/>
                </a:solidFill>
                <a:latin typeface="Cambria"/>
              </a:rPr>
              <a:t>clrscr</a:t>
            </a:r>
            <a:r>
              <a:rPr lang="en-US" sz="5000" b="1" baseline="0" dirty="0" smtClean="0">
                <a:solidFill>
                  <a:srgbClr val="4F81BD"/>
                </a:solidFill>
                <a:latin typeface="Cambria"/>
              </a:rPr>
              <a:t>();</a:t>
            </a:r>
          </a:p>
          <a:p>
            <a:pPr marR="0" lvl="1" rtl="0">
              <a:buNone/>
            </a:pPr>
            <a:r>
              <a:rPr lang="en-US" sz="5000" b="1" baseline="0" dirty="0" smtClean="0">
                <a:solidFill>
                  <a:srgbClr val="4F81BD"/>
                </a:solidFill>
                <a:latin typeface="Cambria"/>
              </a:rPr>
              <a:t>c=</a:t>
            </a:r>
            <a:r>
              <a:rPr lang="en-US" sz="5000" b="1" baseline="0" dirty="0" err="1" smtClean="0">
                <a:solidFill>
                  <a:srgbClr val="4F81BD"/>
                </a:solidFill>
                <a:latin typeface="Cambria"/>
              </a:rPr>
              <a:t>a+b</a:t>
            </a:r>
            <a:r>
              <a:rPr lang="en-US" sz="5000" b="1" baseline="0" dirty="0" smtClean="0">
                <a:solidFill>
                  <a:srgbClr val="4F81BD"/>
                </a:solidFill>
                <a:latin typeface="Cambria"/>
              </a:rPr>
              <a:t>;</a:t>
            </a:r>
          </a:p>
          <a:p>
            <a:pPr marR="0" lvl="1" rtl="0">
              <a:buNone/>
            </a:pPr>
            <a:r>
              <a:rPr lang="en-US" sz="5000" b="1" baseline="0" dirty="0" err="1" smtClean="0">
                <a:solidFill>
                  <a:srgbClr val="4F81BD"/>
                </a:solidFill>
                <a:latin typeface="Cambria"/>
              </a:rPr>
              <a:t>cout</a:t>
            </a:r>
            <a:r>
              <a:rPr lang="en-US" sz="5000" b="1" baseline="0" dirty="0" smtClean="0">
                <a:solidFill>
                  <a:srgbClr val="4F81BD"/>
                </a:solidFill>
                <a:latin typeface="Cambria"/>
              </a:rPr>
              <a:t>&lt;&lt;"Enter two number \n";</a:t>
            </a:r>
          </a:p>
          <a:p>
            <a:pPr marR="0" lvl="1" rtl="0">
              <a:buNone/>
            </a:pPr>
            <a:r>
              <a:rPr lang="en-US" sz="5000" b="1" baseline="0" dirty="0" err="1" smtClean="0">
                <a:solidFill>
                  <a:srgbClr val="4F81BD"/>
                </a:solidFill>
                <a:latin typeface="Cambria"/>
              </a:rPr>
              <a:t>cin</a:t>
            </a:r>
            <a:r>
              <a:rPr lang="en-US" sz="5000" b="1" baseline="0" dirty="0" smtClean="0">
                <a:solidFill>
                  <a:srgbClr val="4F81BD"/>
                </a:solidFill>
                <a:latin typeface="Cambria"/>
              </a:rPr>
              <a:t>&gt;&gt;a&gt;&gt;b;</a:t>
            </a:r>
          </a:p>
          <a:p>
            <a:pPr marR="0" lvl="1" rtl="0">
              <a:buNone/>
            </a:pPr>
            <a:r>
              <a:rPr lang="en-US" sz="5000" b="1" baseline="0" dirty="0" smtClean="0">
                <a:solidFill>
                  <a:srgbClr val="4F81BD"/>
                </a:solidFill>
                <a:latin typeface="Cambria"/>
              </a:rPr>
              <a:t>c=</a:t>
            </a:r>
            <a:r>
              <a:rPr lang="en-US" sz="5000" b="1" baseline="0" dirty="0" err="1" smtClean="0">
                <a:solidFill>
                  <a:srgbClr val="4F81BD"/>
                </a:solidFill>
                <a:latin typeface="Cambria"/>
              </a:rPr>
              <a:t>a+b</a:t>
            </a:r>
            <a:r>
              <a:rPr lang="en-US" sz="5000" b="1" baseline="0" dirty="0" smtClean="0">
                <a:solidFill>
                  <a:srgbClr val="4F81BD"/>
                </a:solidFill>
                <a:latin typeface="Cambria"/>
              </a:rPr>
              <a:t>;</a:t>
            </a:r>
          </a:p>
          <a:p>
            <a:pPr marR="0" lvl="1" rtl="0">
              <a:buNone/>
            </a:pPr>
            <a:r>
              <a:rPr lang="en-US" sz="5000" b="1" baseline="0" dirty="0" err="1" smtClean="0">
                <a:solidFill>
                  <a:srgbClr val="4F81BD"/>
                </a:solidFill>
                <a:latin typeface="Cambria"/>
              </a:rPr>
              <a:t>cout</a:t>
            </a:r>
            <a:r>
              <a:rPr lang="en-US" sz="5000" b="1" baseline="0" dirty="0" smtClean="0">
                <a:solidFill>
                  <a:srgbClr val="4F81BD"/>
                </a:solidFill>
                <a:latin typeface="Cambria"/>
              </a:rPr>
              <a:t>&lt;&lt;"Sum of two number is "&lt;&lt;c&lt;&lt;</a:t>
            </a:r>
            <a:r>
              <a:rPr lang="en-US" sz="5000" b="1" baseline="0" dirty="0" err="1" smtClean="0">
                <a:solidFill>
                  <a:srgbClr val="4F81BD"/>
                </a:solidFill>
                <a:latin typeface="Cambria"/>
              </a:rPr>
              <a:t>endl</a:t>
            </a:r>
            <a:r>
              <a:rPr lang="en-US" sz="5000" b="1" baseline="0" dirty="0" smtClean="0">
                <a:solidFill>
                  <a:srgbClr val="4F81BD"/>
                </a:solidFill>
                <a:latin typeface="Cambria"/>
              </a:rPr>
              <a:t>;</a:t>
            </a:r>
          </a:p>
          <a:p>
            <a:pPr marR="0" lvl="1" rtl="0">
              <a:buNone/>
            </a:pPr>
            <a:r>
              <a:rPr lang="en-US" sz="5000" b="1" baseline="0" dirty="0" err="1" smtClean="0">
                <a:solidFill>
                  <a:srgbClr val="4F81BD"/>
                </a:solidFill>
                <a:latin typeface="Cambria"/>
              </a:rPr>
              <a:t>cout</a:t>
            </a:r>
            <a:r>
              <a:rPr lang="en-US" sz="5000" b="1" baseline="0" dirty="0" smtClean="0">
                <a:solidFill>
                  <a:srgbClr val="4F81BD"/>
                </a:solidFill>
                <a:latin typeface="Cambria"/>
              </a:rPr>
              <a:t>&lt;&lt;"size of c is"&lt;&lt;</a:t>
            </a:r>
            <a:r>
              <a:rPr lang="en-US" sz="5000" b="1" baseline="0" dirty="0" err="1" smtClean="0">
                <a:solidFill>
                  <a:srgbClr val="4F81BD"/>
                </a:solidFill>
                <a:latin typeface="Cambria"/>
              </a:rPr>
              <a:t>sizeof</a:t>
            </a:r>
            <a:r>
              <a:rPr lang="en-US" sz="5000" b="1" baseline="0" dirty="0" smtClean="0">
                <a:solidFill>
                  <a:srgbClr val="4F81BD"/>
                </a:solidFill>
                <a:latin typeface="Cambria"/>
              </a:rPr>
              <a:t>(c);</a:t>
            </a:r>
          </a:p>
          <a:p>
            <a:pPr marR="0" lvl="1" rtl="0">
              <a:buNone/>
            </a:pPr>
            <a:r>
              <a:rPr lang="en-US" sz="5000" b="1" baseline="0" dirty="0" smtClean="0">
                <a:solidFill>
                  <a:srgbClr val="4F81BD"/>
                </a:solidFill>
                <a:latin typeface="Cambria"/>
              </a:rPr>
              <a:t>/*Return size of reference of register variable which is made in RAM */</a:t>
            </a:r>
          </a:p>
          <a:p>
            <a:pPr marR="0" lvl="1" rtl="0">
              <a:buNone/>
            </a:pPr>
            <a:r>
              <a:rPr lang="en-US" sz="5000" b="1" baseline="0" dirty="0" err="1" smtClean="0">
                <a:solidFill>
                  <a:srgbClr val="4F81BD"/>
                </a:solidFill>
                <a:latin typeface="Cambria"/>
              </a:rPr>
              <a:t>getch</a:t>
            </a:r>
            <a:r>
              <a:rPr lang="en-US" sz="5000" b="1" baseline="0" dirty="0" smtClean="0">
                <a:solidFill>
                  <a:srgbClr val="4F81BD"/>
                </a:solidFill>
                <a:latin typeface="Cambria"/>
              </a:rPr>
              <a:t>();</a:t>
            </a:r>
          </a:p>
          <a:p>
            <a:pPr marR="0" lvl="1" rtl="0">
              <a:buNone/>
            </a:pPr>
            <a:r>
              <a:rPr lang="en-US" sz="5000" b="1" baseline="0" dirty="0" smtClean="0">
                <a:solidFill>
                  <a:srgbClr val="4F81BD"/>
                </a:solidFill>
                <a:latin typeface="Cambria"/>
              </a:rPr>
              <a:t>}</a:t>
            </a:r>
          </a:p>
          <a:p>
            <a:pPr marR="0" lvl="1" rtl="0">
              <a:buNone/>
            </a:pPr>
            <a:endParaRPr lang="en-US" b="1" baseline="0" dirty="0" smtClean="0">
              <a:solidFill>
                <a:srgbClr val="4F81BD"/>
              </a:solidFill>
              <a:latin typeface="Cambria"/>
            </a:endParaRPr>
          </a:p>
          <a:p>
            <a:pPr marR="0" lvl="1" rtl="0">
              <a:buNone/>
            </a:pPr>
            <a:endParaRPr lang="en-US" b="1" baseline="0" dirty="0" smtClean="0">
              <a:solidFill>
                <a:srgbClr val="4F81BD"/>
              </a:solidFill>
              <a:latin typeface="Cambria"/>
            </a:endParaRPr>
          </a:p>
          <a:p>
            <a:pPr marR="0" lvl="1" rtl="0">
              <a:buNone/>
            </a:pPr>
            <a:r>
              <a:rPr lang="en-US" sz="5000" b="1" baseline="0" dirty="0" smtClean="0">
                <a:solidFill>
                  <a:srgbClr val="4F81BD"/>
                </a:solidFill>
                <a:latin typeface="Cambria"/>
              </a:rPr>
              <a:t>Note: It is not applicable for arrays, structures or pointers.</a:t>
            </a:r>
          </a:p>
          <a:p>
            <a:pPr marR="0" lvl="0" rtl="0">
              <a:buNone/>
            </a:pPr>
            <a:endParaRPr lang="en-US" baseline="0" dirty="0" smtClean="0">
              <a:solidFill>
                <a:srgbClr val="4F81BD"/>
              </a:solidFill>
              <a:latin typeface="Times New Roman"/>
            </a:endParaRPr>
          </a:p>
          <a:p>
            <a:pPr marR="0" lvl="0" rtl="0">
              <a:buNone/>
            </a:pPr>
            <a:endParaRPr lang="en-US" baseline="0" dirty="0" smtClean="0">
              <a:solidFill>
                <a:srgbClr val="4F81BD"/>
              </a:solidFill>
              <a:latin typeface="Times New Roman"/>
            </a:endParaRPr>
          </a:p>
          <a:p>
            <a:pPr marR="0" lvl="0" rtl="0">
              <a:buNone/>
            </a:pPr>
            <a:endParaRPr lang="en-US" baseline="0" dirty="0" smtClean="0">
              <a:solidFill>
                <a:srgbClr val="4F81BD"/>
              </a:solidFill>
              <a:latin typeface="Times New Roman"/>
            </a:endParaRPr>
          </a:p>
          <a:p>
            <a:pPr marR="0" lvl="0" rtl="0">
              <a:buNone/>
            </a:pPr>
            <a:endParaRPr lang="en-US" baseline="0" dirty="0" smtClean="0">
              <a:solidFill>
                <a:srgbClr val="4F81BD"/>
              </a:solidFill>
              <a:latin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pPr marR="0" rtl="0"/>
            <a:r>
              <a:rPr lang="en-US" b="1" baseline="0" dirty="0" smtClean="0">
                <a:solidFill>
                  <a:srgbClr val="365F91"/>
                </a:solidFill>
                <a:latin typeface="Cambria"/>
              </a:rPr>
              <a:t>Static variables</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228600" y="533400"/>
            <a:ext cx="8305800" cy="6324600"/>
          </a:xfrm>
        </p:spPr>
        <p:txBody>
          <a:bodyPr>
            <a:normAutofit fontScale="62500" lnSpcReduction="20000"/>
          </a:bodyPr>
          <a:lstStyle/>
          <a:p>
            <a:pPr lvl="1" algn="just">
              <a:buNone/>
            </a:pPr>
            <a:r>
              <a:rPr lang="en-US" b="1" baseline="0" dirty="0" smtClean="0">
                <a:solidFill>
                  <a:srgbClr val="4F81BD"/>
                </a:solidFill>
                <a:latin typeface="Cambria"/>
              </a:rPr>
              <a:t>	Static variables are the variables which are initialized &amp; allocated storage only once at the beginning of program execution, no matter how many times they are used and called in the program. A static variable retains its value until the end of program.</a:t>
            </a:r>
          </a:p>
          <a:p>
            <a:pPr marR="0" lvl="1" rtl="0">
              <a:buNone/>
            </a:pPr>
            <a:r>
              <a:rPr lang="en-US" b="1" baseline="0" dirty="0" smtClean="0">
                <a:solidFill>
                  <a:srgbClr val="4F81BD"/>
                </a:solidFill>
                <a:latin typeface="Times New Roman"/>
              </a:rPr>
              <a:t>		void fun()</a:t>
            </a:r>
          </a:p>
          <a:p>
            <a:pPr marR="0" lvl="1" rtl="0">
              <a:buNone/>
            </a:pPr>
            <a:r>
              <a:rPr lang="en-US" b="1" baseline="0" dirty="0" smtClean="0">
                <a:solidFill>
                  <a:srgbClr val="4F81BD"/>
                </a:solidFill>
                <a:latin typeface="Times New Roman"/>
              </a:rPr>
              <a:t>		{</a:t>
            </a:r>
          </a:p>
          <a:p>
            <a:pPr marR="0" lvl="1" rtl="0">
              <a:buNone/>
            </a:pPr>
            <a:r>
              <a:rPr lang="en-US" b="1" baseline="0" dirty="0" smtClean="0">
                <a:solidFill>
                  <a:srgbClr val="4F81BD"/>
                </a:solidFill>
                <a:latin typeface="Times New Roman"/>
              </a:rPr>
              <a:t> 		static </a:t>
            </a:r>
            <a:r>
              <a:rPr lang="en-US" b="1" baseline="0" dirty="0" err="1" smtClean="0">
                <a:solidFill>
                  <a:srgbClr val="4F81BD"/>
                </a:solidFill>
                <a:latin typeface="Times New Roman"/>
              </a:rPr>
              <a:t>int</a:t>
            </a:r>
            <a:r>
              <a:rPr lang="en-US" b="1" baseline="0" dirty="0" smtClean="0">
                <a:solidFill>
                  <a:srgbClr val="4F81BD"/>
                </a:solidFill>
                <a:latin typeface="Times New Roman"/>
              </a:rPr>
              <a:t> </a:t>
            </a:r>
            <a:r>
              <a:rPr lang="en-US" b="1" baseline="0" dirty="0" err="1" smtClean="0">
                <a:solidFill>
                  <a:srgbClr val="4F81BD"/>
                </a:solidFill>
                <a:latin typeface="Times New Roman"/>
              </a:rPr>
              <a:t>i</a:t>
            </a:r>
            <a:r>
              <a:rPr lang="en-US" b="1" baseline="0" dirty="0" smtClean="0">
                <a:solidFill>
                  <a:srgbClr val="4F81BD"/>
                </a:solidFill>
                <a:latin typeface="Times New Roman"/>
              </a:rPr>
              <a:t> = 10;</a:t>
            </a:r>
          </a:p>
          <a:p>
            <a:pPr marR="0" lvl="1" rtl="0">
              <a:buNone/>
            </a:pPr>
            <a:r>
              <a:rPr lang="en-US" b="1" baseline="0" dirty="0" smtClean="0">
                <a:solidFill>
                  <a:srgbClr val="4F81BD"/>
                </a:solidFill>
                <a:latin typeface="Times New Roman"/>
              </a:rPr>
              <a:t> 		</a:t>
            </a:r>
            <a:r>
              <a:rPr lang="en-US" b="1" baseline="0" dirty="0" err="1" smtClean="0">
                <a:solidFill>
                  <a:srgbClr val="4F81BD"/>
                </a:solidFill>
                <a:latin typeface="Times New Roman"/>
              </a:rPr>
              <a:t>i</a:t>
            </a:r>
            <a:r>
              <a:rPr lang="en-US" b="1" baseline="0" dirty="0" smtClean="0">
                <a:solidFill>
                  <a:srgbClr val="4F81BD"/>
                </a:solidFill>
                <a:latin typeface="Times New Roman"/>
              </a:rPr>
              <a:t>++;</a:t>
            </a:r>
          </a:p>
          <a:p>
            <a:pPr marR="0" lvl="1" rtl="0">
              <a:buNone/>
            </a:pPr>
            <a:r>
              <a:rPr lang="en-US" b="1" baseline="0" dirty="0" smtClean="0">
                <a:solidFill>
                  <a:srgbClr val="4F81BD"/>
                </a:solidFill>
                <a:latin typeface="Times New Roman"/>
              </a:rPr>
              <a:t> 		</a:t>
            </a:r>
            <a:r>
              <a:rPr lang="en-US" b="1" baseline="0" dirty="0" err="1" smtClean="0">
                <a:solidFill>
                  <a:srgbClr val="4F81BD"/>
                </a:solidFill>
                <a:latin typeface="Times New Roman"/>
              </a:rPr>
              <a:t>cout</a:t>
            </a:r>
            <a:r>
              <a:rPr lang="en-US" b="1" baseline="0" dirty="0" smtClean="0">
                <a:solidFill>
                  <a:srgbClr val="4F81BD"/>
                </a:solidFill>
                <a:latin typeface="Times New Roman"/>
              </a:rPr>
              <a:t> &lt;&lt; </a:t>
            </a:r>
            <a:r>
              <a:rPr lang="en-US" b="1" baseline="0" dirty="0" err="1" smtClean="0">
                <a:solidFill>
                  <a:srgbClr val="4F81BD"/>
                </a:solidFill>
                <a:latin typeface="Times New Roman"/>
              </a:rPr>
              <a:t>i</a:t>
            </a:r>
            <a:r>
              <a:rPr lang="en-US" b="1" baseline="0" dirty="0" smtClean="0">
                <a:solidFill>
                  <a:srgbClr val="4F81BD"/>
                </a:solidFill>
                <a:latin typeface="Times New Roman"/>
              </a:rPr>
              <a:t>;</a:t>
            </a:r>
          </a:p>
          <a:p>
            <a:pPr marR="0" lvl="1" rtl="0">
              <a:buNone/>
            </a:pPr>
            <a:r>
              <a:rPr lang="en-US" b="1" baseline="0" dirty="0" smtClean="0">
                <a:solidFill>
                  <a:srgbClr val="4F81BD"/>
                </a:solidFill>
                <a:latin typeface="Times New Roman"/>
              </a:rPr>
              <a:t>		}</a:t>
            </a:r>
          </a:p>
          <a:p>
            <a:pPr marR="0" lvl="1" rtl="0">
              <a:buNone/>
            </a:pPr>
            <a:r>
              <a:rPr lang="en-US" b="1" baseline="0" dirty="0" smtClean="0">
                <a:solidFill>
                  <a:srgbClr val="4F81BD"/>
                </a:solidFill>
                <a:latin typeface="Times New Roman"/>
              </a:rPr>
              <a:t>		void main()</a:t>
            </a:r>
          </a:p>
          <a:p>
            <a:pPr marR="0" lvl="1" rtl="0">
              <a:buNone/>
            </a:pPr>
            <a:r>
              <a:rPr lang="en-US" b="1" baseline="0" dirty="0" smtClean="0">
                <a:solidFill>
                  <a:srgbClr val="4F81BD"/>
                </a:solidFill>
                <a:latin typeface="Times New Roman"/>
              </a:rPr>
              <a:t>		{</a:t>
            </a:r>
          </a:p>
          <a:p>
            <a:pPr marR="0" lvl="1" rtl="0">
              <a:buNone/>
            </a:pPr>
            <a:r>
              <a:rPr lang="en-US" b="1" baseline="0" dirty="0" smtClean="0">
                <a:solidFill>
                  <a:srgbClr val="4F81BD"/>
                </a:solidFill>
                <a:latin typeface="Times New Roman"/>
              </a:rPr>
              <a:t> 		fun();      </a:t>
            </a:r>
            <a:r>
              <a:rPr lang="en-US" b="1" baseline="0" dirty="0" smtClean="0">
                <a:solidFill>
                  <a:srgbClr val="C00000"/>
                </a:solidFill>
                <a:latin typeface="Times New Roman"/>
              </a:rPr>
              <a:t>// Output = 11</a:t>
            </a:r>
          </a:p>
          <a:p>
            <a:pPr marR="0" lvl="1" rtl="0">
              <a:buNone/>
            </a:pPr>
            <a:r>
              <a:rPr lang="en-US" b="1" baseline="0" dirty="0" smtClean="0">
                <a:solidFill>
                  <a:srgbClr val="4F81BD"/>
                </a:solidFill>
                <a:latin typeface="Times New Roman"/>
              </a:rPr>
              <a:t> 		fun();      </a:t>
            </a:r>
            <a:r>
              <a:rPr lang="en-US" b="1" baseline="0" dirty="0" smtClean="0">
                <a:solidFill>
                  <a:srgbClr val="C00000"/>
                </a:solidFill>
                <a:latin typeface="Times New Roman"/>
              </a:rPr>
              <a:t>// Output = 12</a:t>
            </a:r>
          </a:p>
          <a:p>
            <a:pPr marR="0" lvl="1" rtl="0">
              <a:buNone/>
            </a:pPr>
            <a:r>
              <a:rPr lang="en-US" b="1" baseline="0" dirty="0" smtClean="0">
                <a:solidFill>
                  <a:srgbClr val="4F81BD"/>
                </a:solidFill>
                <a:latin typeface="Times New Roman"/>
              </a:rPr>
              <a:t> 		fun();      </a:t>
            </a:r>
            <a:r>
              <a:rPr lang="en-US" b="1" baseline="0" dirty="0" smtClean="0">
                <a:solidFill>
                  <a:srgbClr val="C00000"/>
                </a:solidFill>
                <a:latin typeface="Times New Roman"/>
              </a:rPr>
              <a:t>// Output = 13</a:t>
            </a:r>
          </a:p>
          <a:p>
            <a:pPr marR="0" lvl="1" rtl="0">
              <a:buNone/>
            </a:pPr>
            <a:r>
              <a:rPr lang="en-US" b="1" baseline="0" dirty="0" smtClean="0">
                <a:solidFill>
                  <a:srgbClr val="4F81BD"/>
                </a:solidFill>
                <a:latin typeface="Times New Roman"/>
              </a:rPr>
              <a:t>		}</a:t>
            </a:r>
          </a:p>
          <a:p>
            <a:pPr marR="0" lvl="1" rtl="0">
              <a:buNone/>
            </a:pPr>
            <a:endParaRPr lang="en-US" b="1" baseline="0" dirty="0" smtClean="0">
              <a:solidFill>
                <a:srgbClr val="4F81BD"/>
              </a:solidFill>
              <a:latin typeface="Times New Roman"/>
            </a:endParaRPr>
          </a:p>
          <a:p>
            <a:pPr marR="0" lvl="1" rtl="0">
              <a:buFont typeface="Wingdings" pitchFamily="2" charset="2"/>
              <a:buChar char="Ø"/>
            </a:pPr>
            <a:r>
              <a:rPr lang="en-US" b="1" baseline="0" dirty="0" smtClean="0">
                <a:solidFill>
                  <a:srgbClr val="4F81BD"/>
                </a:solidFill>
                <a:latin typeface="Cambria"/>
              </a:rPr>
              <a:t>As,</a:t>
            </a:r>
            <a:r>
              <a:rPr lang="en-US" b="1" baseline="0" dirty="0" smtClean="0">
                <a:solidFill>
                  <a:srgbClr val="000000"/>
                </a:solidFill>
                <a:latin typeface="Arial"/>
              </a:rPr>
              <a:t> </a:t>
            </a:r>
            <a:r>
              <a:rPr lang="en-US" b="1" baseline="0" dirty="0" err="1" smtClean="0">
                <a:solidFill>
                  <a:srgbClr val="DD1144"/>
                </a:solidFill>
                <a:latin typeface="Consolas"/>
              </a:rPr>
              <a:t>i</a:t>
            </a:r>
            <a:r>
              <a:rPr lang="en-US" b="1" baseline="0" dirty="0" smtClean="0">
                <a:solidFill>
                  <a:srgbClr val="000000"/>
                </a:solidFill>
                <a:latin typeface="Arial"/>
              </a:rPr>
              <a:t> </a:t>
            </a:r>
            <a:r>
              <a:rPr lang="en-US" b="1" baseline="0" dirty="0" smtClean="0">
                <a:solidFill>
                  <a:srgbClr val="4F81BD"/>
                </a:solidFill>
                <a:latin typeface="Cambria"/>
              </a:rPr>
              <a:t>is static, hence it will retain its value through function calls, and is initialized only once at the beginning.</a:t>
            </a:r>
          </a:p>
          <a:p>
            <a:pPr marR="0" lvl="1" rtl="0">
              <a:buFont typeface="Wingdings" pitchFamily="2" charset="2"/>
              <a:buChar char="Ø"/>
            </a:pPr>
            <a:r>
              <a:rPr lang="en-US" b="1" baseline="0" dirty="0" smtClean="0">
                <a:solidFill>
                  <a:srgbClr val="4F81BD"/>
                </a:solidFill>
                <a:latin typeface="Cambria"/>
              </a:rPr>
              <a:t>Static </a:t>
            </a:r>
            <a:r>
              <a:rPr lang="en-US" b="1" baseline="0" dirty="0" err="1" smtClean="0">
                <a:solidFill>
                  <a:srgbClr val="4F81BD"/>
                </a:solidFill>
                <a:latin typeface="Cambria"/>
              </a:rPr>
              <a:t>specifiers</a:t>
            </a:r>
            <a:r>
              <a:rPr lang="en-US" b="1" baseline="0" dirty="0" smtClean="0">
                <a:solidFill>
                  <a:srgbClr val="4F81BD"/>
                </a:solidFill>
                <a:latin typeface="Cambria"/>
              </a:rPr>
              <a:t> are also used in classes, but that we will learn later.</a:t>
            </a:r>
          </a:p>
          <a:p>
            <a:pPr marR="0" lvl="1" rtl="0">
              <a:buNone/>
            </a:pPr>
            <a:endParaRPr lang="en-US" b="1" baseline="0" dirty="0" smtClean="0">
              <a:solidFill>
                <a:srgbClr val="4F81BD"/>
              </a:solidFill>
              <a:latin typeface="Cambria"/>
            </a:endParaRPr>
          </a:p>
          <a:p>
            <a:pPr marR="0" lvl="1" rtl="0">
              <a:buNone/>
            </a:pPr>
            <a:r>
              <a:rPr lang="en-US" b="1" baseline="0" dirty="0" smtClean="0">
                <a:solidFill>
                  <a:srgbClr val="4F81BD"/>
                </a:solidFill>
                <a:latin typeface="Cambria"/>
              </a:rPr>
              <a:t>Note: Don’t confused  with static and const keyword</a:t>
            </a:r>
            <a:endParaRPr lang="en-US" b="1" baseline="0" dirty="0" smtClean="0">
              <a:solidFill>
                <a:srgbClr val="4F81BD"/>
              </a:solidFill>
              <a:latin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pPr marR="0" rtl="0"/>
            <a:r>
              <a:rPr lang="en-US" b="1" baseline="0" dirty="0" smtClean="0">
                <a:solidFill>
                  <a:srgbClr val="365F91"/>
                </a:solidFill>
                <a:latin typeface="Cambria"/>
              </a:rPr>
              <a:t>Extern Variable</a:t>
            </a:r>
          </a:p>
        </p:txBody>
      </p:sp>
      <p:sp>
        <p:nvSpPr>
          <p:cNvPr id="3" name="Text Placeholder 2"/>
          <p:cNvSpPr>
            <a:spLocks noGrp="1"/>
          </p:cNvSpPr>
          <p:nvPr>
            <p:ph type="body" idx="1"/>
          </p:nvPr>
        </p:nvSpPr>
        <p:spPr>
          <a:xfrm>
            <a:off x="304800" y="990600"/>
            <a:ext cx="8534400" cy="5486400"/>
          </a:xfrm>
        </p:spPr>
        <p:txBody>
          <a:bodyPr>
            <a:normAutofit fontScale="92500"/>
          </a:bodyPr>
          <a:lstStyle/>
          <a:p>
            <a:pPr marR="0" lvl="0" rtl="0">
              <a:buNone/>
            </a:pPr>
            <a:r>
              <a:rPr lang="en-US" b="1" baseline="0" dirty="0" smtClean="0">
                <a:solidFill>
                  <a:srgbClr val="4F81BD"/>
                </a:solidFill>
                <a:latin typeface="Cambria"/>
              </a:rPr>
              <a:t>a) extern variable</a:t>
            </a:r>
          </a:p>
          <a:p>
            <a:pPr marR="0" lvl="0" rtl="0">
              <a:buNone/>
            </a:pPr>
            <a:endParaRPr lang="en-US" b="1" baseline="0" dirty="0" smtClean="0">
              <a:solidFill>
                <a:srgbClr val="4F81BD"/>
              </a:solidFill>
              <a:latin typeface="Cambria"/>
            </a:endParaRPr>
          </a:p>
          <a:p>
            <a:pPr marR="0" lvl="1" algn="just" rtl="0">
              <a:buFont typeface="Wingdings" pitchFamily="2" charset="2"/>
              <a:buChar char="Ø"/>
            </a:pPr>
            <a:r>
              <a:rPr lang="en-US" b="1" baseline="0" dirty="0" smtClean="0">
                <a:solidFill>
                  <a:srgbClr val="4F81BD"/>
                </a:solidFill>
                <a:latin typeface="Cambria"/>
              </a:rPr>
              <a:t>The variable that are available to all the function </a:t>
            </a:r>
            <a:r>
              <a:rPr lang="en-US" b="1" baseline="0" dirty="0" err="1" smtClean="0">
                <a:solidFill>
                  <a:srgbClr val="4F81BD"/>
                </a:solidFill>
                <a:latin typeface="Cambria"/>
              </a:rPr>
              <a:t>i.e</a:t>
            </a:r>
            <a:r>
              <a:rPr lang="en-US" b="1" baseline="0" dirty="0" smtClean="0">
                <a:solidFill>
                  <a:srgbClr val="4F81BD"/>
                </a:solidFill>
                <a:latin typeface="Cambria"/>
              </a:rPr>
              <a:t>, from entire program they can be accessed, this variable are called external or global variables.</a:t>
            </a:r>
          </a:p>
          <a:p>
            <a:pPr marR="0" lvl="1" algn="just" rtl="0">
              <a:buFont typeface="Wingdings" pitchFamily="2" charset="2"/>
              <a:buChar char="Ø"/>
            </a:pPr>
            <a:endParaRPr lang="en-US" b="1" baseline="0" dirty="0" smtClean="0">
              <a:solidFill>
                <a:srgbClr val="4F81BD"/>
              </a:solidFill>
              <a:latin typeface="Cambria"/>
            </a:endParaRPr>
          </a:p>
          <a:p>
            <a:pPr marR="0" lvl="1" algn="just" rtl="0">
              <a:buFont typeface="Wingdings" pitchFamily="2" charset="2"/>
              <a:buChar char="Ø"/>
            </a:pPr>
            <a:r>
              <a:rPr lang="en-US" b="1" baseline="0" dirty="0" smtClean="0">
                <a:solidFill>
                  <a:srgbClr val="4F81BD"/>
                </a:solidFill>
                <a:latin typeface="Cambria"/>
              </a:rPr>
              <a:t>External variables are </a:t>
            </a:r>
            <a:r>
              <a:rPr lang="en-US" b="1" baseline="0" dirty="0" err="1" smtClean="0">
                <a:solidFill>
                  <a:srgbClr val="4F81BD"/>
                </a:solidFill>
                <a:latin typeface="Cambria"/>
              </a:rPr>
              <a:t>eclared</a:t>
            </a:r>
            <a:r>
              <a:rPr lang="en-US" b="1" baseline="0" dirty="0" smtClean="0">
                <a:solidFill>
                  <a:srgbClr val="4F81BD"/>
                </a:solidFill>
                <a:latin typeface="Cambria"/>
              </a:rPr>
              <a:t> outside the function body. In case both external and auto variables are declared with the same name in a program, the first priority is given to the auto variable. In this case external variable is hidden.</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81000"/>
          </a:xfrm>
        </p:spPr>
        <p:txBody>
          <a:bodyPr>
            <a:normAutofit fontScale="90000"/>
          </a:bodyPr>
          <a:lstStyle/>
          <a:p>
            <a:pPr marR="0" rtl="0"/>
            <a:r>
              <a:rPr lang="en-US" b="1" baseline="0" dirty="0" smtClean="0">
                <a:solidFill>
                  <a:srgbClr val="365F91"/>
                </a:solidFill>
                <a:latin typeface="Cambria"/>
              </a:rPr>
              <a:t>Example: </a:t>
            </a:r>
          </a:p>
        </p:txBody>
      </p:sp>
      <p:sp>
        <p:nvSpPr>
          <p:cNvPr id="3" name="Text Placeholder 2"/>
          <p:cNvSpPr>
            <a:spLocks noGrp="1"/>
          </p:cNvSpPr>
          <p:nvPr>
            <p:ph type="body" idx="1"/>
          </p:nvPr>
        </p:nvSpPr>
        <p:spPr>
          <a:xfrm>
            <a:off x="0" y="609600"/>
            <a:ext cx="9144000" cy="6248400"/>
          </a:xfrm>
        </p:spPr>
        <p:txBody>
          <a:bodyPr>
            <a:normAutofit fontScale="62500" lnSpcReduction="20000"/>
          </a:bodyPr>
          <a:lstStyle/>
          <a:p>
            <a:pPr marR="0" lvl="1" rtl="0">
              <a:buNone/>
            </a:pPr>
            <a:r>
              <a:rPr lang="en-US" b="1" baseline="0" dirty="0" smtClean="0">
                <a:solidFill>
                  <a:srgbClr val="4F81BD"/>
                </a:solidFill>
                <a:latin typeface="Cambria"/>
              </a:rPr>
              <a:t>	Program which show the working of auto and extern/global variable with same name.</a:t>
            </a:r>
          </a:p>
          <a:p>
            <a:pPr marR="0" lvl="2" rtl="0">
              <a:buNone/>
            </a:pPr>
            <a:r>
              <a:rPr lang="en-US" sz="2600" b="1" i="1" baseline="0" dirty="0" smtClean="0">
                <a:solidFill>
                  <a:srgbClr val="4F81BD"/>
                </a:solidFill>
                <a:latin typeface="Cambria"/>
              </a:rPr>
              <a:t>#include&lt;</a:t>
            </a:r>
            <a:r>
              <a:rPr lang="en-US" sz="2600" b="1" i="1" baseline="0" dirty="0" err="1" smtClean="0">
                <a:solidFill>
                  <a:srgbClr val="4F81BD"/>
                </a:solidFill>
                <a:latin typeface="Cambria"/>
              </a:rPr>
              <a:t>iostream.h</a:t>
            </a:r>
            <a:r>
              <a:rPr lang="en-US" sz="2600" b="1" i="1" baseline="0" dirty="0" smtClean="0">
                <a:solidFill>
                  <a:srgbClr val="4F81BD"/>
                </a:solidFill>
                <a:latin typeface="Cambria"/>
              </a:rPr>
              <a:t>&gt;</a:t>
            </a:r>
          </a:p>
          <a:p>
            <a:pPr marR="0" lvl="2" rtl="0">
              <a:buNone/>
            </a:pPr>
            <a:r>
              <a:rPr lang="en-US" sz="2600" b="1" i="1" baseline="0" dirty="0" smtClean="0">
                <a:solidFill>
                  <a:srgbClr val="4F81BD"/>
                </a:solidFill>
                <a:latin typeface="Cambria"/>
              </a:rPr>
              <a:t>#include&lt;</a:t>
            </a:r>
            <a:r>
              <a:rPr lang="en-US" sz="2600" b="1" i="1" baseline="0" dirty="0" err="1" smtClean="0">
                <a:solidFill>
                  <a:srgbClr val="4F81BD"/>
                </a:solidFill>
                <a:latin typeface="Cambria"/>
              </a:rPr>
              <a:t>conio.h</a:t>
            </a:r>
            <a:r>
              <a:rPr lang="en-US" sz="2600" b="1" i="1" baseline="0" dirty="0" smtClean="0">
                <a:solidFill>
                  <a:srgbClr val="4F81BD"/>
                </a:solidFill>
                <a:latin typeface="Cambria"/>
              </a:rPr>
              <a:t>&gt;</a:t>
            </a:r>
          </a:p>
          <a:p>
            <a:pPr marR="0" lvl="2" rtl="0">
              <a:buNone/>
            </a:pPr>
            <a:r>
              <a:rPr lang="en-US" sz="2600" b="1" i="1" baseline="0" dirty="0" smtClean="0">
                <a:solidFill>
                  <a:srgbClr val="4F81BD"/>
                </a:solidFill>
                <a:latin typeface="Cambria"/>
              </a:rPr>
              <a:t>void fun1();</a:t>
            </a:r>
          </a:p>
          <a:p>
            <a:pPr marR="0" lvl="2" rtl="0">
              <a:buNone/>
            </a:pPr>
            <a:r>
              <a:rPr lang="en-US" sz="2600" b="1" i="1" baseline="0" dirty="0" smtClean="0">
                <a:solidFill>
                  <a:srgbClr val="4F81BD"/>
                </a:solidFill>
                <a:latin typeface="Cambria"/>
              </a:rPr>
              <a:t>void fun2();</a:t>
            </a:r>
          </a:p>
          <a:p>
            <a:pPr marR="0" lvl="2" rtl="0">
              <a:buNone/>
            </a:pPr>
            <a:r>
              <a:rPr lang="en-US" sz="2600" b="1" i="1" baseline="0" dirty="0" err="1" smtClean="0">
                <a:solidFill>
                  <a:srgbClr val="4F81BD"/>
                </a:solidFill>
                <a:latin typeface="Cambria"/>
              </a:rPr>
              <a:t>int</a:t>
            </a:r>
            <a:r>
              <a:rPr lang="en-US" sz="2600" b="1" i="1" baseline="0" dirty="0" smtClean="0">
                <a:solidFill>
                  <a:srgbClr val="4F81BD"/>
                </a:solidFill>
                <a:latin typeface="Cambria"/>
              </a:rPr>
              <a:t> v=10;</a:t>
            </a:r>
          </a:p>
          <a:p>
            <a:pPr marR="0" lvl="2" rtl="0">
              <a:buNone/>
            </a:pPr>
            <a:r>
              <a:rPr lang="en-US" sz="2600" b="1" i="1" baseline="0" dirty="0" smtClean="0">
                <a:solidFill>
                  <a:srgbClr val="4F81BD"/>
                </a:solidFill>
                <a:latin typeface="Cambria"/>
              </a:rPr>
              <a:t>void main()</a:t>
            </a:r>
          </a:p>
          <a:p>
            <a:pPr marR="0" lvl="2" rtl="0">
              <a:buNone/>
            </a:pPr>
            <a:r>
              <a:rPr lang="en-US" sz="2600" b="1" i="1" baseline="0" dirty="0" smtClean="0">
                <a:solidFill>
                  <a:srgbClr val="4F81BD"/>
                </a:solidFill>
                <a:latin typeface="Cambria"/>
              </a:rPr>
              <a:t>{</a:t>
            </a:r>
          </a:p>
          <a:p>
            <a:pPr marR="0" lvl="2" rtl="0">
              <a:buNone/>
            </a:pPr>
            <a:r>
              <a:rPr lang="en-US" sz="2600" b="1" i="1" baseline="0" dirty="0" smtClean="0">
                <a:solidFill>
                  <a:srgbClr val="4F81BD"/>
                </a:solidFill>
                <a:latin typeface="Cambria"/>
              </a:rPr>
              <a:t>fun1();</a:t>
            </a:r>
          </a:p>
          <a:p>
            <a:pPr marR="0" lvl="2" rtl="0">
              <a:buNone/>
            </a:pPr>
            <a:r>
              <a:rPr lang="en-US" sz="2600" b="1" i="1" baseline="0" dirty="0" smtClean="0">
                <a:solidFill>
                  <a:srgbClr val="4F81BD"/>
                </a:solidFill>
                <a:latin typeface="Cambria"/>
              </a:rPr>
              <a:t>fun2();</a:t>
            </a:r>
          </a:p>
          <a:p>
            <a:pPr marR="0" lvl="2" rtl="0">
              <a:buNone/>
            </a:pPr>
            <a:r>
              <a:rPr lang="en-US" sz="2600" b="1" i="1" baseline="0" dirty="0" err="1" smtClean="0">
                <a:solidFill>
                  <a:srgbClr val="4F81BD"/>
                </a:solidFill>
                <a:latin typeface="Cambria"/>
              </a:rPr>
              <a:t>cout</a:t>
            </a:r>
            <a:r>
              <a:rPr lang="en-US" sz="2600" b="1" i="1" baseline="0" dirty="0" smtClean="0">
                <a:solidFill>
                  <a:srgbClr val="4F81BD"/>
                </a:solidFill>
                <a:latin typeface="Cambria"/>
              </a:rPr>
              <a:t>&lt;&lt;"In main() v= "&lt;&lt;v&lt;&lt;</a:t>
            </a:r>
            <a:r>
              <a:rPr lang="en-US" sz="2600" b="1" i="1" baseline="0" dirty="0" err="1" smtClean="0">
                <a:solidFill>
                  <a:srgbClr val="4F81BD"/>
                </a:solidFill>
                <a:latin typeface="Cambria"/>
              </a:rPr>
              <a:t>endl</a:t>
            </a:r>
            <a:r>
              <a:rPr lang="en-US" sz="2600" b="1" i="1" baseline="0" dirty="0" smtClean="0">
                <a:solidFill>
                  <a:srgbClr val="4F81BD"/>
                </a:solidFill>
                <a:latin typeface="Cambria"/>
              </a:rPr>
              <a:t>;</a:t>
            </a:r>
          </a:p>
          <a:p>
            <a:pPr marR="0" lvl="2" rtl="0">
              <a:buNone/>
            </a:pPr>
            <a:r>
              <a:rPr lang="en-US" sz="2600" b="1" i="1" baseline="0" dirty="0" err="1" smtClean="0">
                <a:solidFill>
                  <a:srgbClr val="4F81BD"/>
                </a:solidFill>
                <a:latin typeface="Cambria"/>
              </a:rPr>
              <a:t>getch</a:t>
            </a:r>
            <a:r>
              <a:rPr lang="en-US" sz="2600" b="1" i="1" baseline="0" dirty="0" smtClean="0">
                <a:solidFill>
                  <a:srgbClr val="4F81BD"/>
                </a:solidFill>
                <a:latin typeface="Cambria"/>
              </a:rPr>
              <a:t>();</a:t>
            </a:r>
          </a:p>
          <a:p>
            <a:pPr marR="0" lvl="2" rtl="0">
              <a:buNone/>
            </a:pPr>
            <a:r>
              <a:rPr lang="en-US" sz="2600" b="1" i="1" baseline="0" dirty="0" smtClean="0">
                <a:solidFill>
                  <a:srgbClr val="4F81BD"/>
                </a:solidFill>
                <a:latin typeface="Cambria"/>
              </a:rPr>
              <a:t>}</a:t>
            </a:r>
          </a:p>
          <a:p>
            <a:pPr marR="0" lvl="2" rtl="0">
              <a:buNone/>
            </a:pPr>
            <a:endParaRPr lang="en-US" sz="2600" b="1" i="1" baseline="0" dirty="0" smtClean="0">
              <a:solidFill>
                <a:srgbClr val="4F81BD"/>
              </a:solidFill>
              <a:latin typeface="Cambria"/>
            </a:endParaRPr>
          </a:p>
          <a:p>
            <a:pPr marR="0" lvl="2" rtl="0">
              <a:buNone/>
            </a:pPr>
            <a:r>
              <a:rPr lang="en-US" sz="2600" b="1" i="1" baseline="0" dirty="0" smtClean="0">
                <a:solidFill>
                  <a:srgbClr val="4F81BD"/>
                </a:solidFill>
                <a:latin typeface="Cambria"/>
              </a:rPr>
              <a:t>void fun1()</a:t>
            </a:r>
          </a:p>
          <a:p>
            <a:pPr marR="0" lvl="2" rtl="0">
              <a:buNone/>
            </a:pPr>
            <a:r>
              <a:rPr lang="en-US" sz="2600" b="1" i="1" baseline="0" dirty="0" smtClean="0">
                <a:solidFill>
                  <a:srgbClr val="4F81BD"/>
                </a:solidFill>
                <a:latin typeface="Cambria"/>
              </a:rPr>
              <a:t>{</a:t>
            </a:r>
          </a:p>
          <a:p>
            <a:pPr marR="0" lvl="2" rtl="0">
              <a:buNone/>
            </a:pPr>
            <a:r>
              <a:rPr lang="en-US" sz="2600" b="1" i="1" baseline="0" dirty="0" err="1" smtClean="0">
                <a:solidFill>
                  <a:srgbClr val="4F81BD"/>
                </a:solidFill>
                <a:latin typeface="Cambria"/>
              </a:rPr>
              <a:t>int</a:t>
            </a:r>
            <a:r>
              <a:rPr lang="en-US" sz="2600" b="1" i="1" baseline="0" dirty="0" smtClean="0">
                <a:solidFill>
                  <a:srgbClr val="4F81BD"/>
                </a:solidFill>
                <a:latin typeface="Cambria"/>
              </a:rPr>
              <a:t> v=20;      // Try extern </a:t>
            </a:r>
            <a:r>
              <a:rPr lang="en-US" sz="2600" b="1" i="1" baseline="0" dirty="0" err="1" smtClean="0">
                <a:solidFill>
                  <a:srgbClr val="4F81BD"/>
                </a:solidFill>
                <a:latin typeface="Cambria"/>
              </a:rPr>
              <a:t>int</a:t>
            </a:r>
            <a:r>
              <a:rPr lang="en-US" sz="2600" b="1" i="1" baseline="0" dirty="0" smtClean="0">
                <a:solidFill>
                  <a:srgbClr val="4F81BD"/>
                </a:solidFill>
                <a:latin typeface="Cambria"/>
              </a:rPr>
              <a:t> v=20;</a:t>
            </a:r>
          </a:p>
          <a:p>
            <a:pPr marR="0" lvl="2" rtl="0">
              <a:buNone/>
            </a:pPr>
            <a:r>
              <a:rPr lang="en-US" sz="2600" b="1" i="1" baseline="0" dirty="0" err="1" smtClean="0">
                <a:solidFill>
                  <a:srgbClr val="4F81BD"/>
                </a:solidFill>
                <a:latin typeface="Cambria"/>
              </a:rPr>
              <a:t>cout</a:t>
            </a:r>
            <a:r>
              <a:rPr lang="en-US" sz="2600" b="1" i="1" baseline="0" dirty="0" smtClean="0">
                <a:solidFill>
                  <a:srgbClr val="4F81BD"/>
                </a:solidFill>
                <a:latin typeface="Cambria"/>
              </a:rPr>
              <a:t>&lt;&lt;"In fun() v= "&lt;&lt;v&lt;&lt;</a:t>
            </a:r>
            <a:r>
              <a:rPr lang="en-US" sz="2600" b="1" i="1" baseline="0" dirty="0" err="1" smtClean="0">
                <a:solidFill>
                  <a:srgbClr val="4F81BD"/>
                </a:solidFill>
                <a:latin typeface="Cambria"/>
              </a:rPr>
              <a:t>endl</a:t>
            </a:r>
            <a:r>
              <a:rPr lang="en-US" sz="2600" b="1" i="1" baseline="0" dirty="0" smtClean="0">
                <a:solidFill>
                  <a:srgbClr val="4F81BD"/>
                </a:solidFill>
                <a:latin typeface="Cambria"/>
              </a:rPr>
              <a:t>;</a:t>
            </a:r>
          </a:p>
          <a:p>
            <a:pPr marR="0" lvl="2" rtl="0">
              <a:buNone/>
            </a:pPr>
            <a:r>
              <a:rPr lang="en-US" sz="2600" b="1" i="1" baseline="0" dirty="0" smtClean="0">
                <a:solidFill>
                  <a:srgbClr val="4F81BD"/>
                </a:solidFill>
                <a:latin typeface="Cambria"/>
              </a:rPr>
              <a:t>}</a:t>
            </a:r>
          </a:p>
          <a:p>
            <a:pPr marR="0" lvl="2" rtl="0">
              <a:buNone/>
            </a:pPr>
            <a:endParaRPr lang="en-US" sz="2600" b="1" i="1" baseline="0" dirty="0" smtClean="0">
              <a:solidFill>
                <a:srgbClr val="4F81BD"/>
              </a:solidFill>
              <a:latin typeface="Cambria"/>
            </a:endParaRPr>
          </a:p>
          <a:p>
            <a:pPr marR="0" lvl="2" rtl="0">
              <a:buNone/>
            </a:pPr>
            <a:r>
              <a:rPr lang="en-US" sz="2600" b="1" i="1" baseline="0" dirty="0" smtClean="0">
                <a:solidFill>
                  <a:srgbClr val="4F81BD"/>
                </a:solidFill>
                <a:latin typeface="Cambria"/>
              </a:rPr>
              <a:t>void fun2()</a:t>
            </a:r>
          </a:p>
          <a:p>
            <a:pPr marR="0" lvl="2" rtl="0">
              <a:buNone/>
            </a:pPr>
            <a:r>
              <a:rPr lang="en-US" sz="2600" b="1" i="1" baseline="0" dirty="0" smtClean="0">
                <a:solidFill>
                  <a:srgbClr val="4F81BD"/>
                </a:solidFill>
                <a:latin typeface="Cambria"/>
              </a:rPr>
              <a:t>{</a:t>
            </a:r>
          </a:p>
          <a:p>
            <a:pPr marR="0" lvl="2" rtl="0">
              <a:buNone/>
            </a:pPr>
            <a:r>
              <a:rPr lang="en-US" sz="2600" b="1" i="1" baseline="0" dirty="0" err="1" smtClean="0">
                <a:solidFill>
                  <a:srgbClr val="4F81BD"/>
                </a:solidFill>
                <a:latin typeface="Cambria"/>
              </a:rPr>
              <a:t>cout</a:t>
            </a:r>
            <a:r>
              <a:rPr lang="en-US" sz="2600" b="1" i="1" baseline="0" dirty="0" smtClean="0">
                <a:solidFill>
                  <a:srgbClr val="4F81BD"/>
                </a:solidFill>
                <a:latin typeface="Cambria"/>
              </a:rPr>
              <a:t>&lt;&lt;"In fun() v= "&lt;&lt;v&lt;&lt;</a:t>
            </a:r>
            <a:r>
              <a:rPr lang="en-US" sz="2600" b="1" i="1" baseline="0" dirty="0" err="1" smtClean="0">
                <a:solidFill>
                  <a:srgbClr val="4F81BD"/>
                </a:solidFill>
                <a:latin typeface="Cambria"/>
              </a:rPr>
              <a:t>endl</a:t>
            </a:r>
            <a:r>
              <a:rPr lang="en-US" sz="2600" b="1" i="1" baseline="0" dirty="0" smtClean="0">
                <a:solidFill>
                  <a:srgbClr val="4F81BD"/>
                </a:solidFill>
                <a:latin typeface="Cambria"/>
              </a:rPr>
              <a:t>;</a:t>
            </a:r>
          </a:p>
          <a:p>
            <a:pPr marR="0" lvl="2" rtl="0">
              <a:buNone/>
            </a:pPr>
            <a:r>
              <a:rPr lang="en-US" sz="2600" b="1" i="1" baseline="0" dirty="0" smtClean="0">
                <a:solidFill>
                  <a:srgbClr val="4F81BD"/>
                </a:solidFill>
                <a:latin typeface="Cambria"/>
              </a:rPr>
              <a:t>}</a:t>
            </a:r>
          </a:p>
        </p:txBody>
      </p:sp>
      <p:sp>
        <p:nvSpPr>
          <p:cNvPr id="4" name="Rectangle 3"/>
          <p:cNvSpPr/>
          <p:nvPr/>
        </p:nvSpPr>
        <p:spPr>
          <a:xfrm>
            <a:off x="4953000" y="1828800"/>
            <a:ext cx="3886200" cy="2677656"/>
          </a:xfrm>
          <a:prstGeom prst="rect">
            <a:avLst/>
          </a:prstGeom>
        </p:spPr>
        <p:txBody>
          <a:bodyPr wrap="square">
            <a:spAutoFit/>
          </a:bodyPr>
          <a:lstStyle/>
          <a:p>
            <a:pPr lvl="2"/>
            <a:r>
              <a:rPr lang="it-IT" sz="2400" b="1" i="1" baseline="0" dirty="0" smtClean="0">
                <a:solidFill>
                  <a:srgbClr val="C00000"/>
                </a:solidFill>
                <a:latin typeface="Cambria"/>
              </a:rPr>
              <a:t>Output :  </a:t>
            </a:r>
          </a:p>
          <a:p>
            <a:pPr lvl="2"/>
            <a:endParaRPr lang="it-IT" sz="2400" b="1" i="1" baseline="0" dirty="0" smtClean="0">
              <a:solidFill>
                <a:srgbClr val="00B050"/>
              </a:solidFill>
              <a:latin typeface="Cambria"/>
            </a:endParaRPr>
          </a:p>
          <a:p>
            <a:pPr lvl="2"/>
            <a:r>
              <a:rPr lang="it-IT" sz="2400" b="1" i="1" baseline="0" dirty="0" smtClean="0">
                <a:solidFill>
                  <a:srgbClr val="00B050"/>
                </a:solidFill>
                <a:latin typeface="Cambria"/>
              </a:rPr>
              <a:t>In fun1 v= 20</a:t>
            </a:r>
          </a:p>
          <a:p>
            <a:pPr lvl="2"/>
            <a:r>
              <a:rPr lang="en-US" sz="2400" b="1" i="1" baseline="0" dirty="0" smtClean="0">
                <a:solidFill>
                  <a:srgbClr val="00B050"/>
                </a:solidFill>
                <a:latin typeface="Cambria"/>
              </a:rPr>
              <a:t>           </a:t>
            </a:r>
          </a:p>
          <a:p>
            <a:pPr lvl="2"/>
            <a:r>
              <a:rPr lang="en-US" sz="2400" b="1" i="1" baseline="0" dirty="0" smtClean="0">
                <a:solidFill>
                  <a:srgbClr val="00B050"/>
                </a:solidFill>
                <a:latin typeface="Cambria"/>
              </a:rPr>
              <a:t>In fun1 v= 10</a:t>
            </a:r>
          </a:p>
          <a:p>
            <a:pPr lvl="2"/>
            <a:r>
              <a:rPr lang="en-US" sz="2400" b="1" i="1" baseline="0" dirty="0" smtClean="0">
                <a:solidFill>
                  <a:srgbClr val="00B050"/>
                </a:solidFill>
                <a:latin typeface="Cambria"/>
              </a:rPr>
              <a:t>           </a:t>
            </a:r>
          </a:p>
          <a:p>
            <a:pPr lvl="2"/>
            <a:r>
              <a:rPr lang="en-US" sz="2400" b="1" i="1" baseline="0" dirty="0" smtClean="0">
                <a:solidFill>
                  <a:srgbClr val="00B050"/>
                </a:solidFill>
                <a:latin typeface="Cambria"/>
              </a:rPr>
              <a:t>In fun1 v= 10</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pPr marR="0" rtl="0"/>
            <a:r>
              <a:rPr lang="en-US" b="1" baseline="0" dirty="0" smtClean="0">
                <a:solidFill>
                  <a:srgbClr val="365F91"/>
                </a:solidFill>
                <a:latin typeface="Cambria"/>
              </a:rPr>
              <a:t>Continue…</a:t>
            </a:r>
          </a:p>
        </p:txBody>
      </p:sp>
      <p:sp>
        <p:nvSpPr>
          <p:cNvPr id="3" name="Text Placeholder 2"/>
          <p:cNvSpPr>
            <a:spLocks noGrp="1"/>
          </p:cNvSpPr>
          <p:nvPr>
            <p:ph type="body" idx="1"/>
          </p:nvPr>
        </p:nvSpPr>
        <p:spPr>
          <a:xfrm>
            <a:off x="228600" y="533400"/>
            <a:ext cx="8915400" cy="6324600"/>
          </a:xfrm>
        </p:spPr>
        <p:txBody>
          <a:bodyPr>
            <a:normAutofit fontScale="55000" lnSpcReduction="20000"/>
          </a:bodyPr>
          <a:lstStyle/>
          <a:p>
            <a:pPr marR="0" lvl="0" rtl="0">
              <a:buNone/>
            </a:pPr>
            <a:r>
              <a:rPr lang="en-US" b="1" baseline="0" dirty="0" smtClean="0">
                <a:solidFill>
                  <a:srgbClr val="4F81BD"/>
                </a:solidFill>
                <a:latin typeface="Cambria"/>
              </a:rPr>
              <a:t>b)extern variable</a:t>
            </a:r>
          </a:p>
          <a:p>
            <a:pPr marR="0" lvl="1" rtl="0"/>
            <a:r>
              <a:rPr lang="en-US" b="1" baseline="0" dirty="0" smtClean="0">
                <a:solidFill>
                  <a:srgbClr val="4F81BD"/>
                </a:solidFill>
                <a:latin typeface="Cambria"/>
              </a:rPr>
              <a:t>With the help of extern keyword we can declare global variable in a bottom of global variable in outside function body in c programs.</a:t>
            </a:r>
          </a:p>
          <a:p>
            <a:pPr marR="0" lvl="1" rtl="0"/>
            <a:endParaRPr lang="en-US" b="1" baseline="0" dirty="0" smtClean="0">
              <a:solidFill>
                <a:srgbClr val="4F81BD"/>
              </a:solidFill>
              <a:latin typeface="Cambria"/>
            </a:endParaRPr>
          </a:p>
          <a:p>
            <a:pPr marR="0" lvl="2" rtl="0">
              <a:buNone/>
            </a:pPr>
            <a:r>
              <a:rPr lang="en-US" sz="2500" b="1" i="1" baseline="0" dirty="0" smtClean="0">
                <a:solidFill>
                  <a:srgbClr val="4F81BD"/>
                </a:solidFill>
                <a:latin typeface="Cambria"/>
              </a:rPr>
              <a:t>#include&lt;</a:t>
            </a:r>
            <a:r>
              <a:rPr lang="en-US" sz="2500" b="1" i="1" baseline="0" dirty="0" err="1" smtClean="0">
                <a:solidFill>
                  <a:srgbClr val="4F81BD"/>
                </a:solidFill>
                <a:latin typeface="Cambria"/>
              </a:rPr>
              <a:t>iostream.h</a:t>
            </a:r>
            <a:r>
              <a:rPr lang="en-US" sz="2500" b="1" i="1" baseline="0" dirty="0" smtClean="0">
                <a:solidFill>
                  <a:srgbClr val="4F81BD"/>
                </a:solidFill>
                <a:latin typeface="Cambria"/>
              </a:rPr>
              <a:t>&gt;</a:t>
            </a:r>
          </a:p>
          <a:p>
            <a:pPr marR="0" lvl="2" rtl="0">
              <a:buNone/>
            </a:pPr>
            <a:r>
              <a:rPr lang="en-US" sz="2500" b="1" i="1" baseline="0" dirty="0" smtClean="0">
                <a:solidFill>
                  <a:srgbClr val="4F81BD"/>
                </a:solidFill>
                <a:latin typeface="Cambria"/>
              </a:rPr>
              <a:t>#include&lt;</a:t>
            </a:r>
            <a:r>
              <a:rPr lang="en-US" sz="2500" b="1" i="1" baseline="0" dirty="0" err="1" smtClean="0">
                <a:solidFill>
                  <a:srgbClr val="4F81BD"/>
                </a:solidFill>
                <a:latin typeface="Cambria"/>
              </a:rPr>
              <a:t>conio.h</a:t>
            </a:r>
            <a:r>
              <a:rPr lang="en-US" sz="2500" b="1" i="1" baseline="0" dirty="0" smtClean="0">
                <a:solidFill>
                  <a:srgbClr val="4F81BD"/>
                </a:solidFill>
                <a:latin typeface="Cambria"/>
              </a:rPr>
              <a:t>&gt;</a:t>
            </a:r>
          </a:p>
          <a:p>
            <a:pPr marR="0" lvl="2" rtl="0">
              <a:buNone/>
            </a:pPr>
            <a:r>
              <a:rPr lang="en-US" sz="2500" b="1" i="1" baseline="0" dirty="0" smtClean="0">
                <a:solidFill>
                  <a:srgbClr val="4F81BD"/>
                </a:solidFill>
                <a:latin typeface="Cambria"/>
              </a:rPr>
              <a:t>void fun1();</a:t>
            </a:r>
          </a:p>
          <a:p>
            <a:pPr marR="0" lvl="2" rtl="0">
              <a:buNone/>
            </a:pPr>
            <a:r>
              <a:rPr lang="en-US" sz="2500" b="1" i="1" baseline="0" dirty="0" smtClean="0">
                <a:solidFill>
                  <a:srgbClr val="4F81BD"/>
                </a:solidFill>
                <a:latin typeface="Cambria"/>
              </a:rPr>
              <a:t>void fun2();</a:t>
            </a:r>
          </a:p>
          <a:p>
            <a:pPr marR="0" lvl="2" rtl="0">
              <a:buNone/>
            </a:pPr>
            <a:r>
              <a:rPr lang="en-US" sz="2500" b="1" i="1" baseline="0" dirty="0" smtClean="0">
                <a:solidFill>
                  <a:srgbClr val="4F81BD"/>
                </a:solidFill>
                <a:latin typeface="Cambria"/>
              </a:rPr>
              <a:t>void main()</a:t>
            </a:r>
          </a:p>
          <a:p>
            <a:pPr marR="0" lvl="2" rtl="0">
              <a:buNone/>
            </a:pPr>
            <a:r>
              <a:rPr lang="en-US" sz="2500" b="1" i="1" baseline="0" dirty="0" smtClean="0">
                <a:solidFill>
                  <a:srgbClr val="4F81BD"/>
                </a:solidFill>
                <a:latin typeface="Cambria"/>
              </a:rPr>
              <a:t>{</a:t>
            </a:r>
          </a:p>
          <a:p>
            <a:pPr marR="0" lvl="2" rtl="0">
              <a:buNone/>
            </a:pPr>
            <a:r>
              <a:rPr lang="en-US" sz="2500" b="1" i="1" baseline="0" dirty="0" smtClean="0">
                <a:solidFill>
                  <a:srgbClr val="4F81BD"/>
                </a:solidFill>
                <a:latin typeface="Cambria"/>
              </a:rPr>
              <a:t>extern v;</a:t>
            </a:r>
          </a:p>
          <a:p>
            <a:pPr marR="0" lvl="2" rtl="0">
              <a:buNone/>
            </a:pPr>
            <a:r>
              <a:rPr lang="en-US" sz="2500" b="1" i="1" baseline="0" dirty="0" smtClean="0">
                <a:solidFill>
                  <a:srgbClr val="4F81BD"/>
                </a:solidFill>
                <a:latin typeface="Cambria"/>
              </a:rPr>
              <a:t>fun1();</a:t>
            </a:r>
          </a:p>
          <a:p>
            <a:pPr marR="0" lvl="2" rtl="0">
              <a:buNone/>
            </a:pPr>
            <a:r>
              <a:rPr lang="en-US" sz="2500" b="1" i="1" baseline="0" dirty="0" err="1" smtClean="0">
                <a:solidFill>
                  <a:srgbClr val="4F81BD"/>
                </a:solidFill>
                <a:latin typeface="Cambria"/>
              </a:rPr>
              <a:t>cout</a:t>
            </a:r>
            <a:r>
              <a:rPr lang="en-US" sz="2500" b="1" i="1" baseline="0" dirty="0" smtClean="0">
                <a:solidFill>
                  <a:srgbClr val="4F81BD"/>
                </a:solidFill>
                <a:latin typeface="Cambria"/>
              </a:rPr>
              <a:t>&lt;&lt;"In main() v= "&lt;&lt;v&lt;&lt;</a:t>
            </a:r>
            <a:r>
              <a:rPr lang="en-US" sz="2500" b="1" i="1" baseline="0" dirty="0" err="1" smtClean="0">
                <a:solidFill>
                  <a:srgbClr val="4F81BD"/>
                </a:solidFill>
                <a:latin typeface="Cambria"/>
              </a:rPr>
              <a:t>endl</a:t>
            </a:r>
            <a:r>
              <a:rPr lang="en-US" sz="2500" b="1" i="1" baseline="0" dirty="0" smtClean="0">
                <a:solidFill>
                  <a:srgbClr val="4F81BD"/>
                </a:solidFill>
                <a:latin typeface="Cambria"/>
              </a:rPr>
              <a:t>;</a:t>
            </a:r>
          </a:p>
          <a:p>
            <a:pPr marR="0" lvl="2" rtl="0">
              <a:buNone/>
            </a:pPr>
            <a:r>
              <a:rPr lang="en-US" sz="2500" b="1" i="1" baseline="0" dirty="0" smtClean="0">
                <a:solidFill>
                  <a:srgbClr val="4F81BD"/>
                </a:solidFill>
                <a:latin typeface="Cambria"/>
              </a:rPr>
              <a:t>fun2();</a:t>
            </a:r>
          </a:p>
          <a:p>
            <a:pPr marR="0" lvl="2" rtl="0">
              <a:buNone/>
            </a:pPr>
            <a:r>
              <a:rPr lang="en-US" sz="2500" b="1" i="1" baseline="0" dirty="0" err="1" smtClean="0">
                <a:solidFill>
                  <a:srgbClr val="4F81BD"/>
                </a:solidFill>
                <a:latin typeface="Cambria"/>
              </a:rPr>
              <a:t>getch</a:t>
            </a:r>
            <a:r>
              <a:rPr lang="en-US" sz="2500" b="1" i="1" baseline="0" dirty="0" smtClean="0">
                <a:solidFill>
                  <a:srgbClr val="4F81BD"/>
                </a:solidFill>
                <a:latin typeface="Cambria"/>
              </a:rPr>
              <a:t>();</a:t>
            </a:r>
          </a:p>
          <a:p>
            <a:pPr marR="0" lvl="2" rtl="0">
              <a:buNone/>
            </a:pPr>
            <a:r>
              <a:rPr lang="en-US" sz="2500" b="1" i="1" baseline="0" dirty="0" smtClean="0">
                <a:solidFill>
                  <a:srgbClr val="4F81BD"/>
                </a:solidFill>
                <a:latin typeface="Cambria"/>
              </a:rPr>
              <a:t>}</a:t>
            </a:r>
          </a:p>
          <a:p>
            <a:pPr marR="0" lvl="2" rtl="0">
              <a:buNone/>
            </a:pPr>
            <a:r>
              <a:rPr lang="en-US" sz="2500" b="1" i="1" baseline="0" dirty="0" smtClean="0">
                <a:solidFill>
                  <a:srgbClr val="4F81BD"/>
                </a:solidFill>
                <a:latin typeface="Cambria"/>
              </a:rPr>
              <a:t>void fun1()</a:t>
            </a:r>
          </a:p>
          <a:p>
            <a:pPr marR="0" lvl="2" rtl="0">
              <a:buNone/>
            </a:pPr>
            <a:r>
              <a:rPr lang="en-US" sz="2500" b="1" i="1" baseline="0" dirty="0" smtClean="0">
                <a:solidFill>
                  <a:srgbClr val="4F81BD"/>
                </a:solidFill>
                <a:latin typeface="Cambria"/>
              </a:rPr>
              <a:t>{</a:t>
            </a:r>
          </a:p>
          <a:p>
            <a:pPr marR="0" lvl="2" rtl="0">
              <a:buNone/>
            </a:pPr>
            <a:r>
              <a:rPr lang="en-US" sz="2500" b="1" i="1" baseline="0" dirty="0" smtClean="0">
                <a:solidFill>
                  <a:srgbClr val="4F81BD"/>
                </a:solidFill>
                <a:latin typeface="Cambria"/>
              </a:rPr>
              <a:t>extern v;</a:t>
            </a:r>
          </a:p>
          <a:p>
            <a:pPr marR="0" lvl="2" rtl="0">
              <a:buNone/>
            </a:pPr>
            <a:r>
              <a:rPr lang="en-US" sz="2500" b="1" i="1" baseline="0" dirty="0" smtClean="0">
                <a:solidFill>
                  <a:srgbClr val="4F81BD"/>
                </a:solidFill>
                <a:latin typeface="Cambria"/>
              </a:rPr>
              <a:t>v=20;</a:t>
            </a:r>
          </a:p>
          <a:p>
            <a:pPr marR="0" lvl="2" rtl="0">
              <a:buNone/>
            </a:pPr>
            <a:r>
              <a:rPr lang="en-US" sz="2500" b="1" i="1" baseline="0" dirty="0" err="1" smtClean="0">
                <a:solidFill>
                  <a:srgbClr val="4F81BD"/>
                </a:solidFill>
                <a:latin typeface="Cambria"/>
              </a:rPr>
              <a:t>cout</a:t>
            </a:r>
            <a:r>
              <a:rPr lang="en-US" sz="2500" b="1" i="1" baseline="0" dirty="0" smtClean="0">
                <a:solidFill>
                  <a:srgbClr val="4F81BD"/>
                </a:solidFill>
                <a:latin typeface="Cambria"/>
              </a:rPr>
              <a:t>&lt;&lt;"In fun1() v= "&lt;&lt;v&lt;&lt;</a:t>
            </a:r>
            <a:r>
              <a:rPr lang="en-US" sz="2500" b="1" i="1" baseline="0" dirty="0" err="1" smtClean="0">
                <a:solidFill>
                  <a:srgbClr val="4F81BD"/>
                </a:solidFill>
                <a:latin typeface="Cambria"/>
              </a:rPr>
              <a:t>endl</a:t>
            </a:r>
            <a:r>
              <a:rPr lang="en-US" sz="2500" b="1" i="1" baseline="0" dirty="0" smtClean="0">
                <a:solidFill>
                  <a:srgbClr val="4F81BD"/>
                </a:solidFill>
                <a:latin typeface="Cambria"/>
              </a:rPr>
              <a:t>;</a:t>
            </a:r>
          </a:p>
          <a:p>
            <a:pPr marR="0" lvl="2" rtl="0">
              <a:buNone/>
            </a:pPr>
            <a:r>
              <a:rPr lang="en-US" sz="2500" b="1" i="1" baseline="0" dirty="0" smtClean="0">
                <a:solidFill>
                  <a:srgbClr val="4F81BD"/>
                </a:solidFill>
                <a:latin typeface="Cambria"/>
              </a:rPr>
              <a:t>}</a:t>
            </a:r>
          </a:p>
          <a:p>
            <a:pPr marR="0" lvl="2" rtl="0">
              <a:buNone/>
            </a:pPr>
            <a:r>
              <a:rPr lang="en-US" sz="2500" b="1" i="1" baseline="0" dirty="0" smtClean="0">
                <a:solidFill>
                  <a:srgbClr val="4F81BD"/>
                </a:solidFill>
                <a:latin typeface="Cambria"/>
              </a:rPr>
              <a:t>void fun2()</a:t>
            </a:r>
          </a:p>
          <a:p>
            <a:pPr marR="0" lvl="2" rtl="0">
              <a:buNone/>
            </a:pPr>
            <a:r>
              <a:rPr lang="en-US" sz="2500" b="1" i="1" baseline="0" dirty="0" smtClean="0">
                <a:solidFill>
                  <a:srgbClr val="4F81BD"/>
                </a:solidFill>
                <a:latin typeface="Cambria"/>
              </a:rPr>
              <a:t>{</a:t>
            </a:r>
          </a:p>
          <a:p>
            <a:pPr marR="0" lvl="2" rtl="0">
              <a:buNone/>
            </a:pPr>
            <a:r>
              <a:rPr lang="en-US" sz="2500" b="1" i="1" baseline="0" dirty="0" smtClean="0">
                <a:solidFill>
                  <a:srgbClr val="4F81BD"/>
                </a:solidFill>
                <a:latin typeface="Cambria"/>
              </a:rPr>
              <a:t>extern v;</a:t>
            </a:r>
          </a:p>
          <a:p>
            <a:pPr marR="0" lvl="2" rtl="0">
              <a:buNone/>
            </a:pPr>
            <a:r>
              <a:rPr lang="en-US" sz="2500" b="1" i="1" baseline="0" dirty="0" err="1" smtClean="0">
                <a:solidFill>
                  <a:srgbClr val="4F81BD"/>
                </a:solidFill>
                <a:latin typeface="Cambria"/>
              </a:rPr>
              <a:t>cout</a:t>
            </a:r>
            <a:r>
              <a:rPr lang="en-US" sz="2500" b="1" i="1" baseline="0" dirty="0" smtClean="0">
                <a:solidFill>
                  <a:srgbClr val="4F81BD"/>
                </a:solidFill>
                <a:latin typeface="Cambria"/>
              </a:rPr>
              <a:t>&lt;&lt;"In fun()2 v= "&lt;&lt;v&lt;&lt;</a:t>
            </a:r>
            <a:r>
              <a:rPr lang="en-US" sz="2500" b="1" i="1" baseline="0" dirty="0" err="1" smtClean="0">
                <a:solidFill>
                  <a:srgbClr val="4F81BD"/>
                </a:solidFill>
                <a:latin typeface="Cambria"/>
              </a:rPr>
              <a:t>endl</a:t>
            </a:r>
            <a:r>
              <a:rPr lang="en-US" sz="2500" b="1" i="1" baseline="0" dirty="0" smtClean="0">
                <a:solidFill>
                  <a:srgbClr val="4F81BD"/>
                </a:solidFill>
                <a:latin typeface="Cambria"/>
              </a:rPr>
              <a:t>;</a:t>
            </a:r>
          </a:p>
          <a:p>
            <a:pPr marR="0" lvl="2" rtl="0">
              <a:buNone/>
            </a:pPr>
            <a:r>
              <a:rPr lang="en-US" sz="2500" b="1" i="1" baseline="0" dirty="0" smtClean="0">
                <a:solidFill>
                  <a:srgbClr val="4F81BD"/>
                </a:solidFill>
                <a:latin typeface="Cambria"/>
              </a:rPr>
              <a:t>}</a:t>
            </a:r>
          </a:p>
          <a:p>
            <a:pPr marR="0" lvl="2" rtl="0">
              <a:buNone/>
            </a:pPr>
            <a:r>
              <a:rPr lang="en-US" sz="2500" b="1" i="1" baseline="0" dirty="0" err="1" smtClean="0">
                <a:solidFill>
                  <a:srgbClr val="4F81BD"/>
                </a:solidFill>
                <a:latin typeface="Cambria"/>
              </a:rPr>
              <a:t>int</a:t>
            </a:r>
            <a:r>
              <a:rPr lang="en-US" sz="2500" b="1" i="1" baseline="0" dirty="0" smtClean="0">
                <a:solidFill>
                  <a:srgbClr val="4F81BD"/>
                </a:solidFill>
                <a:latin typeface="Cambria"/>
              </a:rPr>
              <a:t> v=10;</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baseline="0" smtClean="0">
                <a:solidFill>
                  <a:srgbClr val="365F91"/>
                </a:solidFill>
                <a:latin typeface="Cambria"/>
              </a:rPr>
              <a:t>continue….</a:t>
            </a:r>
            <a:endParaRPr lang="en-US" b="1" baseline="0" smtClean="0">
              <a:solidFill>
                <a:srgbClr val="365F91"/>
              </a:solidFill>
              <a:latin typeface="Times New Roman"/>
            </a:endParaRPr>
          </a:p>
        </p:txBody>
      </p:sp>
      <p:sp>
        <p:nvSpPr>
          <p:cNvPr id="3" name="Text Placeholder 2"/>
          <p:cNvSpPr>
            <a:spLocks noGrp="1"/>
          </p:cNvSpPr>
          <p:nvPr>
            <p:ph type="body" idx="1"/>
          </p:nvPr>
        </p:nvSpPr>
        <p:spPr/>
        <p:txBody>
          <a:bodyPr/>
          <a:lstStyle/>
          <a:p>
            <a:pPr marR="0" lvl="0" rtl="0">
              <a:buNone/>
            </a:pPr>
            <a:r>
              <a:rPr lang="en-US" b="1" baseline="0" dirty="0" smtClean="0">
                <a:solidFill>
                  <a:srgbClr val="4F81BD"/>
                </a:solidFill>
                <a:latin typeface="Cambria"/>
              </a:rPr>
              <a:t>C ) extern variable</a:t>
            </a:r>
          </a:p>
          <a:p>
            <a:pPr marR="0" lvl="1" algn="just" rtl="0">
              <a:buNone/>
            </a:pPr>
            <a:r>
              <a:rPr lang="en-US" b="1" baseline="0" dirty="0" smtClean="0">
                <a:solidFill>
                  <a:srgbClr val="4F81BD"/>
                </a:solidFill>
                <a:latin typeface="Cambria"/>
              </a:rPr>
              <a:t>	This keyword is used to access variable in a file which is declared &amp; defined in some other file, that is the existence of a global variable in one file is declared using extern keyword in another file.</a:t>
            </a:r>
          </a:p>
          <a:p>
            <a:pPr marR="0" lvl="1" rtl="0"/>
            <a:endParaRPr lang="en-US" b="1" baseline="0" dirty="0" smtClean="0">
              <a:solidFill>
                <a:srgbClr val="4F81BD"/>
              </a:solidFill>
              <a:latin typeface="Times New Roman"/>
            </a:endParaRPr>
          </a:p>
          <a:p>
            <a:pPr marR="0" lvl="1" rtl="0"/>
            <a:endParaRPr lang="en-US" b="1" baseline="0" dirty="0" smtClean="0">
              <a:solidFill>
                <a:srgbClr val="4F81BD"/>
              </a:solidFill>
              <a:latin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pPr marR="0" rtl="0"/>
            <a:r>
              <a:rPr lang="en-US" b="1" baseline="0" dirty="0" smtClean="0">
                <a:solidFill>
                  <a:srgbClr val="365F91"/>
                </a:solidFill>
                <a:latin typeface="Cambria"/>
              </a:rPr>
              <a:t>Example :</a:t>
            </a:r>
            <a:endParaRPr lang="en-US" b="1" baseline="0" dirty="0" smtClean="0">
              <a:solidFill>
                <a:srgbClr val="365F91"/>
              </a:solidFill>
              <a:latin typeface="Times New Roman"/>
            </a:endParaRPr>
          </a:p>
        </p:txBody>
      </p:sp>
      <p:sp>
        <p:nvSpPr>
          <p:cNvPr id="3" name="Text Placeholder 2"/>
          <p:cNvSpPr>
            <a:spLocks noGrp="1"/>
          </p:cNvSpPr>
          <p:nvPr>
            <p:ph type="body" idx="1"/>
          </p:nvPr>
        </p:nvSpPr>
        <p:spPr>
          <a:xfrm>
            <a:off x="304800" y="609600"/>
            <a:ext cx="8610600" cy="6248400"/>
          </a:xfrm>
        </p:spPr>
        <p:txBody>
          <a:bodyPr>
            <a:normAutofit fontScale="62500" lnSpcReduction="20000"/>
          </a:bodyPr>
          <a:lstStyle/>
          <a:p>
            <a:pPr marR="0" lvl="0" rtl="0">
              <a:buNone/>
            </a:pPr>
            <a:r>
              <a:rPr lang="en-US" b="1" baseline="0" dirty="0" smtClean="0">
                <a:solidFill>
                  <a:srgbClr val="4F81BD"/>
                </a:solidFill>
                <a:latin typeface="Cambria"/>
              </a:rPr>
              <a:t>main.cpp</a:t>
            </a:r>
          </a:p>
          <a:p>
            <a:pPr marR="0" lvl="2" rtl="0">
              <a:buNone/>
            </a:pPr>
            <a:r>
              <a:rPr lang="en-US" b="1" i="1" baseline="0" dirty="0" smtClean="0">
                <a:solidFill>
                  <a:srgbClr val="4F81BD"/>
                </a:solidFill>
                <a:latin typeface="Cambria"/>
              </a:rPr>
              <a:t>#include&lt;</a:t>
            </a:r>
            <a:r>
              <a:rPr lang="en-US" b="1" i="1" baseline="0" dirty="0" err="1" smtClean="0">
                <a:solidFill>
                  <a:srgbClr val="4F81BD"/>
                </a:solidFill>
                <a:latin typeface="Cambria"/>
              </a:rPr>
              <a:t>iostream.h</a:t>
            </a:r>
            <a:r>
              <a:rPr lang="en-US" b="1" i="1" baseline="0" dirty="0" smtClean="0">
                <a:solidFill>
                  <a:srgbClr val="4F81BD"/>
                </a:solidFill>
                <a:latin typeface="Cambria"/>
              </a:rPr>
              <a:t>&gt;</a:t>
            </a:r>
          </a:p>
          <a:p>
            <a:pPr marR="0" lvl="2" rtl="0">
              <a:buNone/>
            </a:pPr>
            <a:r>
              <a:rPr lang="en-US" b="1" i="1" baseline="0" dirty="0" smtClean="0">
                <a:solidFill>
                  <a:srgbClr val="4F81BD"/>
                </a:solidFill>
                <a:latin typeface="Cambria"/>
              </a:rPr>
              <a:t>#include&lt;</a:t>
            </a:r>
            <a:r>
              <a:rPr lang="en-US" b="1" i="1" baseline="0" dirty="0" err="1" smtClean="0">
                <a:solidFill>
                  <a:srgbClr val="4F81BD"/>
                </a:solidFill>
                <a:latin typeface="Cambria"/>
              </a:rPr>
              <a:t>conio.h</a:t>
            </a:r>
            <a:r>
              <a:rPr lang="en-US" b="1" i="1" baseline="0" dirty="0" smtClean="0">
                <a:solidFill>
                  <a:srgbClr val="4F81BD"/>
                </a:solidFill>
                <a:latin typeface="Cambria"/>
              </a:rPr>
              <a:t>&gt;</a:t>
            </a:r>
          </a:p>
          <a:p>
            <a:pPr marR="0" lvl="2" rtl="0">
              <a:buNone/>
            </a:pPr>
            <a:r>
              <a:rPr lang="en-US" b="1" i="1" baseline="0" dirty="0" smtClean="0">
                <a:solidFill>
                  <a:srgbClr val="4F81BD"/>
                </a:solidFill>
                <a:latin typeface="Cambria"/>
              </a:rPr>
              <a:t>#</a:t>
            </a:r>
            <a:r>
              <a:rPr lang="en-US" b="1" i="1" baseline="0" dirty="0" err="1" smtClean="0">
                <a:solidFill>
                  <a:srgbClr val="4F81BD"/>
                </a:solidFill>
                <a:latin typeface="Cambria"/>
              </a:rPr>
              <a:t>include"external.cpp</a:t>
            </a:r>
            <a:r>
              <a:rPr lang="en-US" b="1" i="1" baseline="0" dirty="0" smtClean="0">
                <a:solidFill>
                  <a:srgbClr val="4F81BD"/>
                </a:solidFill>
                <a:latin typeface="Cambria"/>
              </a:rPr>
              <a:t>"</a:t>
            </a:r>
          </a:p>
          <a:p>
            <a:pPr marR="0" lvl="2" rtl="0">
              <a:buNone/>
            </a:pPr>
            <a:r>
              <a:rPr lang="en-US" b="1" i="1" baseline="0" dirty="0" err="1" smtClean="0">
                <a:solidFill>
                  <a:srgbClr val="4F81BD"/>
                </a:solidFill>
                <a:latin typeface="Cambria"/>
              </a:rPr>
              <a:t>int</a:t>
            </a:r>
            <a:r>
              <a:rPr lang="en-US" b="1" i="1" baseline="0" dirty="0" smtClean="0">
                <a:solidFill>
                  <a:srgbClr val="4F81BD"/>
                </a:solidFill>
                <a:latin typeface="Cambria"/>
              </a:rPr>
              <a:t> num=100;</a:t>
            </a:r>
          </a:p>
          <a:p>
            <a:pPr marR="0" lvl="2" rtl="0">
              <a:buNone/>
            </a:pPr>
            <a:r>
              <a:rPr lang="en-US" b="1" i="1" baseline="0" dirty="0" smtClean="0">
                <a:solidFill>
                  <a:srgbClr val="4F81BD"/>
                </a:solidFill>
                <a:latin typeface="Cambria"/>
              </a:rPr>
              <a:t>void main()</a:t>
            </a:r>
          </a:p>
          <a:p>
            <a:pPr marR="0" lvl="2" rtl="0">
              <a:buNone/>
            </a:pPr>
            <a:r>
              <a:rPr lang="en-US" b="1" i="1" baseline="0" dirty="0" smtClean="0">
                <a:solidFill>
                  <a:srgbClr val="4F81BD"/>
                </a:solidFill>
                <a:latin typeface="Cambria"/>
              </a:rPr>
              <a:t>{</a:t>
            </a:r>
          </a:p>
          <a:p>
            <a:pPr marR="0" lvl="2" rtl="0">
              <a:buNone/>
            </a:pPr>
            <a:r>
              <a:rPr lang="en-US" b="1" i="1" baseline="0" dirty="0" err="1" smtClean="0">
                <a:solidFill>
                  <a:srgbClr val="4F81BD"/>
                </a:solidFill>
                <a:latin typeface="Cambria"/>
              </a:rPr>
              <a:t>clrscr</a:t>
            </a:r>
            <a:r>
              <a:rPr lang="en-US" b="1" i="1" baseline="0" dirty="0" smtClean="0">
                <a:solidFill>
                  <a:srgbClr val="4F81BD"/>
                </a:solidFill>
                <a:latin typeface="Cambria"/>
              </a:rPr>
              <a:t>();</a:t>
            </a:r>
          </a:p>
          <a:p>
            <a:pPr marR="0" lvl="2" rtl="0">
              <a:buNone/>
            </a:pPr>
            <a:r>
              <a:rPr lang="en-US" b="1" i="1" baseline="0" dirty="0" err="1" smtClean="0">
                <a:solidFill>
                  <a:srgbClr val="4F81BD"/>
                </a:solidFill>
                <a:latin typeface="Cambria"/>
              </a:rPr>
              <a:t>cout</a:t>
            </a:r>
            <a:r>
              <a:rPr lang="en-US" b="1" i="1" baseline="0" dirty="0" smtClean="0">
                <a:solidFill>
                  <a:srgbClr val="4F81BD"/>
                </a:solidFill>
                <a:latin typeface="Cambria"/>
              </a:rPr>
              <a:t>&lt;&lt;" num before calling fun() function in Main "&lt;&lt;num&lt;&lt;</a:t>
            </a:r>
            <a:r>
              <a:rPr lang="en-US" b="1" i="1" baseline="0" dirty="0" err="1" smtClean="0">
                <a:solidFill>
                  <a:srgbClr val="4F81BD"/>
                </a:solidFill>
                <a:latin typeface="Cambria"/>
              </a:rPr>
              <a:t>endl</a:t>
            </a: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fun();</a:t>
            </a:r>
          </a:p>
          <a:p>
            <a:pPr marR="0" lvl="2" rtl="0">
              <a:buNone/>
            </a:pPr>
            <a:r>
              <a:rPr lang="en-US" b="1" i="1" baseline="0" dirty="0" err="1" smtClean="0">
                <a:solidFill>
                  <a:srgbClr val="4F81BD"/>
                </a:solidFill>
                <a:latin typeface="Cambria"/>
              </a:rPr>
              <a:t>cout</a:t>
            </a:r>
            <a:r>
              <a:rPr lang="en-US" b="1" i="1" baseline="0" dirty="0" smtClean="0">
                <a:solidFill>
                  <a:srgbClr val="4F81BD"/>
                </a:solidFill>
                <a:latin typeface="Cambria"/>
              </a:rPr>
              <a:t>&lt;&lt;" num after calling fun() function in Main "&lt;&lt;num&lt;&lt;</a:t>
            </a:r>
            <a:r>
              <a:rPr lang="en-US" b="1" i="1" baseline="0" dirty="0" err="1" smtClean="0">
                <a:solidFill>
                  <a:srgbClr val="4F81BD"/>
                </a:solidFill>
                <a:latin typeface="Cambria"/>
              </a:rPr>
              <a:t>endl</a:t>
            </a:r>
            <a:r>
              <a:rPr lang="en-US" b="1" i="1" baseline="0" dirty="0" smtClean="0">
                <a:solidFill>
                  <a:srgbClr val="4F81BD"/>
                </a:solidFill>
                <a:latin typeface="Cambria"/>
              </a:rPr>
              <a:t>;</a:t>
            </a:r>
          </a:p>
          <a:p>
            <a:pPr marR="0" lvl="2" rtl="0">
              <a:buNone/>
            </a:pPr>
            <a:r>
              <a:rPr lang="en-US" b="1" i="1" baseline="0" dirty="0" err="1" smtClean="0">
                <a:solidFill>
                  <a:srgbClr val="4F81BD"/>
                </a:solidFill>
                <a:latin typeface="Cambria"/>
              </a:rPr>
              <a:t>getch</a:t>
            </a: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a:t>
            </a:r>
          </a:p>
          <a:p>
            <a:pPr marR="0" lvl="0" rtl="0">
              <a:buNone/>
            </a:pPr>
            <a:r>
              <a:rPr lang="en-US" b="1" baseline="0" dirty="0" smtClean="0">
                <a:solidFill>
                  <a:srgbClr val="4F81BD"/>
                </a:solidFill>
                <a:latin typeface="Cambria"/>
              </a:rPr>
              <a:t>external.cpp</a:t>
            </a:r>
          </a:p>
          <a:p>
            <a:pPr marR="0" lvl="2" rtl="0">
              <a:buNone/>
            </a:pPr>
            <a:r>
              <a:rPr lang="en-US" b="1" i="1" baseline="0" dirty="0" smtClean="0">
                <a:solidFill>
                  <a:srgbClr val="4F81BD"/>
                </a:solidFill>
                <a:latin typeface="Cambria"/>
              </a:rPr>
              <a:t>#include&lt;</a:t>
            </a:r>
            <a:r>
              <a:rPr lang="en-US" b="1" i="1" baseline="0" dirty="0" err="1" smtClean="0">
                <a:solidFill>
                  <a:srgbClr val="4F81BD"/>
                </a:solidFill>
                <a:latin typeface="Cambria"/>
              </a:rPr>
              <a:t>iostream.h</a:t>
            </a:r>
            <a:r>
              <a:rPr lang="en-US" b="1" i="1" baseline="0" dirty="0" smtClean="0">
                <a:solidFill>
                  <a:srgbClr val="4F81BD"/>
                </a:solidFill>
                <a:latin typeface="Cambria"/>
              </a:rPr>
              <a:t>&gt;</a:t>
            </a:r>
          </a:p>
          <a:p>
            <a:pPr marR="0" lvl="2" rtl="0">
              <a:buNone/>
            </a:pPr>
            <a:r>
              <a:rPr lang="en-US" b="1" i="1" baseline="0" dirty="0" smtClean="0">
                <a:solidFill>
                  <a:srgbClr val="4F81BD"/>
                </a:solidFill>
                <a:latin typeface="Cambria"/>
              </a:rPr>
              <a:t>#include&lt;</a:t>
            </a:r>
            <a:r>
              <a:rPr lang="en-US" b="1" i="1" baseline="0" dirty="0" err="1" smtClean="0">
                <a:solidFill>
                  <a:srgbClr val="4F81BD"/>
                </a:solidFill>
                <a:latin typeface="Cambria"/>
              </a:rPr>
              <a:t>conio.h</a:t>
            </a:r>
            <a:r>
              <a:rPr lang="en-US" b="1" i="1" baseline="0" dirty="0" smtClean="0">
                <a:solidFill>
                  <a:srgbClr val="4F81BD"/>
                </a:solidFill>
                <a:latin typeface="Cambria"/>
              </a:rPr>
              <a:t>&gt;</a:t>
            </a:r>
          </a:p>
          <a:p>
            <a:pPr marR="0" lvl="2" rtl="0">
              <a:buNone/>
            </a:pPr>
            <a:r>
              <a:rPr lang="en-US" b="1" i="1" baseline="0" dirty="0" smtClean="0">
                <a:solidFill>
                  <a:srgbClr val="4F81BD"/>
                </a:solidFill>
                <a:latin typeface="Cambria"/>
              </a:rPr>
              <a:t>void fun();</a:t>
            </a:r>
          </a:p>
          <a:p>
            <a:pPr marR="0" lvl="2" rtl="0">
              <a:buNone/>
            </a:pPr>
            <a:r>
              <a:rPr lang="en-US" b="1" i="1" baseline="0" dirty="0" smtClean="0">
                <a:solidFill>
                  <a:srgbClr val="4F81BD"/>
                </a:solidFill>
                <a:latin typeface="Cambria"/>
              </a:rPr>
              <a:t>void fun()</a:t>
            </a:r>
          </a:p>
          <a:p>
            <a:pPr marR="0" lvl="2" rtl="0">
              <a:buNone/>
            </a:pP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extern num;</a:t>
            </a:r>
          </a:p>
          <a:p>
            <a:pPr marR="0" lvl="2" rtl="0">
              <a:buNone/>
            </a:pPr>
            <a:r>
              <a:rPr lang="en-US" b="1" i="1" baseline="0" dirty="0" smtClean="0">
                <a:solidFill>
                  <a:srgbClr val="4F81BD"/>
                </a:solidFill>
                <a:latin typeface="Cambria"/>
              </a:rPr>
              <a:t>num=100+200;  //change made in global variable</a:t>
            </a:r>
          </a:p>
          <a:p>
            <a:pPr marR="0" lvl="2" rtl="0">
              <a:buNone/>
            </a:pPr>
            <a:r>
              <a:rPr lang="en-US" b="1" i="1" baseline="0" dirty="0" err="1" smtClean="0">
                <a:solidFill>
                  <a:srgbClr val="4F81BD"/>
                </a:solidFill>
                <a:latin typeface="Cambria"/>
              </a:rPr>
              <a:t>cout</a:t>
            </a:r>
            <a:r>
              <a:rPr lang="en-US" b="1" i="1" baseline="0" dirty="0" smtClean="0">
                <a:solidFill>
                  <a:srgbClr val="4F81BD"/>
                </a:solidFill>
                <a:latin typeface="Cambria"/>
              </a:rPr>
              <a:t>&lt;&lt;"num in fun function of external file is: "&lt;&lt;num&lt;&lt;</a:t>
            </a:r>
            <a:r>
              <a:rPr lang="en-US" b="1" i="1" baseline="0" dirty="0" err="1" smtClean="0">
                <a:solidFill>
                  <a:srgbClr val="4F81BD"/>
                </a:solidFill>
                <a:latin typeface="Cambria"/>
              </a:rPr>
              <a:t>endl</a:t>
            </a: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a:t>
            </a:r>
          </a:p>
          <a:p>
            <a:pPr marR="0" lvl="2" rtl="0">
              <a:buNone/>
            </a:pPr>
            <a:r>
              <a:rPr lang="en-US" b="1" i="1" baseline="0" dirty="0" smtClean="0">
                <a:solidFill>
                  <a:srgbClr val="4F81BD"/>
                </a:solidFill>
                <a:latin typeface="Cambria"/>
              </a:rPr>
              <a:t>O/P : num before calling fun() function in Main 300</a:t>
            </a:r>
          </a:p>
          <a:p>
            <a:pPr marR="0" lvl="2" rtl="0">
              <a:buNone/>
            </a:pPr>
            <a:r>
              <a:rPr lang="en-US" b="1" i="1" baseline="0" dirty="0" smtClean="0">
                <a:solidFill>
                  <a:srgbClr val="4F81BD"/>
                </a:solidFill>
                <a:latin typeface="Cambria"/>
              </a:rPr>
              <a:t>           num in fun function of external file is:</a:t>
            </a:r>
          </a:p>
          <a:p>
            <a:pPr marR="0" lvl="2" rtl="0">
              <a:buNone/>
            </a:pPr>
            <a:r>
              <a:rPr lang="en-US" b="1" i="1" baseline="0" dirty="0" smtClean="0">
                <a:solidFill>
                  <a:srgbClr val="4F81BD"/>
                </a:solidFill>
                <a:latin typeface="Cambria"/>
              </a:rPr>
              <a:t>           num after calling fun() function in Main 300</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pPr marR="0" rtl="0"/>
            <a:r>
              <a:rPr lang="en-US" b="1" baseline="0" dirty="0" err="1" smtClean="0">
                <a:solidFill>
                  <a:srgbClr val="365F91"/>
                </a:solidFill>
                <a:latin typeface="Cambria"/>
              </a:rPr>
              <a:t>sizeof</a:t>
            </a:r>
            <a:r>
              <a:rPr lang="en-US" b="1" baseline="0" dirty="0" smtClean="0">
                <a:solidFill>
                  <a:srgbClr val="365F91"/>
                </a:solidFill>
                <a:latin typeface="Cambria"/>
              </a:rPr>
              <a:t> and </a:t>
            </a:r>
            <a:r>
              <a:rPr lang="en-US" b="1" baseline="0" dirty="0" err="1" smtClean="0">
                <a:solidFill>
                  <a:srgbClr val="365F91"/>
                </a:solidFill>
                <a:latin typeface="Cambria"/>
              </a:rPr>
              <a:t>typedef</a:t>
            </a:r>
            <a:r>
              <a:rPr lang="en-US" b="1" baseline="0" dirty="0" smtClean="0">
                <a:solidFill>
                  <a:srgbClr val="365F91"/>
                </a:solidFill>
                <a:latin typeface="Cambria"/>
              </a:rPr>
              <a:t> in  </a:t>
            </a:r>
            <a:r>
              <a:rPr lang="en-US" b="1" baseline="0" dirty="0" err="1" smtClean="0">
                <a:solidFill>
                  <a:srgbClr val="365F91"/>
                </a:solidFill>
                <a:latin typeface="Cambria"/>
              </a:rPr>
              <a:t>c++</a:t>
            </a:r>
            <a:endParaRPr lang="en-US" b="1" baseline="0" dirty="0" smtClean="0">
              <a:solidFill>
                <a:srgbClr val="365F91"/>
              </a:solidFill>
              <a:latin typeface="Cambria"/>
            </a:endParaRPr>
          </a:p>
        </p:txBody>
      </p:sp>
      <p:sp>
        <p:nvSpPr>
          <p:cNvPr id="3" name="Text Placeholder 2"/>
          <p:cNvSpPr>
            <a:spLocks noGrp="1"/>
          </p:cNvSpPr>
          <p:nvPr>
            <p:ph type="body" idx="1"/>
          </p:nvPr>
        </p:nvSpPr>
        <p:spPr>
          <a:xfrm>
            <a:off x="228600" y="990600"/>
            <a:ext cx="8458200" cy="3581401"/>
          </a:xfrm>
        </p:spPr>
        <p:txBody>
          <a:bodyPr>
            <a:normAutofit fontScale="92500"/>
          </a:bodyPr>
          <a:lstStyle/>
          <a:p>
            <a:pPr marR="0" lvl="0" rtl="0">
              <a:buNone/>
            </a:pPr>
            <a:r>
              <a:rPr lang="en-US" b="1" baseline="0" dirty="0" smtClean="0">
                <a:solidFill>
                  <a:srgbClr val="4F81BD"/>
                </a:solidFill>
                <a:latin typeface="Cambria"/>
              </a:rPr>
              <a:t>a) </a:t>
            </a:r>
            <a:r>
              <a:rPr lang="en-US" b="1" baseline="0" dirty="0" err="1" smtClean="0">
                <a:solidFill>
                  <a:srgbClr val="4F81BD"/>
                </a:solidFill>
                <a:latin typeface="Cambria"/>
              </a:rPr>
              <a:t>sizeof</a:t>
            </a:r>
            <a:r>
              <a:rPr lang="en-US" b="1" baseline="0" dirty="0" smtClean="0">
                <a:solidFill>
                  <a:srgbClr val="4F81BD"/>
                </a:solidFill>
                <a:latin typeface="Cambria"/>
              </a:rPr>
              <a:t> operator</a:t>
            </a:r>
          </a:p>
          <a:p>
            <a:pPr marR="0" lvl="1" algn="just" rtl="0">
              <a:buFont typeface="Wingdings" pitchFamily="2" charset="2"/>
              <a:buChar char="Ø"/>
            </a:pPr>
            <a:r>
              <a:rPr lang="en-US" b="1" baseline="0" dirty="0" err="1" smtClean="0">
                <a:solidFill>
                  <a:srgbClr val="4F81BD"/>
                </a:solidFill>
                <a:latin typeface="Cambria"/>
              </a:rPr>
              <a:t>sizeOf</a:t>
            </a:r>
            <a:r>
              <a:rPr lang="en-US" b="1" baseline="0" dirty="0" smtClean="0">
                <a:solidFill>
                  <a:srgbClr val="4F81BD"/>
                </a:solidFill>
                <a:latin typeface="Cambria"/>
              </a:rPr>
              <a:t> is also an operator not a function, it is used to get information about the amount of memory allocated for data types &amp; Objects. It can be used to get size of user defined data types too.</a:t>
            </a:r>
          </a:p>
          <a:p>
            <a:pPr marR="0" lvl="1" algn="just" rtl="0">
              <a:buFont typeface="Wingdings" pitchFamily="2" charset="2"/>
              <a:buChar char="Ø"/>
            </a:pPr>
            <a:r>
              <a:rPr lang="en-US" b="1" baseline="0" dirty="0" err="1" smtClean="0">
                <a:solidFill>
                  <a:srgbClr val="4F81BD"/>
                </a:solidFill>
                <a:latin typeface="Cambria"/>
              </a:rPr>
              <a:t>sizeOf</a:t>
            </a:r>
            <a:r>
              <a:rPr lang="en-US" b="1" baseline="0" dirty="0" smtClean="0">
                <a:solidFill>
                  <a:srgbClr val="4F81BD"/>
                </a:solidFill>
                <a:latin typeface="Cambria"/>
              </a:rPr>
              <a:t> operator can be used with and without parentheses. If you apply it to a variable you can use it without parentheses.</a:t>
            </a:r>
          </a:p>
        </p:txBody>
      </p:sp>
      <p:sp>
        <p:nvSpPr>
          <p:cNvPr id="4097" name="Rectangle 1"/>
          <p:cNvSpPr>
            <a:spLocks noChangeArrowheads="1"/>
          </p:cNvSpPr>
          <p:nvPr/>
        </p:nvSpPr>
        <p:spPr bwMode="auto">
          <a:xfrm>
            <a:off x="609600" y="4826854"/>
            <a:ext cx="8001000"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accent1">
                    <a:lumMod val="75000"/>
                  </a:schemeClr>
                </a:solidFill>
                <a:effectLst/>
                <a:latin typeface="Cambria" pitchFamily="18" charset="0"/>
                <a:ea typeface="Calibri" pitchFamily="34" charset="0"/>
                <a:cs typeface="Times New Roman" pitchFamily="18" charset="0"/>
              </a:rPr>
              <a:t>EXAMPLE :</a:t>
            </a:r>
            <a:endParaRPr kumimoji="0" lang="en-US" sz="2400" b="0" i="0" u="none" strike="noStrike" cap="none" normalizeH="0" baseline="0" dirty="0" smtClean="0">
              <a:ln>
                <a:noFill/>
              </a:ln>
              <a:solidFill>
                <a:schemeClr val="accent1">
                  <a:lumMod val="75000"/>
                </a:schemeClr>
              </a:solidFill>
              <a:effectLst/>
              <a:latin typeface="Cambria"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accent1">
                    <a:lumMod val="75000"/>
                  </a:schemeClr>
                </a:solidFill>
                <a:effectLst/>
                <a:latin typeface="Cambria" pitchFamily="18" charset="0"/>
                <a:ea typeface="Calibri" pitchFamily="34" charset="0"/>
                <a:cs typeface="Times New Roman" pitchFamily="18" charset="0"/>
              </a:rPr>
              <a:t>	</a:t>
            </a:r>
            <a:r>
              <a:rPr kumimoji="0" lang="en-US" sz="2400" b="1" i="0" u="none" strike="noStrike" cap="none" normalizeH="0" baseline="0" dirty="0" err="1" smtClean="0">
                <a:ln>
                  <a:noFill/>
                </a:ln>
                <a:solidFill>
                  <a:schemeClr val="accent1">
                    <a:lumMod val="75000"/>
                  </a:schemeClr>
                </a:solidFill>
                <a:effectLst/>
                <a:latin typeface="Cambria" pitchFamily="18" charset="0"/>
                <a:ea typeface="Calibri" pitchFamily="34" charset="0"/>
                <a:cs typeface="Times New Roman" pitchFamily="18" charset="0"/>
              </a:rPr>
              <a:t>cout</a:t>
            </a:r>
            <a:r>
              <a:rPr kumimoji="0" lang="en-US" sz="2400" b="1" i="0" u="none" strike="noStrike" cap="none" normalizeH="0" baseline="0" dirty="0" smtClean="0">
                <a:ln>
                  <a:noFill/>
                </a:ln>
                <a:solidFill>
                  <a:schemeClr val="accent1">
                    <a:lumMod val="75000"/>
                  </a:schemeClr>
                </a:solidFill>
                <a:effectLst/>
                <a:latin typeface="Cambria" pitchFamily="18" charset="0"/>
                <a:ea typeface="Calibri" pitchFamily="34" charset="0"/>
                <a:cs typeface="Times New Roman" pitchFamily="18" charset="0"/>
              </a:rPr>
              <a:t> &lt;&lt; </a:t>
            </a:r>
            <a:r>
              <a:rPr kumimoji="0" lang="en-US" sz="2400" b="1" i="0" u="none" strike="noStrike" cap="none" normalizeH="0" baseline="0" dirty="0" err="1" smtClean="0">
                <a:ln>
                  <a:noFill/>
                </a:ln>
                <a:solidFill>
                  <a:schemeClr val="accent1">
                    <a:lumMod val="75000"/>
                  </a:schemeClr>
                </a:solidFill>
                <a:effectLst/>
                <a:latin typeface="Cambria" pitchFamily="18" charset="0"/>
                <a:ea typeface="Calibri" pitchFamily="34" charset="0"/>
                <a:cs typeface="Times New Roman" pitchFamily="18" charset="0"/>
              </a:rPr>
              <a:t>sizeOf</a:t>
            </a:r>
            <a:r>
              <a:rPr kumimoji="0" lang="en-US" sz="2400" b="1" i="0" u="none" strike="noStrike" cap="none" normalizeH="0" baseline="0" dirty="0" smtClean="0">
                <a:ln>
                  <a:noFill/>
                </a:ln>
                <a:solidFill>
                  <a:schemeClr val="accent1">
                    <a:lumMod val="75000"/>
                  </a:schemeClr>
                </a:solidFill>
                <a:effectLst/>
                <a:latin typeface="Cambria" pitchFamily="18" charset="0"/>
                <a:ea typeface="Calibri" pitchFamily="34" charset="0"/>
                <a:cs typeface="Times New Roman" pitchFamily="18" charset="0"/>
              </a:rPr>
              <a:t>(double);   </a:t>
            </a:r>
            <a:r>
              <a:rPr kumimoji="0" lang="en-US" sz="2000" b="1" i="0" u="none" strike="noStrike" cap="none" normalizeH="0" baseline="0" dirty="0" smtClean="0">
                <a:ln>
                  <a:noFill/>
                </a:ln>
                <a:solidFill>
                  <a:srgbClr val="C00000"/>
                </a:solidFill>
                <a:effectLst/>
                <a:latin typeface="Cambria" pitchFamily="18" charset="0"/>
                <a:ea typeface="Calibri" pitchFamily="34" charset="0"/>
                <a:cs typeface="Times New Roman" pitchFamily="18" charset="0"/>
              </a:rPr>
              <a:t>//Will print size of double</a:t>
            </a:r>
            <a:endParaRPr kumimoji="0" lang="en-US" sz="2000" b="0" i="0" u="none" strike="noStrike" cap="none" normalizeH="0" baseline="0" dirty="0" smtClean="0">
              <a:ln>
                <a:noFill/>
              </a:ln>
              <a:solidFill>
                <a:srgbClr val="C00000"/>
              </a:solidFill>
              <a:effectLst/>
              <a:latin typeface="Cambria"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accent1">
                    <a:lumMod val="75000"/>
                  </a:schemeClr>
                </a:solidFill>
                <a:effectLst/>
                <a:latin typeface="Cambria" pitchFamily="18" charset="0"/>
                <a:ea typeface="Calibri" pitchFamily="34" charset="0"/>
                <a:cs typeface="Times New Roman" pitchFamily="18" charset="0"/>
              </a:rPr>
              <a:t>	</a:t>
            </a:r>
            <a:r>
              <a:rPr kumimoji="0" lang="en-US" sz="2400" b="1" i="0" u="none" strike="noStrike" cap="none" normalizeH="0" baseline="0" dirty="0" err="1" smtClean="0">
                <a:ln>
                  <a:noFill/>
                </a:ln>
                <a:solidFill>
                  <a:schemeClr val="accent1">
                    <a:lumMod val="75000"/>
                  </a:schemeClr>
                </a:solidFill>
                <a:effectLst/>
                <a:latin typeface="Cambria" pitchFamily="18" charset="0"/>
                <a:ea typeface="Calibri" pitchFamily="34" charset="0"/>
                <a:cs typeface="Times New Roman" pitchFamily="18" charset="0"/>
              </a:rPr>
              <a:t>int</a:t>
            </a:r>
            <a:r>
              <a:rPr kumimoji="0" lang="en-US" sz="2400" b="1" i="0" u="none" strike="noStrike" cap="none" normalizeH="0" baseline="0" dirty="0" smtClean="0">
                <a:ln>
                  <a:noFill/>
                </a:ln>
                <a:solidFill>
                  <a:schemeClr val="accent1">
                    <a:lumMod val="75000"/>
                  </a:schemeClr>
                </a:solidFill>
                <a:effectLst/>
                <a:latin typeface="Cambria" pitchFamily="18" charset="0"/>
                <a:ea typeface="Calibri" pitchFamily="34" charset="0"/>
                <a:cs typeface="Times New Roman" pitchFamily="18" charset="0"/>
              </a:rPr>
              <a:t> x = 2;</a:t>
            </a:r>
            <a:endParaRPr kumimoji="0" lang="en-US" sz="2400" b="0" i="0" u="none" strike="noStrike" cap="none" normalizeH="0" baseline="0" dirty="0" smtClean="0">
              <a:ln>
                <a:noFill/>
              </a:ln>
              <a:solidFill>
                <a:schemeClr val="accent1">
                  <a:lumMod val="75000"/>
                </a:schemeClr>
              </a:solidFill>
              <a:effectLst/>
              <a:latin typeface="Cambria"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accent1">
                    <a:lumMod val="75000"/>
                  </a:schemeClr>
                </a:solidFill>
                <a:effectLst/>
                <a:latin typeface="Cambria" pitchFamily="18" charset="0"/>
                <a:ea typeface="Calibri" pitchFamily="34" charset="0"/>
                <a:cs typeface="Times New Roman" pitchFamily="18" charset="0"/>
              </a:rPr>
              <a:t>	</a:t>
            </a:r>
            <a:r>
              <a:rPr kumimoji="0" lang="en-US" sz="2400" b="1" i="0" u="none" strike="noStrike" cap="none" normalizeH="0" baseline="0" dirty="0" err="1" smtClean="0">
                <a:ln>
                  <a:noFill/>
                </a:ln>
                <a:solidFill>
                  <a:schemeClr val="accent1">
                    <a:lumMod val="75000"/>
                  </a:schemeClr>
                </a:solidFill>
                <a:effectLst/>
                <a:latin typeface="Cambria" pitchFamily="18" charset="0"/>
                <a:ea typeface="Calibri" pitchFamily="34" charset="0"/>
                <a:cs typeface="Times New Roman" pitchFamily="18" charset="0"/>
              </a:rPr>
              <a:t>int</a:t>
            </a:r>
            <a:r>
              <a:rPr kumimoji="0" lang="en-US" sz="2400" b="1" i="0" u="none" strike="noStrike" cap="none" normalizeH="0" baseline="0" dirty="0" smtClean="0">
                <a:ln>
                  <a:noFill/>
                </a:ln>
                <a:solidFill>
                  <a:schemeClr val="accent1">
                    <a:lumMod val="75000"/>
                  </a:schemeClr>
                </a:solidFill>
                <a:effectLst/>
                <a:latin typeface="Cambria" pitchFamily="18" charset="0"/>
                <a:ea typeface="Calibri" pitchFamily="34" charset="0"/>
                <a:cs typeface="Times New Roman" pitchFamily="18" charset="0"/>
              </a:rPr>
              <a:t> </a:t>
            </a:r>
            <a:r>
              <a:rPr kumimoji="0" lang="en-US" sz="2400" b="1" i="0" u="none" strike="noStrike" cap="none" normalizeH="0" baseline="0" dirty="0" err="1" smtClean="0">
                <a:ln>
                  <a:noFill/>
                </a:ln>
                <a:solidFill>
                  <a:schemeClr val="accent1">
                    <a:lumMod val="75000"/>
                  </a:schemeClr>
                </a:solidFill>
                <a:effectLst/>
                <a:latin typeface="Cambria" pitchFamily="18" charset="0"/>
                <a:ea typeface="Calibri" pitchFamily="34" charset="0"/>
                <a:cs typeface="Times New Roman" pitchFamily="18" charset="0"/>
              </a:rPr>
              <a:t>i</a:t>
            </a:r>
            <a:r>
              <a:rPr kumimoji="0" lang="en-US" sz="2400" b="1" i="0" u="none" strike="noStrike" cap="none" normalizeH="0" baseline="0" dirty="0" smtClean="0">
                <a:ln>
                  <a:noFill/>
                </a:ln>
                <a:solidFill>
                  <a:schemeClr val="accent1">
                    <a:lumMod val="75000"/>
                  </a:schemeClr>
                </a:solidFill>
                <a:effectLst/>
                <a:latin typeface="Cambria" pitchFamily="18" charset="0"/>
                <a:ea typeface="Calibri" pitchFamily="34" charset="0"/>
                <a:cs typeface="Times New Roman" pitchFamily="18" charset="0"/>
              </a:rPr>
              <a:t> = </a:t>
            </a:r>
            <a:r>
              <a:rPr kumimoji="0" lang="en-US" sz="2400" b="1" i="0" u="none" strike="noStrike" cap="none" normalizeH="0" baseline="0" dirty="0" err="1" smtClean="0">
                <a:ln>
                  <a:noFill/>
                </a:ln>
                <a:solidFill>
                  <a:schemeClr val="accent1">
                    <a:lumMod val="75000"/>
                  </a:schemeClr>
                </a:solidFill>
                <a:effectLst/>
                <a:latin typeface="Cambria" pitchFamily="18" charset="0"/>
                <a:ea typeface="Calibri" pitchFamily="34" charset="0"/>
                <a:cs typeface="Times New Roman" pitchFamily="18" charset="0"/>
              </a:rPr>
              <a:t>sizeOf</a:t>
            </a:r>
            <a:r>
              <a:rPr kumimoji="0" lang="en-US" sz="2400" b="1" i="0" u="none" strike="noStrike" cap="none" normalizeH="0" baseline="0" dirty="0" smtClean="0">
                <a:ln>
                  <a:noFill/>
                </a:ln>
                <a:solidFill>
                  <a:schemeClr val="accent1">
                    <a:lumMod val="75000"/>
                  </a:schemeClr>
                </a:solidFill>
                <a:effectLst/>
                <a:latin typeface="Cambria" pitchFamily="18" charset="0"/>
                <a:ea typeface="Calibri" pitchFamily="34" charset="0"/>
                <a:cs typeface="Times New Roman" pitchFamily="18" charset="0"/>
              </a:rPr>
              <a:t> x;</a:t>
            </a:r>
            <a:endParaRPr kumimoji="0" lang="en-US" sz="2400" b="0" i="0" u="none" strike="noStrike" cap="none" normalizeH="0" baseline="0" dirty="0" smtClean="0">
              <a:ln>
                <a:noFill/>
              </a:ln>
              <a:solidFill>
                <a:schemeClr val="accent1">
                  <a:lumMod val="75000"/>
                </a:schemeClr>
              </a:solidFill>
              <a:effectLst/>
              <a:latin typeface="Cambria" pitchFamily="18" charset="0"/>
              <a:cs typeface="Arial" pitchFamily="34"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457200"/>
            <a:ext cx="8229600" cy="5668963"/>
          </a:xfrm>
        </p:spPr>
        <p:txBody>
          <a:bodyPr/>
          <a:lstStyle/>
          <a:p>
            <a:pPr marR="0" lvl="0" algn="just" rtl="0">
              <a:buNone/>
            </a:pPr>
            <a:r>
              <a:rPr lang="en-US" b="1" baseline="0" dirty="0" smtClean="0">
                <a:solidFill>
                  <a:srgbClr val="4F81BD"/>
                </a:solidFill>
                <a:latin typeface="Cambria"/>
              </a:rPr>
              <a:t>b) </a:t>
            </a:r>
            <a:r>
              <a:rPr lang="en-US" b="1" baseline="0" dirty="0" err="1" smtClean="0">
                <a:solidFill>
                  <a:srgbClr val="4F81BD"/>
                </a:solidFill>
                <a:latin typeface="Cambria"/>
              </a:rPr>
              <a:t>typedef</a:t>
            </a:r>
            <a:r>
              <a:rPr lang="en-US" b="1" baseline="0" dirty="0" smtClean="0">
                <a:solidFill>
                  <a:srgbClr val="4F81BD"/>
                </a:solidFill>
                <a:latin typeface="Cambria"/>
              </a:rPr>
              <a:t> Operator</a:t>
            </a:r>
          </a:p>
          <a:p>
            <a:pPr marR="0" lvl="0" algn="just" rtl="0">
              <a:buNone/>
            </a:pPr>
            <a:endParaRPr lang="en-US" b="1" baseline="0" dirty="0" smtClean="0">
              <a:solidFill>
                <a:srgbClr val="4F81BD"/>
              </a:solidFill>
              <a:latin typeface="Cambria"/>
            </a:endParaRPr>
          </a:p>
          <a:p>
            <a:pPr marL="1028700" marR="0" lvl="1" indent="-571500" algn="just" rtl="0">
              <a:buNone/>
            </a:pPr>
            <a:r>
              <a:rPr lang="en-US" sz="2400" b="1" baseline="0" dirty="0" smtClean="0">
                <a:solidFill>
                  <a:schemeClr val="accent1">
                    <a:lumMod val="75000"/>
                  </a:schemeClr>
                </a:solidFill>
                <a:latin typeface="Cambria" pitchFamily="18" charset="0"/>
              </a:rPr>
              <a:t>a) </a:t>
            </a:r>
            <a:r>
              <a:rPr lang="en-US" sz="2400" b="1" baseline="0" dirty="0" err="1" smtClean="0">
                <a:solidFill>
                  <a:schemeClr val="accent1">
                    <a:lumMod val="75000"/>
                  </a:schemeClr>
                </a:solidFill>
                <a:latin typeface="Cambria" pitchFamily="18" charset="0"/>
              </a:rPr>
              <a:t>typedef</a:t>
            </a:r>
            <a:r>
              <a:rPr lang="en-US" sz="2400" baseline="0" dirty="0" smtClean="0">
                <a:solidFill>
                  <a:schemeClr val="accent1">
                    <a:lumMod val="75000"/>
                  </a:schemeClr>
                </a:solidFill>
                <a:latin typeface="Cambria" pitchFamily="18" charset="0"/>
              </a:rPr>
              <a:t> is a keyword used in C/C++ language to assign alternative names to existing types. Its mostly used with user defined data types, when names of data types get slightly complicated.</a:t>
            </a:r>
          </a:p>
          <a:p>
            <a:pPr marL="0" lvl="0" indent="0" algn="just" fontAlgn="base">
              <a:spcBef>
                <a:spcPct val="0"/>
              </a:spcBef>
              <a:spcAft>
                <a:spcPct val="0"/>
              </a:spcAft>
              <a:buNone/>
            </a:pPr>
            <a:r>
              <a:rPr lang="en-US" sz="2400" b="1" dirty="0" smtClean="0">
                <a:solidFill>
                  <a:schemeClr val="accent1">
                    <a:lumMod val="75000"/>
                  </a:schemeClr>
                </a:solidFill>
                <a:latin typeface="Cambria" pitchFamily="18" charset="0"/>
                <a:ea typeface="Times New Roman" pitchFamily="18" charset="0"/>
                <a:cs typeface="Times New Roman" pitchFamily="18" charset="0"/>
              </a:rPr>
              <a:t> 	</a:t>
            </a:r>
          </a:p>
          <a:p>
            <a:pPr marL="0" lvl="0" indent="0" algn="just" fontAlgn="base">
              <a:spcBef>
                <a:spcPct val="0"/>
              </a:spcBef>
              <a:spcAft>
                <a:spcPct val="0"/>
              </a:spcAft>
              <a:buNone/>
            </a:pPr>
            <a:r>
              <a:rPr lang="en-US" sz="2400" b="1" dirty="0" smtClean="0">
                <a:solidFill>
                  <a:schemeClr val="accent1">
                    <a:lumMod val="75000"/>
                  </a:schemeClr>
                </a:solidFill>
                <a:latin typeface="Cambria" pitchFamily="18" charset="0"/>
                <a:ea typeface="Times New Roman" pitchFamily="18" charset="0"/>
                <a:cs typeface="Times New Roman" pitchFamily="18" charset="0"/>
              </a:rPr>
              <a:t>	Syntax :</a:t>
            </a:r>
            <a:r>
              <a:rPr lang="en-US" sz="2400" dirty="0" smtClean="0">
                <a:solidFill>
                  <a:schemeClr val="accent1">
                    <a:lumMod val="75000"/>
                  </a:schemeClr>
                </a:solidFill>
                <a:latin typeface="Cambria" pitchFamily="18" charset="0"/>
                <a:ea typeface="Times New Roman" pitchFamily="18" charset="0"/>
                <a:cs typeface="Courier New" pitchFamily="49" charset="0"/>
              </a:rPr>
              <a:t> </a:t>
            </a:r>
          </a:p>
          <a:p>
            <a:pPr marL="0" lvl="0" indent="0" algn="just" fontAlgn="base">
              <a:spcBef>
                <a:spcPct val="0"/>
              </a:spcBef>
              <a:spcAft>
                <a:spcPct val="0"/>
              </a:spcAft>
              <a:buNone/>
            </a:pPr>
            <a:r>
              <a:rPr lang="en-US" sz="2400" b="1" dirty="0" smtClean="0">
                <a:solidFill>
                  <a:schemeClr val="accent1">
                    <a:lumMod val="75000"/>
                  </a:schemeClr>
                </a:solidFill>
                <a:latin typeface="Cambria" pitchFamily="18" charset="0"/>
                <a:ea typeface="Times New Roman" pitchFamily="18" charset="0"/>
                <a:cs typeface="Courier New" pitchFamily="49" charset="0"/>
              </a:rPr>
              <a:t>	</a:t>
            </a:r>
            <a:r>
              <a:rPr lang="en-US" sz="2400" b="1" dirty="0" err="1" smtClean="0">
                <a:solidFill>
                  <a:schemeClr val="accent1">
                    <a:lumMod val="75000"/>
                  </a:schemeClr>
                </a:solidFill>
                <a:latin typeface="Cambria" pitchFamily="18" charset="0"/>
                <a:ea typeface="Times New Roman" pitchFamily="18" charset="0"/>
                <a:cs typeface="Consolas" pitchFamily="49" charset="0"/>
              </a:rPr>
              <a:t>typedef</a:t>
            </a:r>
            <a:r>
              <a:rPr lang="en-US" sz="2400" dirty="0" smtClean="0">
                <a:solidFill>
                  <a:schemeClr val="accent1">
                    <a:lumMod val="75000"/>
                  </a:schemeClr>
                </a:solidFill>
                <a:latin typeface="Cambria" pitchFamily="18" charset="0"/>
                <a:ea typeface="Times New Roman" pitchFamily="18" charset="0"/>
                <a:cs typeface="Consolas" pitchFamily="49" charset="0"/>
              </a:rPr>
              <a:t> </a:t>
            </a:r>
            <a:r>
              <a:rPr lang="en-US" sz="2400" i="1" dirty="0" err="1" smtClean="0">
                <a:solidFill>
                  <a:schemeClr val="accent1">
                    <a:lumMod val="75000"/>
                  </a:schemeClr>
                </a:solidFill>
                <a:latin typeface="Cambria" pitchFamily="18" charset="0"/>
                <a:ea typeface="Times New Roman" pitchFamily="18" charset="0"/>
                <a:cs typeface="Consolas" pitchFamily="49" charset="0"/>
              </a:rPr>
              <a:t>existing_name</a:t>
            </a:r>
            <a:r>
              <a:rPr lang="en-US" sz="2400" dirty="0" smtClean="0">
                <a:solidFill>
                  <a:schemeClr val="accent1">
                    <a:lumMod val="75000"/>
                  </a:schemeClr>
                </a:solidFill>
                <a:latin typeface="Cambria" pitchFamily="18" charset="0"/>
                <a:ea typeface="Times New Roman" pitchFamily="18" charset="0"/>
                <a:cs typeface="Consolas" pitchFamily="49" charset="0"/>
              </a:rPr>
              <a:t> </a:t>
            </a:r>
            <a:r>
              <a:rPr lang="en-US" sz="2400" i="1" dirty="0" err="1" smtClean="0">
                <a:solidFill>
                  <a:schemeClr val="accent1">
                    <a:lumMod val="75000"/>
                  </a:schemeClr>
                </a:solidFill>
                <a:latin typeface="Cambria" pitchFamily="18" charset="0"/>
                <a:ea typeface="Times New Roman" pitchFamily="18" charset="0"/>
                <a:cs typeface="Consolas" pitchFamily="49" charset="0"/>
              </a:rPr>
              <a:t>alias_name</a:t>
            </a:r>
            <a:r>
              <a:rPr lang="en-US" sz="2400" dirty="0" smtClean="0">
                <a:solidFill>
                  <a:schemeClr val="accent1">
                    <a:lumMod val="75000"/>
                  </a:schemeClr>
                </a:solidFill>
                <a:latin typeface="Cambria" pitchFamily="18" charset="0"/>
                <a:cs typeface="Arial" pitchFamily="34" charset="0"/>
              </a:rPr>
              <a:t> </a:t>
            </a:r>
          </a:p>
          <a:p>
            <a:pPr marL="0" lvl="0" indent="0" algn="just" eaLnBrk="0" fontAlgn="base" hangingPunct="0">
              <a:spcBef>
                <a:spcPct val="0"/>
              </a:spcBef>
              <a:spcAft>
                <a:spcPct val="0"/>
              </a:spcAft>
              <a:buNone/>
            </a:pPr>
            <a:r>
              <a:rPr lang="en-US" sz="2400" b="1" dirty="0" smtClean="0">
                <a:solidFill>
                  <a:schemeClr val="accent1">
                    <a:lumMod val="75000"/>
                  </a:schemeClr>
                </a:solidFill>
                <a:latin typeface="Cambria" pitchFamily="18" charset="0"/>
                <a:ea typeface="Calibri" pitchFamily="34" charset="0"/>
                <a:cs typeface="Times New Roman" pitchFamily="18" charset="0"/>
              </a:rPr>
              <a:t> 	 </a:t>
            </a:r>
          </a:p>
          <a:p>
            <a:pPr marL="0" lvl="0" indent="0" algn="just" eaLnBrk="0" fontAlgn="base" hangingPunct="0">
              <a:spcBef>
                <a:spcPct val="0"/>
              </a:spcBef>
              <a:spcAft>
                <a:spcPct val="0"/>
              </a:spcAft>
              <a:buNone/>
            </a:pPr>
            <a:r>
              <a:rPr lang="en-US" sz="2400" b="1" dirty="0" smtClean="0">
                <a:solidFill>
                  <a:schemeClr val="accent1">
                    <a:lumMod val="75000"/>
                  </a:schemeClr>
                </a:solidFill>
                <a:latin typeface="Cambria" pitchFamily="18" charset="0"/>
                <a:ea typeface="Calibri" pitchFamily="34" charset="0"/>
                <a:cs typeface="Times New Roman" pitchFamily="18" charset="0"/>
              </a:rPr>
              <a:t>	Example: </a:t>
            </a:r>
            <a:endParaRPr lang="en-US" sz="2400" dirty="0" smtClean="0">
              <a:solidFill>
                <a:schemeClr val="accent1">
                  <a:lumMod val="75000"/>
                </a:schemeClr>
              </a:solidFill>
              <a:latin typeface="Cambria" pitchFamily="18" charset="0"/>
              <a:cs typeface="Arial" pitchFamily="34" charset="0"/>
            </a:endParaRPr>
          </a:p>
          <a:p>
            <a:pPr marL="0" lvl="0" indent="0" algn="just" eaLnBrk="0" fontAlgn="base" hangingPunct="0">
              <a:spcBef>
                <a:spcPct val="0"/>
              </a:spcBef>
              <a:spcAft>
                <a:spcPct val="0"/>
              </a:spcAft>
              <a:buNone/>
            </a:pPr>
            <a:r>
              <a:rPr lang="en-US" sz="2400" b="1" dirty="0" smtClean="0">
                <a:solidFill>
                  <a:schemeClr val="accent1">
                    <a:lumMod val="75000"/>
                  </a:schemeClr>
                </a:solidFill>
                <a:latin typeface="Cambria" pitchFamily="18" charset="0"/>
                <a:ea typeface="Calibri" pitchFamily="34" charset="0"/>
                <a:cs typeface="Consolas" pitchFamily="49" charset="0"/>
              </a:rPr>
              <a:t> 		</a:t>
            </a:r>
            <a:r>
              <a:rPr lang="en-US" sz="2400" b="1" dirty="0" err="1" smtClean="0">
                <a:solidFill>
                  <a:schemeClr val="accent1">
                    <a:lumMod val="75000"/>
                  </a:schemeClr>
                </a:solidFill>
                <a:latin typeface="Cambria" pitchFamily="18" charset="0"/>
                <a:ea typeface="Calibri" pitchFamily="34" charset="0"/>
                <a:cs typeface="Consolas" pitchFamily="49" charset="0"/>
              </a:rPr>
              <a:t>typedef</a:t>
            </a:r>
            <a:r>
              <a:rPr lang="en-US" sz="2400" b="1" dirty="0" smtClean="0">
                <a:solidFill>
                  <a:schemeClr val="accent1">
                    <a:lumMod val="75000"/>
                  </a:schemeClr>
                </a:solidFill>
                <a:latin typeface="Cambria" pitchFamily="18" charset="0"/>
                <a:ea typeface="Calibri" pitchFamily="34" charset="0"/>
                <a:cs typeface="Consolas" pitchFamily="49" charset="0"/>
              </a:rPr>
              <a:t> unsigned long </a:t>
            </a:r>
            <a:r>
              <a:rPr lang="en-US" sz="2400" b="1" dirty="0" err="1" smtClean="0">
                <a:solidFill>
                  <a:schemeClr val="accent1">
                    <a:lumMod val="75000"/>
                  </a:schemeClr>
                </a:solidFill>
                <a:latin typeface="Cambria" pitchFamily="18" charset="0"/>
                <a:ea typeface="Calibri" pitchFamily="34" charset="0"/>
                <a:cs typeface="Consolas" pitchFamily="49" charset="0"/>
              </a:rPr>
              <a:t>ulong</a:t>
            </a:r>
            <a:r>
              <a:rPr lang="en-US" sz="2400" b="1" dirty="0" smtClean="0">
                <a:solidFill>
                  <a:schemeClr val="accent1">
                    <a:lumMod val="75000"/>
                  </a:schemeClr>
                </a:solidFill>
                <a:latin typeface="Cambria" pitchFamily="18" charset="0"/>
                <a:ea typeface="Calibri" pitchFamily="34" charset="0"/>
                <a:cs typeface="Consolas" pitchFamily="49" charset="0"/>
              </a:rPr>
              <a:t>;</a:t>
            </a:r>
            <a:endParaRPr lang="en-US" sz="2400" dirty="0" smtClean="0">
              <a:solidFill>
                <a:schemeClr val="accent1">
                  <a:lumMod val="75000"/>
                </a:schemeClr>
              </a:solidFill>
              <a:latin typeface="Cambria" pitchFamily="18" charset="0"/>
              <a:cs typeface="Arial" pitchFamily="34" charset="0"/>
            </a:endParaRPr>
          </a:p>
          <a:p>
            <a:pPr marL="0" lvl="0" indent="0" algn="just" eaLnBrk="0" fontAlgn="base" hangingPunct="0">
              <a:spcBef>
                <a:spcPct val="0"/>
              </a:spcBef>
              <a:spcAft>
                <a:spcPct val="0"/>
              </a:spcAft>
              <a:buNone/>
            </a:pPr>
            <a:r>
              <a:rPr lang="en-US" sz="2400" b="1" dirty="0" smtClean="0">
                <a:solidFill>
                  <a:schemeClr val="accent1">
                    <a:lumMod val="75000"/>
                  </a:schemeClr>
                </a:solidFill>
                <a:latin typeface="Cambria" pitchFamily="18" charset="0"/>
                <a:ea typeface="Calibri" pitchFamily="34" charset="0"/>
                <a:cs typeface="Consolas" pitchFamily="49" charset="0"/>
              </a:rPr>
              <a:t> 		</a:t>
            </a:r>
            <a:r>
              <a:rPr lang="en-US" sz="2400" b="1" dirty="0" err="1" smtClean="0">
                <a:solidFill>
                  <a:schemeClr val="accent1">
                    <a:lumMod val="75000"/>
                  </a:schemeClr>
                </a:solidFill>
                <a:latin typeface="Cambria" pitchFamily="18" charset="0"/>
                <a:ea typeface="Calibri" pitchFamily="34" charset="0"/>
                <a:cs typeface="Consolas" pitchFamily="49" charset="0"/>
              </a:rPr>
              <a:t>ulong</a:t>
            </a:r>
            <a:r>
              <a:rPr lang="en-US" sz="2400" b="1" dirty="0" smtClean="0">
                <a:solidFill>
                  <a:schemeClr val="accent1">
                    <a:lumMod val="75000"/>
                  </a:schemeClr>
                </a:solidFill>
                <a:latin typeface="Cambria" pitchFamily="18" charset="0"/>
                <a:ea typeface="Calibri" pitchFamily="34" charset="0"/>
                <a:cs typeface="Consolas" pitchFamily="49" charset="0"/>
              </a:rPr>
              <a:t> </a:t>
            </a:r>
            <a:r>
              <a:rPr lang="en-US" sz="2400" b="1" dirty="0" err="1" smtClean="0">
                <a:solidFill>
                  <a:schemeClr val="accent1">
                    <a:lumMod val="75000"/>
                  </a:schemeClr>
                </a:solidFill>
                <a:latin typeface="Cambria" pitchFamily="18" charset="0"/>
                <a:ea typeface="Calibri" pitchFamily="34" charset="0"/>
                <a:cs typeface="Consolas" pitchFamily="49" charset="0"/>
              </a:rPr>
              <a:t>i</a:t>
            </a:r>
            <a:r>
              <a:rPr lang="en-US" sz="2400" b="1" dirty="0" smtClean="0">
                <a:solidFill>
                  <a:schemeClr val="accent1">
                    <a:lumMod val="75000"/>
                  </a:schemeClr>
                </a:solidFill>
                <a:latin typeface="Cambria" pitchFamily="18" charset="0"/>
                <a:ea typeface="Calibri" pitchFamily="34" charset="0"/>
                <a:cs typeface="Consolas" pitchFamily="49" charset="0"/>
              </a:rPr>
              <a:t>, j;</a:t>
            </a:r>
            <a:endParaRPr lang="en-US" sz="2400" baseline="0" dirty="0" smtClean="0">
              <a:solidFill>
                <a:schemeClr val="accent1">
                  <a:lumMod val="75000"/>
                </a:schemeClr>
              </a:solidFill>
              <a:latin typeface="Cambria" pitchFamily="18" charset="0"/>
            </a:endParaRPr>
          </a:p>
        </p:txBody>
      </p:sp>
      <p:sp>
        <p:nvSpPr>
          <p:cNvPr id="3073" name="Rectangle 1"/>
          <p:cNvSpPr>
            <a:spLocks noChangeArrowheads="1"/>
          </p:cNvSpPr>
          <p:nvPr/>
        </p:nvSpPr>
        <p:spPr bwMode="auto">
          <a:xfrm>
            <a:off x="0" y="42025"/>
            <a:ext cx="65" cy="373149"/>
          </a:xfrm>
          <a:prstGeom prst="rect">
            <a:avLst/>
          </a:prstGeom>
          <a:solidFill>
            <a:srgbClr val="F9F9F9"/>
          </a:solidFill>
          <a:ln w="9525">
            <a:noFill/>
            <a:miter lim="800000"/>
            <a:headEnd/>
            <a:tailEnd/>
          </a:ln>
          <a:effectLst/>
        </p:spPr>
        <p:txBody>
          <a:bodyPr vert="horz" wrap="none" lIns="0" tIns="0" rIns="0" bIns="952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762000"/>
            <a:ext cx="8458200" cy="5867400"/>
          </a:xfrm>
        </p:spPr>
        <p:txBody>
          <a:bodyPr>
            <a:normAutofit fontScale="85000" lnSpcReduction="10000"/>
          </a:bodyPr>
          <a:lstStyle/>
          <a:p>
            <a:pPr marR="0" lvl="0" algn="just" rtl="0">
              <a:buNone/>
            </a:pPr>
            <a:r>
              <a:rPr lang="en-US" b="1" baseline="0" dirty="0" smtClean="0">
                <a:solidFill>
                  <a:schemeClr val="accent1">
                    <a:lumMod val="75000"/>
                  </a:schemeClr>
                </a:solidFill>
                <a:latin typeface="Cambria"/>
              </a:rPr>
              <a:t>b) </a:t>
            </a:r>
            <a:r>
              <a:rPr lang="en-US" b="1" baseline="0" dirty="0" err="1" smtClean="0">
                <a:solidFill>
                  <a:schemeClr val="accent1">
                    <a:lumMod val="75000"/>
                  </a:schemeClr>
                </a:solidFill>
                <a:latin typeface="Cambria"/>
              </a:rPr>
              <a:t>typedef</a:t>
            </a:r>
            <a:r>
              <a:rPr lang="en-US" b="1" baseline="0" dirty="0" smtClean="0">
                <a:solidFill>
                  <a:schemeClr val="accent1">
                    <a:lumMod val="75000"/>
                  </a:schemeClr>
                </a:solidFill>
                <a:latin typeface="Cambria"/>
              </a:rPr>
              <a:t> and Pointers</a:t>
            </a:r>
          </a:p>
          <a:p>
            <a:pPr lvl="1" algn="just">
              <a:buFont typeface="Wingdings" pitchFamily="2" charset="2"/>
              <a:buChar char="Ø"/>
            </a:pPr>
            <a:r>
              <a:rPr lang="en-US" b="1" baseline="0" dirty="0" err="1" smtClean="0">
                <a:solidFill>
                  <a:srgbClr val="4F81BD"/>
                </a:solidFill>
                <a:latin typeface="Cambria"/>
              </a:rPr>
              <a:t>typedef</a:t>
            </a:r>
            <a:r>
              <a:rPr lang="en-US" b="1" baseline="0" dirty="0" smtClean="0">
                <a:solidFill>
                  <a:srgbClr val="4F81BD"/>
                </a:solidFill>
                <a:latin typeface="Cambria"/>
              </a:rPr>
              <a:t> can be used to give an alias name to pointers also. Here we have a case in which use of </a:t>
            </a:r>
            <a:r>
              <a:rPr lang="en-US" b="1" baseline="0" dirty="0" err="1" smtClean="0">
                <a:solidFill>
                  <a:srgbClr val="4F81BD"/>
                </a:solidFill>
                <a:latin typeface="Cambria"/>
              </a:rPr>
              <a:t>typedef</a:t>
            </a:r>
            <a:r>
              <a:rPr lang="en-US" b="1" baseline="0" dirty="0" smtClean="0">
                <a:solidFill>
                  <a:srgbClr val="4F81BD"/>
                </a:solidFill>
                <a:latin typeface="Cambria"/>
              </a:rPr>
              <a:t> is beneficial during pointer declaration.</a:t>
            </a:r>
          </a:p>
          <a:p>
            <a:pPr marR="0" lvl="1" algn="just" rtl="0">
              <a:buNone/>
            </a:pPr>
            <a:r>
              <a:rPr lang="en-US" b="1" baseline="0" dirty="0" smtClean="0">
                <a:solidFill>
                  <a:srgbClr val="4F81BD"/>
                </a:solidFill>
                <a:latin typeface="Cambria"/>
              </a:rPr>
              <a:t>	In Pointers</a:t>
            </a:r>
            <a:r>
              <a:rPr lang="en-US" b="1" baseline="0" dirty="0" smtClean="0">
                <a:solidFill>
                  <a:srgbClr val="000000"/>
                </a:solidFill>
                <a:latin typeface="Arial"/>
              </a:rPr>
              <a:t> </a:t>
            </a:r>
            <a:r>
              <a:rPr lang="en-US" b="1" baseline="0" dirty="0" smtClean="0">
                <a:solidFill>
                  <a:srgbClr val="DD1144"/>
                </a:solidFill>
                <a:latin typeface="Consolas"/>
              </a:rPr>
              <a:t>*</a:t>
            </a:r>
            <a:r>
              <a:rPr lang="en-US" b="1" baseline="0" dirty="0" smtClean="0">
                <a:solidFill>
                  <a:srgbClr val="000000"/>
                </a:solidFill>
                <a:latin typeface="Arial"/>
              </a:rPr>
              <a:t> </a:t>
            </a:r>
            <a:r>
              <a:rPr lang="en-US" b="1" baseline="0" dirty="0" smtClean="0">
                <a:solidFill>
                  <a:srgbClr val="4F81BD"/>
                </a:solidFill>
                <a:latin typeface="Cambria"/>
              </a:rPr>
              <a:t>binds to the right and not the left.</a:t>
            </a:r>
          </a:p>
          <a:p>
            <a:pPr marR="0" lvl="1" algn="just" rtl="0">
              <a:buNone/>
            </a:pPr>
            <a:r>
              <a:rPr lang="en-US" b="1" dirty="0" smtClean="0">
                <a:solidFill>
                  <a:schemeClr val="tx2">
                    <a:lumMod val="50000"/>
                  </a:schemeClr>
                </a:solidFill>
                <a:latin typeface="Cambria"/>
              </a:rPr>
              <a:t>	</a:t>
            </a:r>
            <a:r>
              <a:rPr lang="en-US" b="1" dirty="0" err="1" smtClean="0">
                <a:solidFill>
                  <a:schemeClr val="tx2">
                    <a:lumMod val="50000"/>
                  </a:schemeClr>
                </a:solidFill>
                <a:latin typeface="Cambria"/>
              </a:rPr>
              <a:t>int</a:t>
            </a:r>
            <a:r>
              <a:rPr lang="en-US" b="1" dirty="0" smtClean="0">
                <a:solidFill>
                  <a:schemeClr val="tx2">
                    <a:lumMod val="50000"/>
                  </a:schemeClr>
                </a:solidFill>
                <a:latin typeface="Cambria"/>
              </a:rPr>
              <a:t> *x ,y ;</a:t>
            </a:r>
            <a:endParaRPr lang="en-US" b="1" baseline="0" dirty="0" smtClean="0">
              <a:solidFill>
                <a:schemeClr val="tx2">
                  <a:lumMod val="50000"/>
                </a:schemeClr>
              </a:solidFill>
              <a:latin typeface="Cambria"/>
            </a:endParaRPr>
          </a:p>
          <a:p>
            <a:pPr marR="0" lvl="1" algn="just" rtl="0">
              <a:buNone/>
            </a:pPr>
            <a:r>
              <a:rPr lang="en-US" b="1" baseline="0" dirty="0" smtClean="0">
                <a:solidFill>
                  <a:srgbClr val="4F81BD"/>
                </a:solidFill>
                <a:latin typeface="Cambria"/>
              </a:rPr>
              <a:t>	By this declaration statement, we are actually declaring</a:t>
            </a:r>
            <a:r>
              <a:rPr lang="en-US" b="1" baseline="0" dirty="0" smtClean="0">
                <a:solidFill>
                  <a:srgbClr val="4F81BD"/>
                </a:solidFill>
                <a:latin typeface="Times New Roman"/>
              </a:rPr>
              <a:t> </a:t>
            </a:r>
            <a:r>
              <a:rPr lang="en-US" b="1" baseline="0" dirty="0" smtClean="0">
                <a:solidFill>
                  <a:srgbClr val="4F81BD"/>
                </a:solidFill>
                <a:latin typeface="Cambria"/>
              </a:rPr>
              <a:t>x</a:t>
            </a:r>
            <a:r>
              <a:rPr lang="en-US" b="1" baseline="0" dirty="0" smtClean="0">
                <a:solidFill>
                  <a:srgbClr val="4F81BD"/>
                </a:solidFill>
                <a:latin typeface="Times New Roman"/>
              </a:rPr>
              <a:t> </a:t>
            </a:r>
            <a:r>
              <a:rPr lang="en-US" b="1" baseline="0" dirty="0" smtClean="0">
                <a:solidFill>
                  <a:srgbClr val="4F81BD"/>
                </a:solidFill>
                <a:latin typeface="Cambria"/>
              </a:rPr>
              <a:t>as a pointer of type </a:t>
            </a:r>
            <a:r>
              <a:rPr lang="en-US" b="1" baseline="0" dirty="0" err="1" smtClean="0">
                <a:solidFill>
                  <a:srgbClr val="4F81BD"/>
                </a:solidFill>
                <a:latin typeface="Cambria"/>
              </a:rPr>
              <a:t>int</a:t>
            </a:r>
            <a:r>
              <a:rPr lang="en-US" b="1" baseline="0" dirty="0" smtClean="0">
                <a:solidFill>
                  <a:srgbClr val="4F81BD"/>
                </a:solidFill>
                <a:latin typeface="Cambria"/>
              </a:rPr>
              <a:t>, whereas</a:t>
            </a:r>
            <a:r>
              <a:rPr lang="en-US" b="1" baseline="0" dirty="0" smtClean="0">
                <a:solidFill>
                  <a:srgbClr val="4F81BD"/>
                </a:solidFill>
                <a:latin typeface="Times New Roman"/>
              </a:rPr>
              <a:t> </a:t>
            </a:r>
            <a:r>
              <a:rPr lang="en-US" b="1" baseline="0" dirty="0" smtClean="0">
                <a:solidFill>
                  <a:srgbClr val="4F81BD"/>
                </a:solidFill>
                <a:latin typeface="Cambria"/>
              </a:rPr>
              <a:t>y</a:t>
            </a:r>
            <a:r>
              <a:rPr lang="en-US" b="1" baseline="0" dirty="0" smtClean="0">
                <a:solidFill>
                  <a:srgbClr val="4F81BD"/>
                </a:solidFill>
                <a:latin typeface="Times New Roman"/>
              </a:rPr>
              <a:t> </a:t>
            </a:r>
            <a:r>
              <a:rPr lang="en-US" b="1" baseline="0" dirty="0" smtClean="0">
                <a:solidFill>
                  <a:srgbClr val="4F81BD"/>
                </a:solidFill>
                <a:latin typeface="Cambria"/>
              </a:rPr>
              <a:t>will be declared as a plain integer.</a:t>
            </a:r>
          </a:p>
          <a:p>
            <a:pPr lvl="1" algn="just">
              <a:buNone/>
            </a:pPr>
            <a:r>
              <a:rPr lang="en-US" b="1" dirty="0" smtClean="0"/>
              <a:t>	</a:t>
            </a:r>
          </a:p>
          <a:p>
            <a:pPr lvl="1" algn="just">
              <a:buFont typeface="Wingdings" pitchFamily="2" charset="2"/>
              <a:buChar char="Ø"/>
            </a:pPr>
            <a:r>
              <a:rPr lang="en-US" b="1" dirty="0" err="1" smtClean="0"/>
              <a:t>typedef</a:t>
            </a:r>
            <a:r>
              <a:rPr lang="en-US" b="1" dirty="0" smtClean="0"/>
              <a:t> </a:t>
            </a:r>
            <a:r>
              <a:rPr lang="en-US" b="1" dirty="0" err="1" smtClean="0"/>
              <a:t>int</a:t>
            </a:r>
            <a:r>
              <a:rPr lang="en-US" b="1" dirty="0" smtClean="0"/>
              <a:t>* </a:t>
            </a:r>
            <a:r>
              <a:rPr lang="en-US" b="1" dirty="0" err="1" smtClean="0">
                <a:solidFill>
                  <a:schemeClr val="accent1">
                    <a:lumMod val="75000"/>
                  </a:schemeClr>
                </a:solidFill>
              </a:rPr>
              <a:t>intPtr</a:t>
            </a:r>
            <a:r>
              <a:rPr lang="en-US" b="1" dirty="0" smtClean="0"/>
              <a:t> ;</a:t>
            </a:r>
            <a:endParaRPr lang="en-US" b="1" baseline="0" dirty="0" smtClean="0">
              <a:solidFill>
                <a:srgbClr val="000000"/>
              </a:solidFill>
              <a:latin typeface="Arial"/>
            </a:endParaRPr>
          </a:p>
          <a:p>
            <a:pPr marR="0" lvl="1" algn="just" rtl="0">
              <a:buNone/>
            </a:pPr>
            <a:r>
              <a:rPr lang="en-US" b="1" dirty="0" smtClean="0">
                <a:solidFill>
                  <a:schemeClr val="tx2">
                    <a:lumMod val="50000"/>
                  </a:schemeClr>
                </a:solidFill>
                <a:latin typeface="Cambria"/>
              </a:rPr>
              <a:t>	</a:t>
            </a:r>
            <a:r>
              <a:rPr lang="en-US" b="1" dirty="0" err="1" smtClean="0">
                <a:solidFill>
                  <a:schemeClr val="tx2">
                    <a:lumMod val="50000"/>
                  </a:schemeClr>
                </a:solidFill>
                <a:latin typeface="Cambria"/>
              </a:rPr>
              <a:t>i</a:t>
            </a:r>
            <a:r>
              <a:rPr lang="en-US" b="1" baseline="0" dirty="0" err="1" smtClean="0">
                <a:solidFill>
                  <a:schemeClr val="tx2">
                    <a:lumMod val="50000"/>
                  </a:schemeClr>
                </a:solidFill>
                <a:latin typeface="Cambria"/>
              </a:rPr>
              <a:t>ntPtr</a:t>
            </a:r>
            <a:r>
              <a:rPr lang="en-US" b="1" baseline="0" dirty="0" smtClean="0">
                <a:solidFill>
                  <a:schemeClr val="tx2">
                    <a:lumMod val="50000"/>
                  </a:schemeClr>
                </a:solidFill>
                <a:latin typeface="Cambria"/>
              </a:rPr>
              <a:t> x, y, z;</a:t>
            </a:r>
          </a:p>
          <a:p>
            <a:pPr marR="0" lvl="1" algn="just" rtl="0">
              <a:buNone/>
            </a:pPr>
            <a:r>
              <a:rPr lang="en-US" b="1" baseline="0" dirty="0" smtClean="0">
                <a:solidFill>
                  <a:srgbClr val="4F81BD"/>
                </a:solidFill>
                <a:latin typeface="Cambria"/>
              </a:rPr>
              <a:t>	Note: </a:t>
            </a:r>
          </a:p>
          <a:p>
            <a:pPr marR="0" lvl="1" algn="just" rtl="0">
              <a:buNone/>
            </a:pPr>
            <a:r>
              <a:rPr lang="en-US" b="1" dirty="0" smtClean="0">
                <a:solidFill>
                  <a:srgbClr val="4F81BD"/>
                </a:solidFill>
                <a:latin typeface="Cambria"/>
              </a:rPr>
              <a:t>	W</a:t>
            </a:r>
            <a:r>
              <a:rPr lang="en-US" b="1" baseline="0" dirty="0" smtClean="0">
                <a:solidFill>
                  <a:srgbClr val="4F81BD"/>
                </a:solidFill>
                <a:latin typeface="Cambria"/>
              </a:rPr>
              <a:t>ith the help of </a:t>
            </a:r>
            <a:r>
              <a:rPr lang="en-US" b="1" baseline="0" dirty="0" err="1" smtClean="0">
                <a:solidFill>
                  <a:srgbClr val="4F81BD"/>
                </a:solidFill>
                <a:latin typeface="Cambria"/>
              </a:rPr>
              <a:t>typedef</a:t>
            </a:r>
            <a:r>
              <a:rPr lang="en-US" b="1" baseline="0" dirty="0" smtClean="0">
                <a:solidFill>
                  <a:srgbClr val="4F81BD"/>
                </a:solidFill>
                <a:latin typeface="Cambria"/>
              </a:rPr>
              <a:t> in pointer, we can declare any number of pointers in a single statement.</a:t>
            </a:r>
            <a:endParaRPr lang="en-US" b="1" baseline="0" dirty="0" smtClean="0">
              <a:solidFill>
                <a:srgbClr val="4F81BD"/>
              </a:solidFill>
              <a:latin typeface="Times New Roman"/>
            </a:endParaRPr>
          </a:p>
        </p:txBody>
      </p:sp>
      <p:sp>
        <p:nvSpPr>
          <p:cNvPr id="5" name="Rectangle 4"/>
          <p:cNvSpPr/>
          <p:nvPr/>
        </p:nvSpPr>
        <p:spPr>
          <a:xfrm>
            <a:off x="3276600" y="1"/>
            <a:ext cx="3581400" cy="646332"/>
          </a:xfrm>
          <a:prstGeom prst="rect">
            <a:avLst/>
          </a:prstGeom>
        </p:spPr>
        <p:txBody>
          <a:bodyPr wrap="square">
            <a:spAutoFit/>
          </a:bodyPr>
          <a:lstStyle/>
          <a:p>
            <a:r>
              <a:rPr lang="en-US" sz="3600" b="1" dirty="0" smtClean="0">
                <a:solidFill>
                  <a:schemeClr val="accent1">
                    <a:lumMod val="75000"/>
                  </a:schemeClr>
                </a:solidFill>
                <a:latin typeface="Cambria" pitchFamily="18" charset="0"/>
              </a:rPr>
              <a:t>Continue</a:t>
            </a:r>
            <a:endParaRPr lang="en-US" sz="3600" b="1" dirty="0">
              <a:solidFill>
                <a:schemeClr val="accent1">
                  <a:lumMod val="75000"/>
                </a:schemeClr>
              </a:solidFill>
              <a:latin typeface="Cambria"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4289</TotalTime>
  <Words>5873</Words>
  <Application>Microsoft Office PowerPoint</Application>
  <PresentationFormat>On-screen Show (4:3)</PresentationFormat>
  <Paragraphs>1605</Paragraphs>
  <Slides>168</Slides>
  <Notes>0</Notes>
  <HiddenSlides>0</HiddenSlides>
  <MMClips>0</MMClips>
  <ScaleCrop>false</ScaleCrop>
  <HeadingPairs>
    <vt:vector size="4" baseType="variant">
      <vt:variant>
        <vt:lpstr>Theme</vt:lpstr>
      </vt:variant>
      <vt:variant>
        <vt:i4>1</vt:i4>
      </vt:variant>
      <vt:variant>
        <vt:lpstr>Slide Titles</vt:lpstr>
      </vt:variant>
      <vt:variant>
        <vt:i4>168</vt:i4>
      </vt:variant>
    </vt:vector>
  </HeadingPairs>
  <TitlesOfParts>
    <vt:vector size="169" baseType="lpstr">
      <vt:lpstr>Office Theme</vt:lpstr>
      <vt:lpstr>Slide 1</vt:lpstr>
      <vt:lpstr>OBJECTIVE -1 </vt:lpstr>
      <vt:lpstr>Why C language is so important? </vt:lpstr>
      <vt:lpstr>History of C language</vt:lpstr>
      <vt:lpstr>Developer of B language (Ken Thompson )</vt:lpstr>
      <vt:lpstr>Developer of C language (Dennis Ritchi)</vt:lpstr>
      <vt:lpstr>Objective -2</vt:lpstr>
      <vt:lpstr>What is 0 and 1 ?</vt:lpstr>
      <vt:lpstr>Different devices have  represent 0 and 1 in different ways.</vt:lpstr>
      <vt:lpstr>What is Hardware? </vt:lpstr>
      <vt:lpstr>What is file ?</vt:lpstr>
      <vt:lpstr>What is Software ?</vt:lpstr>
      <vt:lpstr>Program and Process</vt:lpstr>
      <vt:lpstr>Operating System </vt:lpstr>
      <vt:lpstr>Objective - 3</vt:lpstr>
      <vt:lpstr>Dynamic random-access memory (DRAM)</vt:lpstr>
      <vt:lpstr>   Understanding Program’s execution</vt:lpstr>
      <vt:lpstr>SOFTWARE DEVELOPMENT  IN C</vt:lpstr>
      <vt:lpstr>WHAT IS PREPROCESSOR, COMPILER, ASSEMBLER, LINK EDITOR</vt:lpstr>
      <vt:lpstr>The Preprocessor</vt:lpstr>
      <vt:lpstr>For example </vt:lpstr>
      <vt:lpstr>C Compiler</vt:lpstr>
      <vt:lpstr>Assembler</vt:lpstr>
      <vt:lpstr>Link Editor</vt:lpstr>
      <vt:lpstr>Objective : 4</vt:lpstr>
      <vt:lpstr>The C Character Set</vt:lpstr>
      <vt:lpstr>3) White Spaces</vt:lpstr>
      <vt:lpstr>4) Special Characters</vt:lpstr>
      <vt:lpstr>Escape Sequences</vt:lpstr>
      <vt:lpstr> The following table lists the escape sequences available in C programming language − </vt:lpstr>
      <vt:lpstr>Delimeters</vt:lpstr>
      <vt:lpstr>Keywords</vt:lpstr>
      <vt:lpstr>IDENTIFIER</vt:lpstr>
      <vt:lpstr>Constant</vt:lpstr>
      <vt:lpstr>Types of Constants</vt:lpstr>
      <vt:lpstr>Process Memory</vt:lpstr>
      <vt:lpstr>Objective :5</vt:lpstr>
      <vt:lpstr>Variable</vt:lpstr>
      <vt:lpstr>Slide 39</vt:lpstr>
      <vt:lpstr>Slide 40</vt:lpstr>
      <vt:lpstr>Declaration Different Types of Variable </vt:lpstr>
      <vt:lpstr>Operator and Expressions </vt:lpstr>
      <vt:lpstr>Slide 43</vt:lpstr>
      <vt:lpstr>Slide 44</vt:lpstr>
      <vt:lpstr>Slide 45</vt:lpstr>
      <vt:lpstr>Note the followings</vt:lpstr>
      <vt:lpstr>printf and scanf function in c programming</vt:lpstr>
      <vt:lpstr>printf function</vt:lpstr>
      <vt:lpstr>Use : format specifier</vt:lpstr>
      <vt:lpstr>How to print %d using printf in C language</vt:lpstr>
      <vt:lpstr>scanf Function</vt:lpstr>
      <vt:lpstr>Use : format specifier</vt:lpstr>
      <vt:lpstr>Control Instruction</vt:lpstr>
      <vt:lpstr>Decision Control Instruction</vt:lpstr>
      <vt:lpstr>1) if Statement</vt:lpstr>
      <vt:lpstr>Note:</vt:lpstr>
      <vt:lpstr>2) if else Statement</vt:lpstr>
      <vt:lpstr>Note:  </vt:lpstr>
      <vt:lpstr>3) nested if...else statement</vt:lpstr>
      <vt:lpstr>4) else if ladder ( if...else if....else Statement )</vt:lpstr>
      <vt:lpstr>Slide 61</vt:lpstr>
      <vt:lpstr>Conditional Operator ( ? :)</vt:lpstr>
      <vt:lpstr>Iterative Control Instruction/Loop Control Statement</vt:lpstr>
      <vt:lpstr>The for LOOP</vt:lpstr>
      <vt:lpstr>Various Formats of ‘for’ loop</vt:lpstr>
      <vt:lpstr>Slide 66</vt:lpstr>
      <vt:lpstr>Nested for loop</vt:lpstr>
      <vt:lpstr>while loop</vt:lpstr>
      <vt:lpstr>do while loop</vt:lpstr>
      <vt:lpstr>Difference between while and do-while loop? </vt:lpstr>
      <vt:lpstr>Jumping Out of Loops</vt:lpstr>
      <vt:lpstr>Slide 72</vt:lpstr>
      <vt:lpstr>Slide 73</vt:lpstr>
      <vt:lpstr>What will we do to break from outer loop.</vt:lpstr>
      <vt:lpstr>Slide 75</vt:lpstr>
      <vt:lpstr>Slide 76</vt:lpstr>
      <vt:lpstr>Slide 77</vt:lpstr>
      <vt:lpstr>Slide 78</vt:lpstr>
      <vt:lpstr>Difference between break and continue. </vt:lpstr>
      <vt:lpstr>Switch statement</vt:lpstr>
      <vt:lpstr>The general form of switch statement is,</vt:lpstr>
      <vt:lpstr>Points to Remember</vt:lpstr>
      <vt:lpstr>The goto Statement</vt:lpstr>
      <vt:lpstr>Differences between break and exit() in C</vt:lpstr>
      <vt:lpstr>Array</vt:lpstr>
      <vt:lpstr>One Dimensional Array</vt:lpstr>
      <vt:lpstr>To declare single dimensional array, you can write the following code.</vt:lpstr>
      <vt:lpstr>Slide 88</vt:lpstr>
      <vt:lpstr>Asssign statically  value in an one dimensional array :</vt:lpstr>
      <vt:lpstr>Assign value through user in an one dimensional array</vt:lpstr>
      <vt:lpstr>Declaration of Array</vt:lpstr>
      <vt:lpstr>Two dimensional Arrays</vt:lpstr>
      <vt:lpstr>Two-dimensional array is declared as follows,</vt:lpstr>
      <vt:lpstr>Asssign statically  value in  Two Dimensional Array :</vt:lpstr>
      <vt:lpstr>Assign value through user in an array</vt:lpstr>
      <vt:lpstr>String</vt:lpstr>
      <vt:lpstr>Print String with loop</vt:lpstr>
      <vt:lpstr>Print String without loop</vt:lpstr>
      <vt:lpstr>Input string through user</vt:lpstr>
      <vt:lpstr>Input string from user</vt:lpstr>
      <vt:lpstr>Handling Multiple Strings</vt:lpstr>
      <vt:lpstr>Handling Multiple String Through User</vt:lpstr>
      <vt:lpstr>Some most useful String Handling Functions</vt:lpstr>
      <vt:lpstr>Continue…….</vt:lpstr>
      <vt:lpstr>continue….</vt:lpstr>
      <vt:lpstr>gets() and puts() function</vt:lpstr>
      <vt:lpstr>Continue…</vt:lpstr>
      <vt:lpstr>gets() function : </vt:lpstr>
      <vt:lpstr>puts() function :</vt:lpstr>
      <vt:lpstr>ASCII and Unicode</vt:lpstr>
      <vt:lpstr>UNICODE</vt:lpstr>
      <vt:lpstr>Which one is better to use</vt:lpstr>
      <vt:lpstr>Pointer</vt:lpstr>
      <vt:lpstr>continue….</vt:lpstr>
      <vt:lpstr>Slide 115</vt:lpstr>
      <vt:lpstr>Continue…</vt:lpstr>
      <vt:lpstr>Pointer Declaration : </vt:lpstr>
      <vt:lpstr>Remember :</vt:lpstr>
      <vt:lpstr>Base Address</vt:lpstr>
      <vt:lpstr>Example :</vt:lpstr>
      <vt:lpstr>Example : </vt:lpstr>
      <vt:lpstr>Objective </vt:lpstr>
      <vt:lpstr>Extended Concept of pointers</vt:lpstr>
      <vt:lpstr>Example :</vt:lpstr>
      <vt:lpstr>Slide 125</vt:lpstr>
      <vt:lpstr>Slide 126</vt:lpstr>
      <vt:lpstr>We cannot multiply an integer to an address and similarly we cannot divide an address with an integer value.: </vt:lpstr>
      <vt:lpstr>We can add or sub or subtract integer to an address ( return address) </vt:lpstr>
      <vt:lpstr>Formulae : </vt:lpstr>
      <vt:lpstr>Slide 130</vt:lpstr>
      <vt:lpstr>We can subtract to addresses of same type which have same level of pointer.</vt:lpstr>
      <vt:lpstr>Slide 132</vt:lpstr>
      <vt:lpstr>Suppose we have float type variable </vt:lpstr>
      <vt:lpstr>Application of Pointer in C</vt:lpstr>
      <vt:lpstr>What is Wild Pointer</vt:lpstr>
      <vt:lpstr>What is NULL Pointer</vt:lpstr>
      <vt:lpstr>Dangling Pointer</vt:lpstr>
      <vt:lpstr>Dangling Pointer</vt:lpstr>
      <vt:lpstr>What is Dangling Pointer in C language </vt:lpstr>
      <vt:lpstr>Solution For Dangling</vt:lpstr>
      <vt:lpstr>What is void Pointer Or Generic Pointer</vt:lpstr>
      <vt:lpstr>Continue…</vt:lpstr>
      <vt:lpstr>Functions</vt:lpstr>
      <vt:lpstr>What is Function ?</vt:lpstr>
      <vt:lpstr>Defination Declaration and Call</vt:lpstr>
      <vt:lpstr>Declaration</vt:lpstr>
      <vt:lpstr>Ways to define a function ?</vt:lpstr>
      <vt:lpstr>Types of formal arguments</vt:lpstr>
      <vt:lpstr>Formal and Actual Arguments</vt:lpstr>
      <vt:lpstr>Ordinary Variable as formal arguments</vt:lpstr>
      <vt:lpstr>Slide 151</vt:lpstr>
      <vt:lpstr>Pointer Variable as formal arguments</vt:lpstr>
      <vt:lpstr>Slide 153</vt:lpstr>
      <vt:lpstr>Storage Classes in C++</vt:lpstr>
      <vt:lpstr>These are basically divided into 5 different types :</vt:lpstr>
      <vt:lpstr>Global variables</vt:lpstr>
      <vt:lpstr>Local variables</vt:lpstr>
      <vt:lpstr>Register variables</vt:lpstr>
      <vt:lpstr>Example :</vt:lpstr>
      <vt:lpstr>Static variables</vt:lpstr>
      <vt:lpstr>Extern Variable</vt:lpstr>
      <vt:lpstr>Example: </vt:lpstr>
      <vt:lpstr>Continue…</vt:lpstr>
      <vt:lpstr>continue….</vt:lpstr>
      <vt:lpstr>Example :</vt:lpstr>
      <vt:lpstr>sizeof and typedef in  c++</vt:lpstr>
      <vt:lpstr>Slide 167</vt:lpstr>
      <vt:lpstr>Slide 168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dc:title>
  <dc:creator>Vinay Singh Sengar</dc:creator>
  <cp:lastModifiedBy>mohit</cp:lastModifiedBy>
  <cp:revision>204</cp:revision>
  <dcterms:created xsi:type="dcterms:W3CDTF">2016-08-23T08:35:17Z</dcterms:created>
  <dcterms:modified xsi:type="dcterms:W3CDTF">2017-04-07T07:26:59Z</dcterms:modified>
</cp:coreProperties>
</file>